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458ecb0aa34dd4" /><Relationship Type="http://schemas.openxmlformats.org/officeDocument/2006/relationships/extended-properties" Target="/docProps/app.xml" Id="R055e5e520d504c7d" /><Relationship Type="http://schemas.openxmlformats.org/officeDocument/2006/relationships/officeDocument" Target="/ppt/presentation.xml" Id="R6ea89a8947fa48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f5c87040dd4176"/>
  </p:sldMasterIdLst>
  <p:notesMasterIdLst>
    <p:notesMasterId xmlns:r="http://schemas.openxmlformats.org/officeDocument/2006/relationships" r:id="R9c008bf5d7ed4e96"/>
  </p:notesMasterIdLst>
  <p:sldIdLst>
    <p:sldId xmlns:r="http://schemas.openxmlformats.org/officeDocument/2006/relationships" id="256" r:id="Rc01bbe55ffd1415d"/>
    <p:sldId xmlns:r="http://schemas.openxmlformats.org/officeDocument/2006/relationships" id="257" r:id="R950ba0c58d3d48f1"/>
    <p:sldId xmlns:r="http://schemas.openxmlformats.org/officeDocument/2006/relationships" id="258" r:id="R5b3bc8d0e7434326"/>
    <p:sldId xmlns:r="http://schemas.openxmlformats.org/officeDocument/2006/relationships" id="259" r:id="R0b34f55e47a74e0f"/>
    <p:sldId xmlns:r="http://schemas.openxmlformats.org/officeDocument/2006/relationships" id="260" r:id="R2381054cca6b4b8c"/>
    <p:sldId xmlns:r="http://schemas.openxmlformats.org/officeDocument/2006/relationships" id="261" r:id="Rf94ab02f4a2c456d"/>
    <p:sldId xmlns:r="http://schemas.openxmlformats.org/officeDocument/2006/relationships" id="262" r:id="Re262b9e4057e4758"/>
    <p:sldId xmlns:r="http://schemas.openxmlformats.org/officeDocument/2006/relationships" id="263" r:id="R1443ed78e5a24f2a"/>
    <p:sldId xmlns:r="http://schemas.openxmlformats.org/officeDocument/2006/relationships" id="264" r:id="Raca33f76b39c41d5"/>
    <p:sldId xmlns:r="http://schemas.openxmlformats.org/officeDocument/2006/relationships" id="265" r:id="Rd169afe726f74629"/>
    <p:sldId xmlns:r="http://schemas.openxmlformats.org/officeDocument/2006/relationships" id="266" r:id="R69cf3a210dbd492c"/>
    <p:sldId xmlns:r="http://schemas.openxmlformats.org/officeDocument/2006/relationships" id="267" r:id="Rec3be0eebd404d25"/>
    <p:sldId xmlns:r="http://schemas.openxmlformats.org/officeDocument/2006/relationships" id="268" r:id="Rc4a121d69e924110"/>
    <p:sldId xmlns:r="http://schemas.openxmlformats.org/officeDocument/2006/relationships" id="269" r:id="R0964a57003bd4158"/>
    <p:sldId xmlns:r="http://schemas.openxmlformats.org/officeDocument/2006/relationships" id="270" r:id="Rb410c22c1be448ec"/>
    <p:sldId xmlns:r="http://schemas.openxmlformats.org/officeDocument/2006/relationships" id="271" r:id="Rad103bd36c6b4c49"/>
    <p:sldId xmlns:r="http://schemas.openxmlformats.org/officeDocument/2006/relationships" id="272" r:id="R9528c1535c6b458f"/>
    <p:sldId xmlns:r="http://schemas.openxmlformats.org/officeDocument/2006/relationships" id="273" r:id="Rd29b7d2a3053401e"/>
    <p:sldId xmlns:r="http://schemas.openxmlformats.org/officeDocument/2006/relationships" id="274" r:id="Rd182900a7094494b"/>
    <p:sldId xmlns:r="http://schemas.openxmlformats.org/officeDocument/2006/relationships" id="275" r:id="R847f5e6ceaa04d08"/>
    <p:sldId xmlns:r="http://schemas.openxmlformats.org/officeDocument/2006/relationships" id="276" r:id="R92839c5c3c674319"/>
    <p:sldId xmlns:r="http://schemas.openxmlformats.org/officeDocument/2006/relationships" id="277" r:id="Ra0263f4f0ce64385"/>
    <p:sldId xmlns:r="http://schemas.openxmlformats.org/officeDocument/2006/relationships" id="278" r:id="R419f3aaafe4f468d"/>
    <p:sldId xmlns:r="http://schemas.openxmlformats.org/officeDocument/2006/relationships" id="279" r:id="R891a0fb4dec640fa"/>
    <p:sldId xmlns:r="http://schemas.openxmlformats.org/officeDocument/2006/relationships" id="280" r:id="R431b00edec864274"/>
    <p:sldId xmlns:r="http://schemas.openxmlformats.org/officeDocument/2006/relationships" id="281" r:id="R59e12a4c2c6b47b0"/>
    <p:sldId xmlns:r="http://schemas.openxmlformats.org/officeDocument/2006/relationships" id="282" r:id="Re1c99b7b675b4490"/>
    <p:sldId xmlns:r="http://schemas.openxmlformats.org/officeDocument/2006/relationships" id="283" r:id="Rec7476638eed46ad"/>
    <p:sldId xmlns:r="http://schemas.openxmlformats.org/officeDocument/2006/relationships" id="284" r:id="Rf63bb3f7226645b4"/>
    <p:sldId xmlns:r="http://schemas.openxmlformats.org/officeDocument/2006/relationships" id="285" r:id="R8e7c038a0c874929"/>
    <p:sldId xmlns:r="http://schemas.openxmlformats.org/officeDocument/2006/relationships" id="286" r:id="R80c34b2a9e94489b"/>
    <p:sldId xmlns:r="http://schemas.openxmlformats.org/officeDocument/2006/relationships" id="287" r:id="Rd2679dad2a5f438d"/>
    <p:sldId xmlns:r="http://schemas.openxmlformats.org/officeDocument/2006/relationships" id="288" r:id="Re58bc060cf664aae"/>
    <p:sldId xmlns:r="http://schemas.openxmlformats.org/officeDocument/2006/relationships" id="289" r:id="R0f9c97387e2c42cf"/>
    <p:sldId xmlns:r="http://schemas.openxmlformats.org/officeDocument/2006/relationships" id="290" r:id="Rffbf28290a9a49a5"/>
    <p:sldId xmlns:r="http://schemas.openxmlformats.org/officeDocument/2006/relationships" id="291" r:id="Rdb89f5a5254e47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48ec9afb444122" /><Relationship Type="http://schemas.openxmlformats.org/officeDocument/2006/relationships/slideMaster" Target="/ppt/slideMasters/slideMaster1.xml" Id="Rbef5c87040dd4176" /><Relationship Type="http://schemas.openxmlformats.org/officeDocument/2006/relationships/notesMaster" Target="/ppt/notesMasters/notesMaster1.xml" Id="R9c008bf5d7ed4e96" /><Relationship Type="http://schemas.openxmlformats.org/officeDocument/2006/relationships/presProps" Target="/ppt/presProps.xml" Id="R2a26a78ef4f441e5" /><Relationship Type="http://schemas.openxmlformats.org/officeDocument/2006/relationships/tableStyles" Target="/ppt/tableStyles.xml" Id="R1ac0eeeb38154936" /><Relationship Type="http://schemas.openxmlformats.org/officeDocument/2006/relationships/slide" Target="/ppt/slides/slide1.xml" Id="Rc01bbe55ffd1415d" /><Relationship Type="http://schemas.openxmlformats.org/officeDocument/2006/relationships/slide" Target="/ppt/slides/slide2.xml" Id="R950ba0c58d3d48f1" /><Relationship Type="http://schemas.openxmlformats.org/officeDocument/2006/relationships/slide" Target="/ppt/slides/slide3.xml" Id="R5b3bc8d0e7434326" /><Relationship Type="http://schemas.openxmlformats.org/officeDocument/2006/relationships/slide" Target="/ppt/slides/slide4.xml" Id="R0b34f55e47a74e0f" /><Relationship Type="http://schemas.openxmlformats.org/officeDocument/2006/relationships/slide" Target="/ppt/slides/slide5.xml" Id="R2381054cca6b4b8c" /><Relationship Type="http://schemas.openxmlformats.org/officeDocument/2006/relationships/slide" Target="/ppt/slides/slide6.xml" Id="Rf94ab02f4a2c456d" /><Relationship Type="http://schemas.openxmlformats.org/officeDocument/2006/relationships/slide" Target="/ppt/slides/slide7.xml" Id="Re262b9e4057e4758" /><Relationship Type="http://schemas.openxmlformats.org/officeDocument/2006/relationships/slide" Target="/ppt/slides/slide8.xml" Id="R1443ed78e5a24f2a" /><Relationship Type="http://schemas.openxmlformats.org/officeDocument/2006/relationships/slide" Target="/ppt/slides/slide9.xml" Id="Raca33f76b39c41d5" /><Relationship Type="http://schemas.openxmlformats.org/officeDocument/2006/relationships/slide" Target="/ppt/slides/slide10.xml" Id="Rd169afe726f74629" /><Relationship Type="http://schemas.openxmlformats.org/officeDocument/2006/relationships/slide" Target="/ppt/slides/slide11.xml" Id="R69cf3a210dbd492c" /><Relationship Type="http://schemas.openxmlformats.org/officeDocument/2006/relationships/slide" Target="/ppt/slides/slide12.xml" Id="Rec3be0eebd404d25" /><Relationship Type="http://schemas.openxmlformats.org/officeDocument/2006/relationships/slide" Target="/ppt/slides/slide13.xml" Id="Rc4a121d69e924110" /><Relationship Type="http://schemas.openxmlformats.org/officeDocument/2006/relationships/slide" Target="/ppt/slides/slide14.xml" Id="R0964a57003bd4158" /><Relationship Type="http://schemas.openxmlformats.org/officeDocument/2006/relationships/slide" Target="/ppt/slides/slide15.xml" Id="Rb410c22c1be448ec" /><Relationship Type="http://schemas.openxmlformats.org/officeDocument/2006/relationships/slide" Target="/ppt/slides/slide16.xml" Id="Rad103bd36c6b4c49" /><Relationship Type="http://schemas.openxmlformats.org/officeDocument/2006/relationships/slide" Target="/ppt/slides/slide17.xml" Id="R9528c1535c6b458f" /><Relationship Type="http://schemas.openxmlformats.org/officeDocument/2006/relationships/slide" Target="/ppt/slides/slide18.xml" Id="Rd29b7d2a3053401e" /><Relationship Type="http://schemas.openxmlformats.org/officeDocument/2006/relationships/slide" Target="/ppt/slides/slide19.xml" Id="Rd182900a7094494b" /><Relationship Type="http://schemas.openxmlformats.org/officeDocument/2006/relationships/slide" Target="/ppt/slides/slide20.xml" Id="R847f5e6ceaa04d08" /><Relationship Type="http://schemas.openxmlformats.org/officeDocument/2006/relationships/slide" Target="/ppt/slides/slide21.xml" Id="R92839c5c3c674319" /><Relationship Type="http://schemas.openxmlformats.org/officeDocument/2006/relationships/slide" Target="/ppt/slides/slide22.xml" Id="Ra0263f4f0ce64385" /><Relationship Type="http://schemas.openxmlformats.org/officeDocument/2006/relationships/slide" Target="/ppt/slides/slide23.xml" Id="R419f3aaafe4f468d" /><Relationship Type="http://schemas.openxmlformats.org/officeDocument/2006/relationships/slide" Target="/ppt/slides/slide24.xml" Id="R891a0fb4dec640fa" /><Relationship Type="http://schemas.openxmlformats.org/officeDocument/2006/relationships/slide" Target="/ppt/slides/slide25.xml" Id="R431b00edec864274" /><Relationship Type="http://schemas.openxmlformats.org/officeDocument/2006/relationships/slide" Target="/ppt/slides/slide26.xml" Id="R59e12a4c2c6b47b0" /><Relationship Type="http://schemas.openxmlformats.org/officeDocument/2006/relationships/slide" Target="/ppt/slides/slide27.xml" Id="Re1c99b7b675b4490" /><Relationship Type="http://schemas.openxmlformats.org/officeDocument/2006/relationships/slide" Target="/ppt/slides/slide28.xml" Id="Rec7476638eed46ad" /><Relationship Type="http://schemas.openxmlformats.org/officeDocument/2006/relationships/slide" Target="/ppt/slides/slide29.xml" Id="Rf63bb3f7226645b4" /><Relationship Type="http://schemas.openxmlformats.org/officeDocument/2006/relationships/slide" Target="/ppt/slides/slide30.xml" Id="R8e7c038a0c874929" /><Relationship Type="http://schemas.openxmlformats.org/officeDocument/2006/relationships/slide" Target="/ppt/slides/slide31.xml" Id="R80c34b2a9e94489b" /><Relationship Type="http://schemas.openxmlformats.org/officeDocument/2006/relationships/slide" Target="/ppt/slides/slide32.xml" Id="Rd2679dad2a5f438d" /><Relationship Type="http://schemas.openxmlformats.org/officeDocument/2006/relationships/slide" Target="/ppt/slides/slide33.xml" Id="Re58bc060cf664aae" /><Relationship Type="http://schemas.openxmlformats.org/officeDocument/2006/relationships/slide" Target="/ppt/slides/slide34.xml" Id="R0f9c97387e2c42cf" /><Relationship Type="http://schemas.openxmlformats.org/officeDocument/2006/relationships/slide" Target="/ppt/slides/slide35.xml" Id="Rffbf28290a9a49a5" /><Relationship Type="http://schemas.openxmlformats.org/officeDocument/2006/relationships/slide" Target="/ppt/slides/slide36.xml" Id="Rdb89f5a5254e47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c649ea9f4546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5176c48f644cc3" /><Relationship Type="http://schemas.openxmlformats.org/officeDocument/2006/relationships/notesMaster" Target="/ppt/notesMasters/notesMaster1.xml" Id="R0bf1869c67ab47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b182f032bd4631" /><Relationship Type="http://schemas.openxmlformats.org/officeDocument/2006/relationships/notesMaster" Target="/ppt/notesMasters/notesMaster1.xml" Id="R4d104f31f25c4e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2d93b8f07942fc" /><Relationship Type="http://schemas.openxmlformats.org/officeDocument/2006/relationships/notesMaster" Target="/ppt/notesMasters/notesMaster1.xml" Id="R756cc4c4938d49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ac6a9dd7b74596" /><Relationship Type="http://schemas.openxmlformats.org/officeDocument/2006/relationships/notesMaster" Target="/ppt/notesMasters/notesMaster1.xml" Id="R095a028116944a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7a46decaed472e" /><Relationship Type="http://schemas.openxmlformats.org/officeDocument/2006/relationships/notesMaster" Target="/ppt/notesMasters/notesMaster1.xml" Id="R085c9d611c9d42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b1ec21a3584a53" /><Relationship Type="http://schemas.openxmlformats.org/officeDocument/2006/relationships/notesMaster" Target="/ppt/notesMasters/notesMaster1.xml" Id="R3a61c85af09449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bf2a9ce3764684" /><Relationship Type="http://schemas.openxmlformats.org/officeDocument/2006/relationships/notesMaster" Target="/ppt/notesMasters/notesMaster1.xml" Id="Rd6bfa925e7f24b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30ecb06e9843c5" /><Relationship Type="http://schemas.openxmlformats.org/officeDocument/2006/relationships/notesMaster" Target="/ppt/notesMasters/notesMaster1.xml" Id="Rc3c50bdbe5e74d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85e3c97dde4213" /><Relationship Type="http://schemas.openxmlformats.org/officeDocument/2006/relationships/notesMaster" Target="/ppt/notesMasters/notesMaster1.xml" Id="Rb307ffec1ec041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7dbb71951d4c0a" /><Relationship Type="http://schemas.openxmlformats.org/officeDocument/2006/relationships/notesMaster" Target="/ppt/notesMasters/notesMaster1.xml" Id="R44c6717bdf29496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3d7035a15c44f3" /><Relationship Type="http://schemas.openxmlformats.org/officeDocument/2006/relationships/notesMaster" Target="/ppt/notesMasters/notesMaster1.xml" Id="Re034854c634f472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9e5098bd014e2b" /><Relationship Type="http://schemas.openxmlformats.org/officeDocument/2006/relationships/notesMaster" Target="/ppt/notesMasters/notesMaster1.xml" Id="Rc4f282ab1d2e4f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2dcf7afe734cc2" /><Relationship Type="http://schemas.openxmlformats.org/officeDocument/2006/relationships/notesMaster" Target="/ppt/notesMasters/notesMaster1.xml" Id="Rafb42c65152c4ec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108eadf66447c8" /><Relationship Type="http://schemas.openxmlformats.org/officeDocument/2006/relationships/notesMaster" Target="/ppt/notesMasters/notesMaster1.xml" Id="R8b66e0795b1f4b9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d0cdc61ea6d4dc2" /><Relationship Type="http://schemas.openxmlformats.org/officeDocument/2006/relationships/notesMaster" Target="/ppt/notesMasters/notesMaster1.xml" Id="Rfe6e87eb5b8d46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3bf363517e94de1" /><Relationship Type="http://schemas.openxmlformats.org/officeDocument/2006/relationships/notesMaster" Target="/ppt/notesMasters/notesMaster1.xml" Id="R36b0f06b6fc84e9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7a8f902fe0840a1" /><Relationship Type="http://schemas.openxmlformats.org/officeDocument/2006/relationships/notesMaster" Target="/ppt/notesMasters/notesMaster1.xml" Id="Rad533df80f13447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0722a59eced4b82" /><Relationship Type="http://schemas.openxmlformats.org/officeDocument/2006/relationships/notesMaster" Target="/ppt/notesMasters/notesMaster1.xml" Id="Ra7548478448c409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8141de06ba14bcd" /><Relationship Type="http://schemas.openxmlformats.org/officeDocument/2006/relationships/notesMaster" Target="/ppt/notesMasters/notesMaster1.xml" Id="Rc86a519f0e54471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5a7defcf36a46c0" /><Relationship Type="http://schemas.openxmlformats.org/officeDocument/2006/relationships/notesMaster" Target="/ppt/notesMasters/notesMaster1.xml" Id="R236e5ec59e3a469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c7f9b7d74934222" /><Relationship Type="http://schemas.openxmlformats.org/officeDocument/2006/relationships/notesMaster" Target="/ppt/notesMasters/notesMaster1.xml" Id="R22fa439c774b497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3d0faa4ab854649" /><Relationship Type="http://schemas.openxmlformats.org/officeDocument/2006/relationships/notesMaster" Target="/ppt/notesMasters/notesMaster1.xml" Id="Rbd2a5dd1cb1d4a0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4d3d3c967774fbc" /><Relationship Type="http://schemas.openxmlformats.org/officeDocument/2006/relationships/notesMaster" Target="/ppt/notesMasters/notesMaster1.xml" Id="R54f876eb7dc641e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b8e716328104561" /><Relationship Type="http://schemas.openxmlformats.org/officeDocument/2006/relationships/notesMaster" Target="/ppt/notesMasters/notesMaster1.xml" Id="R1e85c408388b46d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d585a4980ed46f0" /><Relationship Type="http://schemas.openxmlformats.org/officeDocument/2006/relationships/notesMaster" Target="/ppt/notesMasters/notesMaster1.xml" Id="R7521eb2d3ce44df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ab3b53505814e89" /><Relationship Type="http://schemas.openxmlformats.org/officeDocument/2006/relationships/notesMaster" Target="/ppt/notesMasters/notesMaster1.xml" Id="Rbe22692bb8ce45e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2183aa134f54c6a" /><Relationship Type="http://schemas.openxmlformats.org/officeDocument/2006/relationships/notesMaster" Target="/ppt/notesMasters/notesMaster1.xml" Id="R6832787196eb46d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c5006bd20174d4e" /><Relationship Type="http://schemas.openxmlformats.org/officeDocument/2006/relationships/notesMaster" Target="/ppt/notesMasters/notesMaster1.xml" Id="R7588bc4ba67b42f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9bb3877c6eb43ad" /><Relationship Type="http://schemas.openxmlformats.org/officeDocument/2006/relationships/notesMaster" Target="/ppt/notesMasters/notesMaster1.xml" Id="R195fd9e3bd0e495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acc679a17294c3c" /><Relationship Type="http://schemas.openxmlformats.org/officeDocument/2006/relationships/notesMaster" Target="/ppt/notesMasters/notesMaster1.xml" Id="R1dbfd194b6f44c9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e3bf878174540db" /><Relationship Type="http://schemas.openxmlformats.org/officeDocument/2006/relationships/notesMaster" Target="/ppt/notesMasters/notesMaster1.xml" Id="Rb14a6aba3ecb4bc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0be0c3075ce415e" /><Relationship Type="http://schemas.openxmlformats.org/officeDocument/2006/relationships/notesMaster" Target="/ppt/notesMasters/notesMaster1.xml" Id="Rcffd508bfa4f447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e12b74be26343e4" /><Relationship Type="http://schemas.openxmlformats.org/officeDocument/2006/relationships/notesMaster" Target="/ppt/notesMasters/notesMaster1.xml" Id="Ra214c98ebc1544c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fc2f47c538c4e1e" /><Relationship Type="http://schemas.openxmlformats.org/officeDocument/2006/relationships/notesMaster" Target="/ppt/notesMasters/notesMaster1.xml" Id="Rdff7f0e02308417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184a4295e6f4aee" /><Relationship Type="http://schemas.openxmlformats.org/officeDocument/2006/relationships/notesMaster" Target="/ppt/notesMasters/notesMaster1.xml" Id="R1a86c5a25ba24e4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add54ce23464fdc" /><Relationship Type="http://schemas.openxmlformats.org/officeDocument/2006/relationships/notesMaster" Target="/ppt/notesMasters/notesMaster1.xml" Id="R4a45ec3d46ad4a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11:00:00–11:01:30 IST (90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We will build a small program that uses AI to choose tools. By the end you should understand one working loop and know why you might choose a graph or a team.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Have the new learner folder ready, with no menu_tools.py or my_agent.py. Open only the lesson and clean terminal; close private .env tabs.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Who has used a chatbot? Who has written a Python function?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Sharing and checkpoint files are available. Do not turn the introduction into installation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11:01:30–11:03:30 IST (120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Use a familiar deadline: the next lecture starts soon and you need lunch. Ask what information matters before saying any framework names.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Show a rehearsed short real run if available. Otherwise state clearly that the scripted preview is a rehearsal and the actual tool data is local.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Budget? Diet? Availability? Opening hours?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Use classroom/saved_runs/agent.txt. Read its SCRIPTED label aloud.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11:03:30–11:05:30 IST (120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agent is the whole program: model, instructions, permitted tools and the loop around them. A model response alone is not Python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Does the model magically know our current menu?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https://docs.langchain.com/oss/python/langchain/agents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11:05:30–11:08:30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Ask three volunteers to play the user, model and menu tool. Keep the whole role-play to two minutes. The tool holder has the four fictional records. The model must ask for them before recommending food.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Use the menu on the next slide or the data file; no printed props are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Who actually looked at the menu?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Play all three roles from the front if volunteers are slow.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11:08:30–11:10:00 IST (90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Name each part only after the role-play. Point from user to model to application function, and then back with the result. Do not add MCP or multi-agent terminology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Can the model request a function our app has not allowed?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11:10:00–11:13:00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Four records are enough. Only the sandwich qualifies. The hours fixture is 09:00-16:00 and mock time is 12:30. These are fictional teaching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Switch briefly to classroom/data/menu.json and point out the four fields. Return to the slide before typing.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Why does the cheaper poha not qualify?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11:13:00–11:17:00 IST (240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Explain function, argument and return value just in time. This slide is an outline with an ellipsis, not the runnable solution. Use the full small function in the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In your new learner folder create menu_tools.py. Add imports/data loading, then find_food from classroom/README.md. Use the readable for loop. Run: &amp; $py menu_tools.py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values go in? What comes back?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Open classroom/menu_tools.py as the labelled completed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11:17:00–11:20:00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Give students three minutes to run it. Show the slide while they type. Ask for ready/help/checkpoint signals. Do not inspect every laptop.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Expect sandwich at 80 and an empty matches list at 30. Remove the temporary top-level print before importing the module.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Is an empty result the same as a failed lookup?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Copy classroom/menu_tools.py into the learner folder, or read its saved result and label what happened.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11:20:00–11:23:00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The description tells the model when the function is relevant. A tool request has a name and arguments. The library routes an allowed request to Python and returns the actual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Point to the name find_food and max_price=80 in a saved or rehearsed live trace.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Who reads the JSON file?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https://docs.langchain.com/oss/python/langchain/agents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11:23:00–11:26:00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Explain ReAct as reasoning and acting in a loop. We inspect tool actions and results, not private chain-of-thought. Our tool-calling agent illustrates this pattern; we are not reproducing every detail of the original paper.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Explain the five-line conceptual loop in the preparation guide. LangChain manages message bookkeeping in the student build.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should happen when the agent has enough information?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https://arxiv.org/abs/2210.03629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11:26:00–11:30:00 IST (240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Write this in a new my_agent.py. Explain model, tools and instruction. make_model is supplied configuration/fallback support; create_agent is the framework loop. OFFLINE=True is scripted rehearsal; False requires a privately configured tested live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Use the full 18-line first-agent checkpoint from classroom/README.md. Add imports, then agent creation, then invocation and show_messages. Run: &amp; $py my_agent.py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Where did we give the model permission to request find_food?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Use classroom/first_agent_checkpoint.py after the menu tool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11:30:00–11:40:00 IST (600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Protect these ten minutes. Let students type and run the small file. Stay on this slide. Volunteers handle individual setup; explain repeated mistakes from the front.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Use &amp; $py my_agent.py in the learner folder. Have students point to MODEL REQUEST and RESULT. Explain the mode label. For live calls, observe actual behavior rather than expecting an exact sentence.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did you write, and what did LangChain handle?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Run &amp; $py classroom/agent.py --offline from repository root, or use the saved output. Label checkpoint use accurately.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11:40:00–11:45:00 IST (300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Give about two minutes for a budget/question variation and three minutes for discussion. Explain what repeats and what finishes. A normal model can choose a different order or not need a tool for a greeting.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Try Rs 30. Distinguish an empty successful result from an error, without opening the advanced error-handling lab.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Could it answer opening hours with only this tool?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Use the saved agent-budget30.txt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11:45:00–11:48:00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Write the full hours function from the lesson. This slide is an outline. We use a mock clock so everyone can reproduce the same case; it is not live campus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Add hours to menu_tools.py, update the import and tools list in my_agent.py. Show only these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should we ask so the program needs both tools?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11:48:00–11:55:00 IST (420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Give students seven minutes. In a real model run the tool order may vary; what matters is that menu/hours claims have the relevant results. Scripted rehearsal follows a known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Run my_agent.py again. Expect sandwich and mock closing 16:00. Take two short student explanations from different seating zones.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part did you add? Which question now works?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The completed classroom/agent.py is the two-tool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11:55:00–12:00:00 IST (300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Stop for the full five-minute break. Let volunteers help setup during the pause without making it another lecture.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Resume at 12:00. Bring up the MCP question, not installation steps.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12:00:00–12:02:30 IST (150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Motivate the boundary after the function works. A common MCP server exposes tools; it does not provide a model or make the system autonomous.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would be wasteful about rewriting the menu filter for every framework?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https://modelcontextprotocol.io/docs/learn/architecture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12:02:30–12:05:30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Each example starts a local stdio instance of the same server program. We are not deploying a central campus server. The functions remain ordinary Python.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Point to menu_tools.py being imported by mcp_server.py.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Does MCP replace the model?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https://github.com/langchain-ai/langchain-mcp-adapters</a:t>
            </a:r>
          </a:p>
          <a:p xmlns:a="http://schemas.openxmlformats.org/drawingml/2006/main">
            <a:r>
              <a:t>https://docs.crewai.com/en/mcp/overview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12:05:30–12:08:30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Write mcp_server.py. Explain registration as making the functions discoverable to a client. No need to teach async internals or every transport.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Create the file in the learner folder. The supplied connection helper launches it through the current Python interpreter; no separate server window is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https://github.com/modelcontextprotocol/python-sdk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12:08:30–12:11:30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First list tools and call find_food directly through MCP; that does not need a model. Then show classroom/mcp_agent.py. connected_tools owns a local connection and closes it after 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From repository root: &amp; $py classroom/mcp_probe.py, then &amp; $py classroom/mcp_agent.py --offline. Remove --offline only for a privately rehearsed live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part moved into another process?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https://github.com/langchain-ai/langchain-mcp-adapters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12:11:30–12:15:00 IST (210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Give students three and a half minutes for the probe from the lesson where setup permits. The local MCP call is real even without an LLM key.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Run probe.py in the learner folder, or use classroom/mcp_probe.py from repository root. See the two tool names and sandwich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stayed the same?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Keep the direct-function agent and watch the instructor MCP call; complete local setup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12:15:00–12:17:00 IST (120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Use a concrete requirement before introducing graph vocabulary. The earlier agent chooses tools; this outer workflow guarantees an hours step first.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Would a menu lookup help when the canteen is closed?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https://docs.langchain.com/oss/python/langgraph/overview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12:17:00–12:20:00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Read the route together. State holds hours, question and answer. A node is an ordinary function that updates that information. An edge chooses the next step. The open node contains the familiar agent.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Where does the model choose its own actions here?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https://docs.langchain.com/oss/python/langgraph/overview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12:20:00–12:23:00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This is an instructor demonstration. Students can read the three functions and wiring. Do not require the room to type the whole graph.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Open classroom/graph.py. Point to hours using MCP and agent containing create_agent. Explain choose without adding persistence or approval APIs.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12:23:00–12:27:00 IST (240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Ask for predictions before each run. Both calls use the same actual MCP server. The offline brain is scripted. The closed route does not invoke the lunch agent.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Use &amp; $py rather than python if using the prepared PowerShell interpreter variable.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would you change to add an approval step later?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Use saved_runs/graph-open.txt and graph-closed.txt.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12:27:00–12:29:30 IST (150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Use a group lunch for two vegetarians within Rs 150. Scout gathers options under Rs 75 per person. Planner proposes quantities and a total. This is a deliberately small example of a handoff, not proof that two agents improve lunch search.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Could one agent already do this?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https://docs.crewai.com/en/concepts/processes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12:29:30–12:32:30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This excerpt is an outline; open the runnable file. Show Agent, Task and Crew objects. Only the scout has the menu tool, discovered through the same MCP program. This is sequential, not a manager dynamically choosing workers.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Open classroom/crew.py. The presenter has already installed requirements-instructor.txt. Keep adapter compatibility details out of the beginner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https://docs.crewai.com/en/concepts/processes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12:32:30–12:35:30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Read the SCRIPTED label if using offline. The actual CrewAI orchestration, MCP lookup and task context run. A live Gemini run requires separate private rehearsal. Do not call this a benchmark or autonomous AI when scripted.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Run &amp; $py classroom/crew.py --offline. Point to SCOUT HANDOFF then PLANNER.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Use saved_runs/crew.txt; do not install CrewAI during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12:35:30–12:37:00 IST (90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Briefly sketch a coordinator choosing a menu or facilities specialist. That is a different optional pattern from the sequential crew we ran. Keep its implementation for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would two lunch agents add besides latency?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12:37:00–12:40:00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Give three quick scenarios: one menu question, an action needing approval, and research followed by writing. Students choose and give one reason. CrewAI also has flows; LangGraph can host multiple agents.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Which is the simplest design that meets each requirement?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https://docs.langchain.com/oss/python/langgraph/overview</a:t>
            </a:r>
          </a:p>
          <a:p xmlns:a="http://schemas.openxmlformats.org/drawingml/2006/main">
            <a:r>
              <a:t>https://docs.crewai.com/en/concepts/flows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12:40:00–12:42:00 IST (120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Spend at most one minute on A2A and the remaining minute recapping categories. ReAct and handoffs are patterns; LangChain, LangGraph, CrewAI are frameworks; MCP/A2A are protocols.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Skip this teaser if behind; do not introduce protocol messages or another server.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https://a2a-protocol.org/latest/topics/a2a-and-mcp/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12:42:00–12:44:00 IST (120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Now that the program works, the folders have a purpose. Show the small project. Mention CLAUDE.md/GEMINI.md as other client conventions. Arbitrary Markdown is not automatically loaded or enforced.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Where should a price change live? Where should a run command live?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12:44:00–12:46:00 IST (120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Write these together, then ask each student for one useful instruction in a note or supported project file. Explain the difference between guidance and runtime enforcement.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Use a plain Markdown file or paper if the coding client is unavailable. This is a two-minute introduction; the longer documentation lab is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12:46:00–12:49:00 IST (180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Use one narrow safety example after the agent makes sense. A model request cannot execute an unregistered function through our loop. Avoid a new long threat-model lecture.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Open classroom/manual_loop.py and show the allowed lookup and step limit. Run classroom/safety_demo.py for a deliberately injected forbidden request. Label it as injected.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Would writing "be safe" in a prompt replace this check?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>Read the seven-line boundary example and the expected refusal.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12:49:00–12:50:00 IST (60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One minute. An AI coding editor is optional. The skill is making a small understandable change and observing its behavior, not accepting a whole generated project. Keep the long fake-wrap review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Slot 12:50:00–13:00:00 IST (600 seconds).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</a:t>
            </a:r>
          </a:p>
          <a:p xmlns:a="http://schemas.openxmlformats.org/drawingml/2006/main">
            <a:r>
              <a:t>Reserve the last ten minutes for questions. Invite a short explanation of one tool call or framework choice. Direct students to classroom/README.md and docs/LEARNING_PATH.md. The repository stays private until explicitly released; distribute the ZIP through the organiser.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/ SCREEN</a:t>
            </a:r>
          </a:p>
          <a:p xmlns:a="http://schemas.openxmlformats.org/drawingml/2006/main">
            <a:r>
              <a:t>Close at 13:00. Do not add a surprise final installation or advanced topic.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</a:t>
            </a:r>
          </a:p>
          <a:p xmlns:a="http://schemas.openxmlformats.org/drawingml/2006/main">
            <a:r>
              <a:t>What can your agent now do that it could not do at the beginning?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e0bc5f36834d8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73b9d897624b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be3fde9fc54d2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f2b2c1d86e496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613fc89afb4b2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d2d1af91734b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2B2AE3-27B7-40F5-8D2B-2095B45C9A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5D0B238-7808-40F7-938D-10ACE8BE897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8A77516-EEA3-444C-8943-5338882B03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82B2F7-0568-4857-B90B-261D93943C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596268C-ADB0-4D1F-B342-9D15999B35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B0F2395-3DA4-4BB6-B65E-B9AF374A4D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0BBA2AC-DBCD-4602-8E0E-EEC9CD70E6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EAAFC15-F3F5-4D91-850C-31F1C189696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69474DC-AD78-4D29-8478-C3C171EC16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7147A37-D501-4619-AF31-546F17633B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12a9e521f3465d" /><Relationship Type="http://schemas.openxmlformats.org/officeDocument/2006/relationships/slideLayout" Target="/ppt/slideLayouts/slideLayout1.xml" Id="Rc007858be2ac43c4" /><Relationship Type="http://schemas.openxmlformats.org/officeDocument/2006/relationships/slideLayout" Target="/ppt/slideLayouts/slideLayout2.xml" Id="R933f9dd4817240fc" /><Relationship Type="http://schemas.openxmlformats.org/officeDocument/2006/relationships/slideLayout" Target="/ppt/slideLayouts/slideLayout3.xml" Id="Rcde7da5441ef40c3" /><Relationship Type="http://schemas.openxmlformats.org/officeDocument/2006/relationships/slideLayout" Target="/ppt/slideLayouts/slideLayout4.xml" Id="R3dc7078d302b40c3" /><Relationship Type="http://schemas.openxmlformats.org/officeDocument/2006/relationships/slideLayout" Target="/ppt/slideLayouts/slideLayout5.xml" Id="Rf251d605b2e54f3a" /><Relationship Type="http://schemas.openxmlformats.org/officeDocument/2006/relationships/slideLayout" Target="/ppt/slideLayouts/slideLayout6.xml" Id="Rfb882b1b46f846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07858be2ac43c4"/>
    <p:sldLayoutId xmlns:r="http://schemas.openxmlformats.org/officeDocument/2006/relationships" id="2147483650" r:id="R933f9dd4817240fc"/>
    <p:sldLayoutId xmlns:r="http://schemas.openxmlformats.org/officeDocument/2006/relationships" id="2147483651" r:id="Rcde7da5441ef40c3"/>
    <p:sldLayoutId xmlns:r="http://schemas.openxmlformats.org/officeDocument/2006/relationships" id="2147483652" r:id="R3dc7078d302b40c3"/>
    <p:sldLayoutId xmlns:r="http://schemas.openxmlformats.org/officeDocument/2006/relationships" id="2147483653" r:id="Rf251d605b2e54f3a"/>
    <p:sldLayoutId xmlns:r="http://schemas.openxmlformats.org/officeDocument/2006/relationships" id="2147483654" r:id="Rfb882b1b46f846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674ed8c9cf4480" /><Relationship Type="http://schemas.openxmlformats.org/officeDocument/2006/relationships/notesSlide" Target="/ppt/notesSlides/notesSlide1.xml" Id="Re0b51b38c57142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de7a280c0a4854" /><Relationship Type="http://schemas.openxmlformats.org/officeDocument/2006/relationships/notesSlide" Target="/ppt/notesSlides/notesSlide2.xml" Id="R5bcf15ccfb324a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63678ef3b64984" /><Relationship Type="http://schemas.openxmlformats.org/officeDocument/2006/relationships/notesSlide" Target="/ppt/notesSlides/notesSlide3.xml" Id="R73ac49a1769043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8cfec504b44802" /><Relationship Type="http://schemas.openxmlformats.org/officeDocument/2006/relationships/notesSlide" Target="/ppt/notesSlides/notesSlide4.xml" Id="R9245bdd2d59b4c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923623f3f04499" /><Relationship Type="http://schemas.openxmlformats.org/officeDocument/2006/relationships/notesSlide" Target="/ppt/notesSlides/notesSlide5.xml" Id="R494fcbe93c3b4b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9b63a20fb244fb" /><Relationship Type="http://schemas.openxmlformats.org/officeDocument/2006/relationships/notesSlide" Target="/ppt/notesSlides/notesSlide6.xml" Id="R3a7b7d139f7b48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6f669b99da4bec" /><Relationship Type="http://schemas.openxmlformats.org/officeDocument/2006/relationships/notesSlide" Target="/ppt/notesSlides/notesSlide7.xml" Id="R9b6783707b6642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7e78d2e5c4dac" /><Relationship Type="http://schemas.openxmlformats.org/officeDocument/2006/relationships/notesSlide" Target="/ppt/notesSlides/notesSlide8.xml" Id="R978ef280aed943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f48947cb054cb5" /><Relationship Type="http://schemas.openxmlformats.org/officeDocument/2006/relationships/notesSlide" Target="/ppt/notesSlides/notesSlide9.xml" Id="R3f792d09b34247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1ddb0c772c4ffd" /><Relationship Type="http://schemas.openxmlformats.org/officeDocument/2006/relationships/notesSlide" Target="/ppt/notesSlides/notesSlide10.xml" Id="Ra8ee2b9d702d478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c2b567dc504f59" /><Relationship Type="http://schemas.openxmlformats.org/officeDocument/2006/relationships/notesSlide" Target="/ppt/notesSlides/notesSlide11.xml" Id="R49e4e9d1eda449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dee1ff9a1643ae" /><Relationship Type="http://schemas.openxmlformats.org/officeDocument/2006/relationships/notesSlide" Target="/ppt/notesSlides/notesSlide12.xml" Id="Ref78a389d2aa43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0703240f554b4d" /><Relationship Type="http://schemas.openxmlformats.org/officeDocument/2006/relationships/notesSlide" Target="/ppt/notesSlides/notesSlide13.xml" Id="R9a161a6269d845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1ee5c540814223" /><Relationship Type="http://schemas.openxmlformats.org/officeDocument/2006/relationships/notesSlide" Target="/ppt/notesSlides/notesSlide14.xml" Id="Ra3fc1d00e9294aa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521b340a994cf8" /><Relationship Type="http://schemas.openxmlformats.org/officeDocument/2006/relationships/notesSlide" Target="/ppt/notesSlides/notesSlide15.xml" Id="R0a1c23a8dc3a4d5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6bad097d41464e" /><Relationship Type="http://schemas.openxmlformats.org/officeDocument/2006/relationships/notesSlide" Target="/ppt/notesSlides/notesSlide16.xml" Id="R5131cc6ac1f446b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8c4c2fdf464d02" /><Relationship Type="http://schemas.openxmlformats.org/officeDocument/2006/relationships/notesSlide" Target="/ppt/notesSlides/notesSlide17.xml" Id="R9bc2d23856b8467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751b3ba1204228" /><Relationship Type="http://schemas.openxmlformats.org/officeDocument/2006/relationships/notesSlide" Target="/ppt/notesSlides/notesSlide18.xml" Id="Rbaf7e4bfec6a4eb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862dde72004656" /><Relationship Type="http://schemas.openxmlformats.org/officeDocument/2006/relationships/notesSlide" Target="/ppt/notesSlides/notesSlide19.xml" Id="Ra2915982f645428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6220b81e3a422b" /><Relationship Type="http://schemas.openxmlformats.org/officeDocument/2006/relationships/notesSlide" Target="/ppt/notesSlides/notesSlide20.xml" Id="R176e69ca386443d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9d2808e0a40a5" /><Relationship Type="http://schemas.openxmlformats.org/officeDocument/2006/relationships/notesSlide" Target="/ppt/notesSlides/notesSlide21.xml" Id="R046c378ed96c4c8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34f13204904451" /><Relationship Type="http://schemas.openxmlformats.org/officeDocument/2006/relationships/notesSlide" Target="/ppt/notesSlides/notesSlide22.xml" Id="R5cf06bca5cbe4ba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44ed955ff949f8" /><Relationship Type="http://schemas.openxmlformats.org/officeDocument/2006/relationships/notesSlide" Target="/ppt/notesSlides/notesSlide23.xml" Id="R776498e0ffd84fa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b03ba32f3c45af" /><Relationship Type="http://schemas.openxmlformats.org/officeDocument/2006/relationships/notesSlide" Target="/ppt/notesSlides/notesSlide24.xml" Id="R9008610ac78b463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5a24df8ad744ba" /><Relationship Type="http://schemas.openxmlformats.org/officeDocument/2006/relationships/notesSlide" Target="/ppt/notesSlides/notesSlide25.xml" Id="R4ec8baea6856431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10a718be0543cf" /><Relationship Type="http://schemas.openxmlformats.org/officeDocument/2006/relationships/notesSlide" Target="/ppt/notesSlides/notesSlide26.xml" Id="Rb379050879c8494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4a24c2eaab4c33" /><Relationship Type="http://schemas.openxmlformats.org/officeDocument/2006/relationships/notesSlide" Target="/ppt/notesSlides/notesSlide27.xml" Id="R8227c3ee079a4e1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dfd0d47430419b" /><Relationship Type="http://schemas.openxmlformats.org/officeDocument/2006/relationships/notesSlide" Target="/ppt/notesSlides/notesSlide28.xml" Id="Rbdf99fc2b22c472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dbeecc0f044a3c" /><Relationship Type="http://schemas.openxmlformats.org/officeDocument/2006/relationships/notesSlide" Target="/ppt/notesSlides/notesSlide29.xml" Id="Rb2f5b29e7f6c4de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2fea1bbd8c40c3" /><Relationship Type="http://schemas.openxmlformats.org/officeDocument/2006/relationships/notesSlide" Target="/ppt/notesSlides/notesSlide30.xml" Id="R9a4bf00f3ee342b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3feab3be354724" /><Relationship Type="http://schemas.openxmlformats.org/officeDocument/2006/relationships/notesSlide" Target="/ppt/notesSlides/notesSlide31.xml" Id="R85961c104cb34b5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49c4c80c4b49f1" /><Relationship Type="http://schemas.openxmlformats.org/officeDocument/2006/relationships/notesSlide" Target="/ppt/notesSlides/notesSlide32.xml" Id="Rd2d8604025274ff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a790d4a73945f7" /><Relationship Type="http://schemas.openxmlformats.org/officeDocument/2006/relationships/notesSlide" Target="/ppt/notesSlides/notesSlide33.xml" Id="R382c81b8ffab4b9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231ebc72e84f8f" /><Relationship Type="http://schemas.openxmlformats.org/officeDocument/2006/relationships/notesSlide" Target="/ppt/notesSlides/notesSlide34.xml" Id="R84650dcd7e7c478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4073183cf74fd8" /><Relationship Type="http://schemas.openxmlformats.org/officeDocument/2006/relationships/notesSlide" Target="/ppt/notesSlides/notesSlide35.xml" Id="R53c58352a116463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5330cf24564b0f" /><Relationship Type="http://schemas.openxmlformats.org/officeDocument/2006/relationships/notesSlide" Target="/ppt/notesSlides/notesSlide36.xml" Id="Rad61c498d3d44f6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97E5ADA-C0AA-4C33-BAA7-AF7FA89D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Build your first AI agent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CC9CB26F-4AF6-4D48-9523-E74FF3BC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One canteen. Two tools.</a:t>
            </a:r>
          </a:p>
          <a:p xmlns:a="http://schemas.openxmlformats.org/drawingml/2006/main">
            <a:pPr>
              <a:defRPr sz="435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Your first agent.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B6B51EEA-83FA-4A77-822F-D0A5BDCF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Vedant · VIT Mumbai · 17 October 2026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25C0E3DE-4F27-48E4-8100-A5E3D5B9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F410C984-96FB-4A93-806E-C86A5F72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39022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176C90C0-6FB9-4784-8C19-E2750E33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You have Rs 80 and ten minutes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AB7C9B61-F24F-49AB-9996-789A3F28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Find vegetarian lunch.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Is the canteen still open?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F4CF8B51-5241-401C-8EBF-A9A5E47C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What information would the program need?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C366CC52-29B5-40E8-9E4F-26BA44BE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330DB077-D612-4E9A-8F78-3FE284DD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354055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40F735F8-990B-4AAD-8533-ADC2270A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What makes this an agent?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C7BA7D20-2205-44D1-A3CC-FA738EE7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Goal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6ED9F984-B806-4612-81C4-AC0B5A04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Help someone find lunch.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E5A77D2C-2980-4AD8-851B-B14E0132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Choices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7533A3FF-17CD-4E79-8562-D4828506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Choose an allowed next action.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641D210A-D85A-4263-835B-D84B838D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CBB94E9D-4B31-4C20-98AE-F0CE9BCC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Use a menu or hours lookup.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89C65C7D-F44F-4E04-BAA7-F2F50F18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An AI program can choose steps and use tools toward a goal.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1C0287E5-4F3B-4D9F-8B70-7F2BC87F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35AC6D01-E956-4397-BF55-E5E60C22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340020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EC65C2C4-A87E-4B5F-925B-434B5776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Act out the tool call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BCBE3BD8-2619-447D-9BF3-0F4EDA75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Student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C639474D-EA53-434F-8BA4-8E804E48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Asks for lunch under Rs 80.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EC4A153A-07DC-4054-8651-5FF6BB29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C0570C52-3EEB-4660-BC4F-08F46A08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Requests a menu lookup.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2C2A0929-A4B1-422A-B20F-2B874743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FBB954F9-97AD-49CB-A5A7-F16558FA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Returns matching menu records.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EC542F73-D64D-423A-8B38-FE40D372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The model requests. Application code executes.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D990C164-5A2D-4682-8628-888FE638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FE9F2110-2CE3-419F-B529-831BC2F8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310972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A80143D3-1F05-4E1D-9384-0C81F0D4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Give each part one job</a:t>
            </a:r>
          </a:p>
        </p:txBody>
      </p:sp>
      <p:sp>
        <p:nvSpPr>
          <p:cNvPr id="2" name="step-0">
            <a:extLst xmlns:a="http://schemas.openxmlformats.org/drawingml/2006/main">
              <a:ext uri="{FF2B5EF4-FFF2-40B4-BE49-F238E27FC236}">
                <a16:creationId xmlns:a16="http://schemas.microsoft.com/office/drawing/2014/main" id="{0D19BAD5-84AB-486D-8590-2C37F864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3" name="step-text-0">
            <a:extLst xmlns:a="http://schemas.openxmlformats.org/drawingml/2006/main">
              <a:ext uri="{FF2B5EF4-FFF2-40B4-BE49-F238E27FC236}">
                <a16:creationId xmlns:a16="http://schemas.microsoft.com/office/drawing/2014/main" id="{3B0963CE-7DAD-4DFC-8F4F-116801EC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User asks</a:t>
            </a:r>
          </a:p>
        </p:txBody>
      </p:sp>
      <p:sp>
        <p:nvSpPr>
          <p:cNvPr id="4" name="arrow-0">
            <a:extLst xmlns:a="http://schemas.openxmlformats.org/drawingml/2006/main">
              <a:ext uri="{FF2B5EF4-FFF2-40B4-BE49-F238E27FC236}">
                <a16:creationId xmlns:a16="http://schemas.microsoft.com/office/drawing/2014/main" id="{CD206305-2480-4A19-8E04-53542CB0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908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5" name="step-1">
            <a:extLst xmlns:a="http://schemas.openxmlformats.org/drawingml/2006/main">
              <a:ext uri="{FF2B5EF4-FFF2-40B4-BE49-F238E27FC236}">
                <a16:creationId xmlns:a16="http://schemas.microsoft.com/office/drawing/2014/main" id="{D2A518EB-4048-4FB6-9632-9616D27E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6" name="step-text-1">
            <a:extLst xmlns:a="http://schemas.openxmlformats.org/drawingml/2006/main">
              <a:ext uri="{FF2B5EF4-FFF2-40B4-BE49-F238E27FC236}">
                <a16:creationId xmlns:a16="http://schemas.microsoft.com/office/drawing/2014/main" id="{7DD8B8AB-8214-482C-A651-3FC33706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Model chooses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26CACCB2-0436-4EAF-AF93-52500AD8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823CF42F-2BA8-44DF-B23D-E2B46E44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9" name="step-text-2">
            <a:extLst xmlns:a="http://schemas.openxmlformats.org/drawingml/2006/main">
              <a:ext uri="{FF2B5EF4-FFF2-40B4-BE49-F238E27FC236}">
                <a16:creationId xmlns:a16="http://schemas.microsoft.com/office/drawing/2014/main" id="{7426025C-552B-4132-88F0-990DD742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Code runs tool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DD64F209-476F-47B8-B44A-F5625CEF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Tool result returns to the model, which continues or finishes.</a:t>
            </a:r>
          </a:p>
        </p:txBody>
      </p:sp>
      <p:sp>
        <p:nvSpPr>
          <p:cNvPr id="11" name="mode">
            <a:extLst xmlns:a="http://schemas.openxmlformats.org/drawingml/2006/main">
              <a:ext uri="{FF2B5EF4-FFF2-40B4-BE49-F238E27FC236}">
                <a16:creationId xmlns:a16="http://schemas.microsoft.com/office/drawing/2014/main" id="{A5B0A6D0-6A1D-45BB-A223-BADD6651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2" name="number">
            <a:extLst xmlns:a="http://schemas.openxmlformats.org/drawingml/2006/main">
              <a:ext uri="{FF2B5EF4-FFF2-40B4-BE49-F238E27FC236}">
                <a16:creationId xmlns:a16="http://schemas.microsoft.com/office/drawing/2014/main" id="{FDA450DF-4256-42BF-9373-EAA6F8F7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80191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F0C440CE-58BF-481F-BFD0-52A50BFE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Our entire canteen menu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C5EDE349-6ACF-45F4-AEBF-B9F6D3B5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Veg sandwich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1E4672D6-69A8-4576-9AFA-53E120AD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Rs 60 · vegetarian · available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224AEE4E-1A3A-40B2-B4DA-88CF8A56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Poha / Chicken roll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358E8EC3-7038-46E9-93A7-1F50236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Rs 35 sold out / Rs 75 non-vegetarian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520396F0-2816-4C38-A734-90A20D39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Dosa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C81B0E77-D565-4EB5-9E3C-5241E81D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Rs 90 · vegetarian · available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8B528D5D-320F-4C41-90C0-ED2165E8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Predict the answer for a vegetarian budget of Rs 80.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59F5EDF8-9D4D-45AF-8E67-79EE20D4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F40AB93A-743D-41E0-8422-4CED2753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689797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B9556F1-3589-4450-8EAA-4A5CA68E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A tool starts as a function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EC4D7076-6DA8-44A1-B448-69F275E4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def find_food(max_price: int, vegetarian: bool = True):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"""Find available food within a budget."""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matches = []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for dish in MENU: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    # Check stock, budget and diet.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    ...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return {"status": "ok", "matches": matches}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print(find_food(80))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D9A8D04E-BEAF-431B-8383-14AAF321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This outline is ordinary Python. Complete it in the editor.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37B05234-559A-4BB1-956C-D344A01C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429D9408-7E40-43FF-BF3B-B1CB844C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6378462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CDA2F8B-62BD-48CC-895E-0D1B509C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Your turn: run the tool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CD73BE88-9F1A-499A-A1A0-9BF3D92E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Create menu_tools.py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Call find_food(80)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Then try find_food(30)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65F83D97-8B00-49B3-A33D-A6F9EC4E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Checkpoint 1: a real local function result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56D589AB-E407-403B-878E-D4DEAE4F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STUDENT ACTIVITY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0A5BBF97-08D5-49B9-BC1E-9EAD05E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666146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8206B22C-A892-40F5-898C-CEFC00AF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Let the model request the function</a:t>
            </a:r>
          </a:p>
        </p:txBody>
      </p:sp>
      <p:sp>
        <p:nvSpPr>
          <p:cNvPr id="2" name="step-0">
            <a:extLst xmlns:a="http://schemas.openxmlformats.org/drawingml/2006/main">
              <a:ext uri="{FF2B5EF4-FFF2-40B4-BE49-F238E27FC236}">
                <a16:creationId xmlns:a16="http://schemas.microsoft.com/office/drawing/2014/main" id="{1ADB7D68-C975-4AAE-BB21-14E90C6A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3" name="step-text-0">
            <a:extLst xmlns:a="http://schemas.openxmlformats.org/drawingml/2006/main">
              <a:ext uri="{FF2B5EF4-FFF2-40B4-BE49-F238E27FC236}">
                <a16:creationId xmlns:a16="http://schemas.microsoft.com/office/drawing/2014/main" id="{8BD7DF08-F311-44AA-A48B-023F22C1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Tool description</a:t>
            </a:r>
          </a:p>
        </p:txBody>
      </p:sp>
      <p:sp>
        <p:nvSpPr>
          <p:cNvPr id="4" name="arrow-0">
            <a:extLst xmlns:a="http://schemas.openxmlformats.org/drawingml/2006/main">
              <a:ext uri="{FF2B5EF4-FFF2-40B4-BE49-F238E27FC236}">
                <a16:creationId xmlns:a16="http://schemas.microsoft.com/office/drawing/2014/main" id="{C31A2A4E-FDC5-410B-A9A5-5599450C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908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5" name="step-1">
            <a:extLst xmlns:a="http://schemas.openxmlformats.org/drawingml/2006/main">
              <a:ext uri="{FF2B5EF4-FFF2-40B4-BE49-F238E27FC236}">
                <a16:creationId xmlns:a16="http://schemas.microsoft.com/office/drawing/2014/main" id="{BA1DD9C5-B0FD-40DF-A2D8-EB4266C5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6" name="step-text-1">
            <a:extLst xmlns:a="http://schemas.openxmlformats.org/drawingml/2006/main">
              <a:ext uri="{FF2B5EF4-FFF2-40B4-BE49-F238E27FC236}">
                <a16:creationId xmlns:a16="http://schemas.microsoft.com/office/drawing/2014/main" id="{6A1FE101-B459-47F9-8853-C3453F5B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Model request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0D0F7DF2-B398-4AE3-8E55-A3CB4DC6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648021DA-A92D-43E3-92AB-39995692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9" name="step-text-2">
            <a:extLst xmlns:a="http://schemas.openxmlformats.org/drawingml/2006/main">
              <a:ext uri="{FF2B5EF4-FFF2-40B4-BE49-F238E27FC236}">
                <a16:creationId xmlns:a16="http://schemas.microsoft.com/office/drawing/2014/main" id="{602BEA42-B4F8-4F53-BCCD-780F1864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Function result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68D1CAF8-C200-4C0A-90CF-8578DF0F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The application executes the requested function.</a:t>
            </a:r>
          </a:p>
        </p:txBody>
      </p:sp>
      <p:sp>
        <p:nvSpPr>
          <p:cNvPr id="11" name="mode">
            <a:extLst xmlns:a="http://schemas.openxmlformats.org/drawingml/2006/main">
              <a:ext uri="{FF2B5EF4-FFF2-40B4-BE49-F238E27FC236}">
                <a16:creationId xmlns:a16="http://schemas.microsoft.com/office/drawing/2014/main" id="{196ECD8C-A2FA-44F2-B88B-CB62E89C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2" name="number">
            <a:extLst xmlns:a="http://schemas.openxmlformats.org/drawingml/2006/main">
              <a:ext uri="{FF2B5EF4-FFF2-40B4-BE49-F238E27FC236}">
                <a16:creationId xmlns:a16="http://schemas.microsoft.com/office/drawing/2014/main" id="{823D3CCD-7E8A-435F-9653-3D0EF604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988118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">
            <a:extLst xmlns:a="http://schemas.openxmlformats.org/drawingml/2006/main">
              <a:ext uri="{FF2B5EF4-FFF2-40B4-BE49-F238E27FC236}">
                <a16:creationId xmlns:a16="http://schemas.microsoft.com/office/drawing/2014/main" id="{82386C23-DECB-4973-832F-F3EEA6D7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The ReAct-style loop</a:t>
            </a:r>
          </a:p>
        </p:txBody>
      </p:sp>
      <p:sp>
        <p:nvSpPr>
          <p:cNvPr id="2" name="step-0">
            <a:extLst xmlns:a="http://schemas.openxmlformats.org/drawingml/2006/main">
              <a:ext uri="{FF2B5EF4-FFF2-40B4-BE49-F238E27FC236}">
                <a16:creationId xmlns:a16="http://schemas.microsoft.com/office/drawing/2014/main" id="{74AE574D-1725-464B-BE34-0A72D82A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3" name="step-text-0">
            <a:extLst xmlns:a="http://schemas.openxmlformats.org/drawingml/2006/main">
              <a:ext uri="{FF2B5EF4-FFF2-40B4-BE49-F238E27FC236}">
                <a16:creationId xmlns:a16="http://schemas.microsoft.com/office/drawing/2014/main" id="{49B2ECFC-B9C3-41AC-962F-B6E90781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Choose action</a:t>
            </a:r>
          </a:p>
        </p:txBody>
      </p:sp>
      <p:sp>
        <p:nvSpPr>
          <p:cNvPr id="4" name="arrow-0">
            <a:extLst xmlns:a="http://schemas.openxmlformats.org/drawingml/2006/main">
              <a:ext uri="{FF2B5EF4-FFF2-40B4-BE49-F238E27FC236}">
                <a16:creationId xmlns:a16="http://schemas.microsoft.com/office/drawing/2014/main" id="{8210A98D-6C93-47EA-9311-19ED0BCC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908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5" name="step-1">
            <a:extLst xmlns:a="http://schemas.openxmlformats.org/drawingml/2006/main">
              <a:ext uri="{FF2B5EF4-FFF2-40B4-BE49-F238E27FC236}">
                <a16:creationId xmlns:a16="http://schemas.microsoft.com/office/drawing/2014/main" id="{13F3B825-74F0-4CE2-9790-B4B45C86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6" name="step-text-1">
            <a:extLst xmlns:a="http://schemas.openxmlformats.org/drawingml/2006/main">
              <a:ext uri="{FF2B5EF4-FFF2-40B4-BE49-F238E27FC236}">
                <a16:creationId xmlns:a16="http://schemas.microsoft.com/office/drawing/2014/main" id="{B2FBD1D8-E6DC-4427-A74C-B76978C2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Use a tool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EB7812BE-4A9B-4414-9F48-625052F1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5204FD20-C640-41AA-B675-61CA244C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9" name="step-text-2">
            <a:extLst xmlns:a="http://schemas.openxmlformats.org/drawingml/2006/main">
              <a:ext uri="{FF2B5EF4-FFF2-40B4-BE49-F238E27FC236}">
                <a16:creationId xmlns:a16="http://schemas.microsoft.com/office/drawing/2014/main" id="{7D48EB84-9FF6-4197-BC05-9D4ACF75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Observe result</a:t>
            </a:r>
          </a:p>
        </p:txBody>
      </p:sp>
      <p:sp>
        <p:nvSpPr>
          <p:cNvPr id="10" name="loop-down">
            <a:extLst xmlns:a="http://schemas.openxmlformats.org/drawingml/2006/main">
              <a:ext uri="{FF2B5EF4-FFF2-40B4-BE49-F238E27FC236}">
                <a16:creationId xmlns:a16="http://schemas.microsoft.com/office/drawing/2014/main" id="{8718B2C6-EF94-4BBE-BC97-082FF3EC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524250"/>
            <a:ext cx="285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9C5A"/>
          </a:solidFill>
          <a:ln xmlns:a="http://schemas.openxmlformats.org/drawingml/2006/main" w="0">
            <a:noFill/>
          </a:ln>
        </p:spPr>
      </p:sp>
      <p:sp>
        <p:nvSpPr>
          <p:cNvPr id="11" name="loop-back">
            <a:extLst xmlns:a="http://schemas.openxmlformats.org/drawingml/2006/main">
              <a:ext uri="{FF2B5EF4-FFF2-40B4-BE49-F238E27FC236}">
                <a16:creationId xmlns:a16="http://schemas.microsoft.com/office/drawing/2014/main" id="{A28BAEEB-46F8-49C7-9BBC-040A7637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086225"/>
            <a:ext cx="7705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9C5A"/>
          </a:solidFill>
          <a:ln xmlns:a="http://schemas.openxmlformats.org/drawingml/2006/main" w="0">
            <a:noFill/>
          </a:ln>
        </p:spPr>
      </p:sp>
      <p:sp>
        <p:nvSpPr>
          <p:cNvPr id="12" name="loop-up-line">
            <a:extLst xmlns:a="http://schemas.openxmlformats.org/drawingml/2006/main">
              <a:ext uri="{FF2B5EF4-FFF2-40B4-BE49-F238E27FC236}">
                <a16:creationId xmlns:a16="http://schemas.microsoft.com/office/drawing/2014/main" id="{8FD431B5-7335-447D-9915-9A3AAAFE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38575"/>
            <a:ext cx="285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9C5A"/>
          </a:solidFill>
          <a:ln xmlns:a="http://schemas.openxmlformats.org/drawingml/2006/main" w="0">
            <a:noFill/>
          </a:ln>
        </p:spPr>
      </p:sp>
      <p:sp>
        <p:nvSpPr>
          <p:cNvPr id="13" name="loop-up-arrow">
            <a:extLst xmlns:a="http://schemas.openxmlformats.org/drawingml/2006/main">
              <a:ext uri="{FF2B5EF4-FFF2-40B4-BE49-F238E27FC236}">
                <a16:creationId xmlns:a16="http://schemas.microsoft.com/office/drawing/2014/main" id="{C85F16B6-672E-4FDE-8A74-692838B9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3486150"/>
            <a:ext cx="38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↑</a:t>
            </a:r>
          </a:p>
        </p:txBody>
      </p:sp>
      <p:sp>
        <p:nvSpPr>
          <p:cNvPr id="14" name="loop-caption">
            <a:extLst xmlns:a="http://schemas.openxmlformats.org/drawingml/2006/main">
              <a:ext uri="{FF2B5EF4-FFF2-40B4-BE49-F238E27FC236}">
                <a16:creationId xmlns:a16="http://schemas.microsoft.com/office/drawing/2014/main" id="{DD3FD168-963E-4B73-8B47-CA4BA3D8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38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Result informs the next action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4F2894F0-7172-4CCE-A699-8ACF80A9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Continue, use another tool, or finish within a limit.</a:t>
            </a:r>
          </a:p>
        </p:txBody>
      </p:sp>
      <p:sp>
        <p:nvSpPr>
          <p:cNvPr id="16" name="mode">
            <a:extLst xmlns:a="http://schemas.openxmlformats.org/drawingml/2006/main">
              <a:ext uri="{FF2B5EF4-FFF2-40B4-BE49-F238E27FC236}">
                <a16:creationId xmlns:a16="http://schemas.microsoft.com/office/drawing/2014/main" id="{1B7D54C5-71DE-4FEF-B50F-175D5B9D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7" name="number">
            <a:extLst xmlns:a="http://schemas.openxmlformats.org/drawingml/2006/main">
              <a:ext uri="{FF2B5EF4-FFF2-40B4-BE49-F238E27FC236}">
                <a16:creationId xmlns:a16="http://schemas.microsoft.com/office/drawing/2014/main" id="{01BCE8E1-45A1-472E-B17C-717F3153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808156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2170F17-67C7-40C2-926D-4B46406F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Build with LangChain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02B165BF-B096-4C86-80B9-97464F82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agent = create_agent(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model=make_model(OFFLINE),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tools=[tool(find_food)],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system_prompt="Use the menu for facts.",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result = agent.invoke(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{"messages": [("user", "Veg lunch under Rs 80?")]},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{"recursion_limit": 10},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5736DD02-B929-47DF-9DC2-53E3E713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Add imports and setup from classroom/README.md.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CF254785-692A-4FE7-B3F1-D8911441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6DAA2F70-858A-4C94-9907-6D6C5AAE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830056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AA4F1EE-9415-4C95-8E12-7F5A757B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Build and run your first agent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A275EA7E-32FD-4F53-B95B-C71E29C4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Write my_agent.py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Register your menu function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Ask for lunch under Rs 80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76FB43AB-8F63-482D-911E-B0EADDBC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Checkpoint 2: explain one tool request and its result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D92809D7-7A24-44FF-AF39-8FB68691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STUDENT ACTIVITY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1D8D1853-E742-4E34-B392-CA7C36B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007393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8767DA11-C3F6-4AEB-9A9A-75E50C42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What happened in that run?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59709A69-4788-4450-8EC5-9986A238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Request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5BC23447-927F-4601-A786-BBD7849B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find_food with a budget and diet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5039825E-35B3-4E62-8875-1692C268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Execution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7043FBC0-70D2-452B-916A-E469D293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Python reads and filters our menu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53B3E487-D0BD-4293-9DFD-01E33364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87B5821B-13BD-459C-BEF0-67FEE60D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The model receives the actual result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F088DB56-4B1B-4BCE-BA60-A1BAD40D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Try a different question and observe the tool use.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120DC101-D5EC-4060-8F82-1467BFED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 + DISCUSSION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8CCA56D8-436B-41FF-9C05-BD4C8571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152950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8AA70FD-C21B-43BD-B5F4-D18C17D5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Add one new ability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5AE0BF8D-525D-48E2-8CAB-F95322C8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def get_canteen_hours(at: str = "12:30") -&gt; dict: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"""Read fictional hours at a mock time."""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# See the full short function in the lesson.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tools=[tool(find_food), tool(get_canteen_hours)]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58801E34-3467-43CC-A873-3C7FAC8D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Registering a new tool gives the agent another allowed action.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EE01D893-0781-4082-8655-CECF4291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E43BE814-A5DF-494D-B5EC-FF20ABCB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6566768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39A20D3-40FF-42BB-93F9-EEDE50A4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Your agent now has two tools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7126395C-9A64-4E09-A177-E4EBC70F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Find vegetarian lunch under Rs 80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and tell me when the canteen closes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08B80980-F6C0-4C8C-908C-BA856680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Checkpoint 3: run the capability you added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6DFF0CD0-F9C0-4770-9759-47835C55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STUDENT ACTIVITY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7EDF98E9-1EEF-45DC-90A8-2C6E5AE7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120049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2CF2F5D-0909-4C31-A32A-03995AC1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Five-minute break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D2273543-3C10-4387-90A0-584F71B6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Back at 12:00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Keep your first agent open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3C3F0785-FECD-4F95-9942-0EF39EB2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Next: reuse its tools through MCP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DF0CCA6D-9D27-472D-BAF8-BC6371E5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BREAK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97C52779-5D9E-435E-A8B7-12242637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706337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6F213C0F-EE37-4F2F-9305-2ED97192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Can another app use our tools?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716E94D5-52D3-4DB1-A202-A5137D0D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We already wrote the menu logic.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How can another agent reuse it?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C786EB08-FE42-43A5-977C-B7DE33E6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MCP gives applications a common tool interface.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314BCC10-C7E0-47B6-9576-63E819B8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2282BE3D-FDFB-4710-9596-57BF181A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98237995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DFBAD7CF-AC0A-48EA-AC38-F0C98E96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Same data, same tool service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743BFFBF-0D40-4D93-9F8F-F0CA753F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Clients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4C832C26-9D5F-4414-8449-C56240FF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LangChain, a LangGraph agent, CrewAI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1ACF1FC2-AAA5-449F-BAC9-F3D5C579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FB3CA27B-1734-46C2-9B26-16DEAB5B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find_food and get_canteen_hours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04075DEC-0E20-47F0-9DB7-527DF0A0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Data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7A3E57D1-7139-4596-9F54-559A383A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The same fictional menu and clock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2108B1FC-4471-46C9-9898-4B0BB806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Framework connections differ. The tool contract stays the same.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290BD7F4-B71C-4801-92FA-A2224450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A02B5877-5EF0-4939-9CF6-235238F6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6895507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7B23CB0B-B96E-4B0B-B4DB-01CE6A0B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Expose our functions through MCP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16C55590-B080-4B45-869F-F85F1D61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from mcp.server.fastmcp import FastMCP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from menu_tools import find_food, get_canteen_hours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server = FastMCP("Campus Canteen")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server.tool()(find_food)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server.tool()(get_canteen_hours)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server.run(transport="stdio")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9FE2C73E-62F7-4749-BA78-58250EBB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Use the same functions. Keep server stdout for protocol traffic.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FB2D6CCA-9056-4320-9B9B-009823BC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AEAD5C0E-DB51-453B-9976-2EFC39F1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927361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75F6B0C-F7F7-4AA8-AD3F-EC610646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Discover, call, then connect an agent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B2011423-D87A-4401-88BA-7C559A5C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async with connected_tools() as tools: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print([t.name for t in tools])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# The client has real MCP tool wrappers.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agent = create_agent(make_model(OFFLINE), tools)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result = await agent.ainvoke(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    {"messages": [("user", "Veg lunch under Rs 80?")]}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)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F616F84B-FCB4-4386-83E9-BFFD13EA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Prepared connection setup lets us focus on the tool boundary.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4DD85190-23CF-4970-BF05-26759C35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E0202A3C-CB2D-4137-AEDE-6733B190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913778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F461410-3DD7-4C0F-B4A4-9B8F1531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Try one real MCP call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DE38F643-3563-4271-AC78-545DF8EF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Discover the two tools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Call find_food with budget 80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Compare with your direct function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56D2A34A-EF08-4971-AA89-84FA0609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Checkpoint 4: same records across a process boundary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D7F33981-57E7-44D2-8E2E-173D3CA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STUDENT ACTIVITY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0D9C7B5C-061E-42C1-8648-64A13037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1984055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1095724-EA53-4BBA-9E7E-491D4FA6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What if the canteen is closed?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2A0F8AE0-D5AA-4D85-92E5-A02B92A2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We want to check hours first.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If closed, skip the lunch lookup.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2271CFFF-BC3D-4F15-B898-F3FBAE92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Now we have a reason to control the route.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447F467A-4F1C-4661-9C81-AF5D21B1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67735E3B-AC88-4F7E-831B-68DF7A7F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16287913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635EA30-25A8-4FAA-9BD7-44F83C5D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One branch around an agent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C0468718-76C7-40BA-9D73-02822822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START -&gt; check hours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open   -&gt; lunch agent -&gt; END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closed -&gt; closed reply -&gt; 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State = information carried forward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Node  = one step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Edge  = the next route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9DE3ECC4-36F5-48D3-8E13-A99EF4E5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LangGraph can combine explicit steps and flexible agent loops.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946228F6-5E0C-45F3-A041-537EF3FF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D8111CF1-C2E8-4AEA-866E-F2D0FA6F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03005266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E9BE7B5-D05F-4BA9-BFBA-DACF8AD2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Wire the small graph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A64EC93F-CA56-4579-ABBF-04E3F996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flow = StateGraph(State)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flow.add_node("hours", hours)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flow.add_node("agent", agent)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flow.add_node("closed", closed)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flow.add_edge(START, "hours")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flow.add_conditional_edges(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"hours", choose, {"agent": "agent", "closed": "closed"}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flow.add_edge("agent", END)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flow.add_edge("closed", END)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3836A226-B4D8-41B5-BB99-9F135346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The graph file defines three steps and one branch.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D680AA9D-0429-495C-9692-2FC17DCA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DD963AFC-5659-4BC6-8383-E3B35774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72485740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183CD0E-3FE3-4DB5-BBC6-15D22CF9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Predict both routes, then run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F188ECCD-5194-4BF8-9ABC-7200226D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python classroom/graph.py --offline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# Simulated later time: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python classroom/graph.py --offline --at 17:00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12:30 -&gt; hours -&gt; agent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17:00 -&gt; hours -&gt; closed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D623D899-DB6B-43FF-BE3D-B8F04CDA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The closed route skips the lunch agent.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95E28BCC-304F-4EBF-A4EB-44C6ACEC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 + DISCUSSION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016CC395-9DA7-40D5-BBF3-EF6A40EB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915217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5FB7B1D4-C6F7-4DEC-8EE4-74113EF6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Could two agents share the job?</a:t>
            </a:r>
          </a:p>
        </p:txBody>
      </p:sp>
      <p:sp>
        <p:nvSpPr>
          <p:cNvPr id="2" name="step-0">
            <a:extLst xmlns:a="http://schemas.openxmlformats.org/drawingml/2006/main">
              <a:ext uri="{FF2B5EF4-FFF2-40B4-BE49-F238E27FC236}">
                <a16:creationId xmlns:a16="http://schemas.microsoft.com/office/drawing/2014/main" id="{9FFF5EAA-53AE-488E-B9B9-D70B1497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3" name="step-text-0">
            <a:extLst xmlns:a="http://schemas.openxmlformats.org/drawingml/2006/main">
              <a:ext uri="{FF2B5EF4-FFF2-40B4-BE49-F238E27FC236}">
                <a16:creationId xmlns:a16="http://schemas.microsoft.com/office/drawing/2014/main" id="{9DA917E8-24F0-400D-8CFC-83929A5F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Menu scout</a:t>
            </a:r>
          </a:p>
        </p:txBody>
      </p:sp>
      <p:sp>
        <p:nvSpPr>
          <p:cNvPr id="4" name="arrow-0">
            <a:extLst xmlns:a="http://schemas.openxmlformats.org/drawingml/2006/main">
              <a:ext uri="{FF2B5EF4-FFF2-40B4-BE49-F238E27FC236}">
                <a16:creationId xmlns:a16="http://schemas.microsoft.com/office/drawing/2014/main" id="{C880DAA4-9F56-461A-A809-86B10BA0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908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5" name="step-1">
            <a:extLst xmlns:a="http://schemas.openxmlformats.org/drawingml/2006/main">
              <a:ext uri="{FF2B5EF4-FFF2-40B4-BE49-F238E27FC236}">
                <a16:creationId xmlns:a16="http://schemas.microsoft.com/office/drawing/2014/main" id="{5259320E-25CA-46B5-86EF-BB65DB9A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6" name="step-text-1">
            <a:extLst xmlns:a="http://schemas.openxmlformats.org/drawingml/2006/main">
              <a:ext uri="{FF2B5EF4-FFF2-40B4-BE49-F238E27FC236}">
                <a16:creationId xmlns:a16="http://schemas.microsoft.com/office/drawing/2014/main" id="{9AFDEF3A-63EC-4DC3-B36B-E89F451D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Handoff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98D3B77D-A554-403C-926B-C60AC011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908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6B2ED9FD-5309-4A86-A6DA-B7D2D8F1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52675"/>
            <a:ext cx="30480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E6"/>
          </a:solidFill>
          <a:ln xmlns:a="http://schemas.openxmlformats.org/drawingml/2006/main" w="0">
            <a:noFill/>
          </a:ln>
        </p:spPr>
      </p:sp>
      <p:sp>
        <p:nvSpPr>
          <p:cNvPr id="9" name="step-text-2">
            <a:extLst xmlns:a="http://schemas.openxmlformats.org/drawingml/2006/main">
              <a:ext uri="{FF2B5EF4-FFF2-40B4-BE49-F238E27FC236}">
                <a16:creationId xmlns:a16="http://schemas.microsoft.com/office/drawing/2014/main" id="{77FA0D7E-344F-4BCA-A153-E8A325FD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2628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Lunch planner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1A9704B6-AB0B-406D-A5D8-F314E63D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One role gathers facts. The next uses those facts.</a:t>
            </a:r>
          </a:p>
        </p:txBody>
      </p:sp>
      <p:sp>
        <p:nvSpPr>
          <p:cNvPr id="11" name="mode">
            <a:extLst xmlns:a="http://schemas.openxmlformats.org/drawingml/2006/main">
              <a:ext uri="{FF2B5EF4-FFF2-40B4-BE49-F238E27FC236}">
                <a16:creationId xmlns:a16="http://schemas.microsoft.com/office/drawing/2014/main" id="{B6F77D5C-766A-4988-8F06-B480BDE1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2" name="number">
            <a:extLst xmlns:a="http://schemas.openxmlformats.org/drawingml/2006/main">
              <a:ext uri="{FF2B5EF4-FFF2-40B4-BE49-F238E27FC236}">
                <a16:creationId xmlns:a16="http://schemas.microsoft.com/office/drawing/2014/main" id="{353B742B-937F-4CD4-80A2-FD129B11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74746894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EAEBDA1-698B-405E-AA7E-26D51F56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A real CrewAI handoff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6BA4DD53-FC20-4BC1-A92E-DA7F6965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lookup = Task(..., agent=scout)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plan = Task(..., agent=planner, context=[lookup])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team = Crew(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agents=[scout, planner],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tasks=[lookup, plan],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process=Process.sequential,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team.kickoff()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EF3C89EF-20F5-46CD-8097-0131FFE0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context passes the first task output into the next task.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9C35D5C5-D793-4627-9214-1BFAC0F8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930D3CCB-13B4-42A3-B61E-29183B10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99087005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4B6C254-072B-45D4-AC53-715AEA62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Run the scout and planner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13C886A8-E9D9-4B29-A45A-BF9D6AC4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python classroom/crew.py --offline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SCOUT: available options from MCP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PLANNER: 2 x Veg sandwich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TOTAL: Rs 120 within Rs 150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62AF0AF2-832D-4748-B642-90CC7393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Actual CrewAI tasks; --offline uses scripted brains.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61DC4A94-FA84-4498-8DA3-2773378C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61C145FB-9278-429B-93D2-52A30088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2326223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68C483AE-E87C-455D-8D87-F12C8CB9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When does a team earn its cost?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16F294D0-87C3-4CE5-9A48-111F5B08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Useful split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EA8914EB-44A0-4F37-AB5E-194CFC50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Distinct expertise or responsibilities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8E2AB350-CB7F-441B-9B84-30289B5D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Added cost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50ABB62B-FCC8-4979-B1D5-6C6268D9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More model calls and coordination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6B3A48ED-34DC-4665-8FDC-47C4DC41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First question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307021F1-A491-4052-8FCA-BD13253A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Would one agent be enough?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C7FF1BF3-D807-44D0-BB49-223F5C6E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An orchestrator assigns work; a sequence has a fixed handoff.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365E555E-E8E2-4DB0-9C95-60D9AFDE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4C07CE04-4FE3-4A08-99CA-61BEC6EF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99599376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AECD46EB-4F71-4D1A-A694-AC35DB55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Choose for the job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3C27463E-1C80-4D30-89F4-117E924F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A few tools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5B3EED81-2058-4C2C-ADBC-626D5334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Simple loop or LangChain agent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FFC7E097-7359-4AFA-8C22-F593E908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Required routes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843418F9-CC06-489D-8D1F-98688793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LangGraph workflow with agents where useful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41086BD0-4A25-4578-B5A2-511276BA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Distinct roles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981C018B-0ADA-4F34-AD78-7932D0D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Consider a CrewAI team and its cost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9DCD9C25-F709-4974-883A-65C09EAB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These are starting points, not exclusive framework capabilities.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27FC461A-BE23-436F-97B1-029057FE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28D73ACF-DEF5-4D21-939A-69CBA88B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9996233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E4412447-0A1D-45CA-963E-AAB35F81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MCP and A2A connect different things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6DAE42BD-28E4-4E73-BDB4-DD685C2F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MCP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0C8AC03D-147C-470C-9FB1-50609D02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Application &lt;-&gt; tools and context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F1375039-5408-4895-B50D-F722BCE3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A2A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F000189B-D87D-47F8-A4F8-CEB96C73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Independent agent systems &lt;-&gt; each other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968B6543-E636-4387-B1F1-18D2F2BF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Our crew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4B250EC4-7E75-49F7-8883-AD3E0B3F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Two agents inside one application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6B168787-5839-4EC6-B0A2-1A91B060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Two agents do not automatically implement the A2A protocol.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92071FED-4974-456F-9E2C-D877DF53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214ADF69-B57D-4BE9-917B-C332820B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49617866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B60E154-9B35-4240-8606-9909906D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Give the files clear jobs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EAAD070D-AFF1-450E-9884-CA657CBB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README.md          what it does and how to run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AGENTS.md          supported coding instructions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data/menu.json     fictional records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menu_tools.py      ordinary functions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my_agent.py        model + tools + loop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D891409D-8C07-4BAD-B9C7-AE1E74EF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Instruction filename support depends on your coding client.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33E6E305-5FC4-4EA9-9BDC-4D91E5C4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63CE6D9A-CD38-4BF6-937D-6FDD50A3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01003301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9F88245-2655-46A5-9C97-964AAF34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Write a useful project instruction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F1E39EE4-225C-4E8D-8BFD-4879F159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# Canteen project rules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- Use data/menu.json for menu facts.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- Explain a proposed change before editing.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- Run the changed behavior and report the result.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- Keep API keys out of source and commits.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F3CBA1BC-953B-4BA7-8581-ADD86FAE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A heading and clear bullets are enough to start.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8C81F645-4F3E-4803-BB6B-D436FE79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STUDENT ACTIVITY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65CCB0AF-7CA3-4D2D-A964-0AE0E242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08178706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CA8FD4A-B9AE-45C4-966B-939647B3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Keep control of allowed actions</a:t>
            </a:r>
          </a:p>
        </p:txBody>
      </p:sp>
      <p:sp>
        <p:nvSpPr>
          <p:cNvPr id="2" name="code">
            <a:extLst xmlns:a="http://schemas.openxmlformats.org/drawingml/2006/main">
              <a:ext uri="{FF2B5EF4-FFF2-40B4-BE49-F238E27FC236}">
                <a16:creationId xmlns:a16="http://schemas.microsoft.com/office/drawing/2014/main" id="{9F70FB2A-2BA6-4A39-90D5-A54AF39A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0725150" cy="36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if call["name"] not in allowed_tools: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    raise ValueError("Tool is not allowed")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# Also bound the number of model steps.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# Validate arguments before execution.</a:t>
            </a:r>
          </a:p>
          <a:p xmlns:a="http://schemas.openxmlformats.org/drawingml/2006/main">
            <a:pPr>
              <a:defRPr sz="1875" b="0">
                <a:solidFill>
                  <a:srgbClr val="1E3A32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E3A32"/>
                </a:solidFill>
                <a:latin typeface="Consolas"/>
                <a:ea typeface="Consolas"/>
                <a:cs typeface="Consolas"/>
              </a:rPr>
              <a:t># Keep private configuration off screen.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37ABA16A-74F2-497C-BD9A-7D0DAC9B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Prompts guide behavior. Code enforces boundaries.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E4D57977-6A1E-41FE-B2C7-BEA6C4E0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EDITOR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C70CB058-5033-4FE5-ABC2-CA2B5F1E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24544667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401EEC74-DBF0-4415-BDE3-FAA3027F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Review one small AI-assisted change</a:t>
            </a:r>
          </a:p>
        </p:txBody>
      </p:sp>
      <p:sp>
        <p:nvSpPr>
          <p:cNvPr id="2" name="label-0">
            <a:extLst xmlns:a="http://schemas.openxmlformats.org/drawingml/2006/main">
              <a:ext uri="{FF2B5EF4-FFF2-40B4-BE49-F238E27FC236}">
                <a16:creationId xmlns:a16="http://schemas.microsoft.com/office/drawing/2014/main" id="{44CD9673-BE1C-494D-9613-9D2DCA1D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3" name="body-0">
            <a:extLst xmlns:a="http://schemas.openxmlformats.org/drawingml/2006/main">
              <a:ext uri="{FF2B5EF4-FFF2-40B4-BE49-F238E27FC236}">
                <a16:creationId xmlns:a16="http://schemas.microsoft.com/office/drawing/2014/main" id="{E266FB5D-0AEA-4BCE-AEEE-97D520C6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Add a canteen-location tool.</a:t>
            </a:r>
          </a:p>
        </p:txBody>
      </p:sp>
      <p:sp>
        <p:nvSpPr>
          <p:cNvPr id="4" name="label-1">
            <a:extLst xmlns:a="http://schemas.openxmlformats.org/drawingml/2006/main">
              <a:ext uri="{FF2B5EF4-FFF2-40B4-BE49-F238E27FC236}">
                <a16:creationId xmlns:a16="http://schemas.microsoft.com/office/drawing/2014/main" id="{451558DD-7EC1-4BF2-A703-847A2C59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Inspect</a:t>
            </a:r>
          </a:p>
        </p:txBody>
      </p:sp>
      <p:sp>
        <p:nvSpPr>
          <p:cNvPr id="5" name="body-1">
            <a:extLst xmlns:a="http://schemas.openxmlformats.org/drawingml/2006/main">
              <a:ext uri="{FF2B5EF4-FFF2-40B4-BE49-F238E27FC236}">
                <a16:creationId xmlns:a16="http://schemas.microsoft.com/office/drawing/2014/main" id="{EC6137EA-1694-4DFE-B827-97F8131C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Read the new function and registration.</a:t>
            </a:r>
          </a:p>
        </p:txBody>
      </p:sp>
      <p:sp>
        <p:nvSpPr>
          <p:cNvPr id="6" name="label-2">
            <a:extLst xmlns:a="http://schemas.openxmlformats.org/drawingml/2006/main">
              <a:ext uri="{FF2B5EF4-FFF2-40B4-BE49-F238E27FC236}">
                <a16:creationId xmlns:a16="http://schemas.microsoft.com/office/drawing/2014/main" id="{9C851C86-E5B2-467A-BD1D-9B8E3F84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3B9C5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3B9C5A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CCE9383A-40BD-48E1-86F7-9BD47115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210050"/>
            <a:ext cx="78486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D2B26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D2B26"/>
                </a:solidFill>
                <a:latin typeface="Calibri"/>
                <a:ea typeface="Calibri"/>
                <a:cs typeface="Calibri"/>
              </a:rPr>
              <a:t>Ask a question that needs the tool.</a:t>
            </a:r>
          </a:p>
        </p:txBody>
      </p:sp>
      <p:sp>
        <p:nvSpPr>
          <p:cNvPr id="8" name="takeaway">
            <a:extLst xmlns:a="http://schemas.openxmlformats.org/drawingml/2006/main">
              <a:ext uri="{FF2B5EF4-FFF2-40B4-BE49-F238E27FC236}">
                <a16:creationId xmlns:a16="http://schemas.microsoft.com/office/drawing/2014/main" id="{D3F20132-34FA-4C45-ACC3-6739DF82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Ask what changed, why it works and what actually ran.</a:t>
            </a:r>
          </a:p>
        </p:txBody>
      </p:sp>
      <p:sp>
        <p:nvSpPr>
          <p:cNvPr id="9" name="mode">
            <a:extLst xmlns:a="http://schemas.openxmlformats.org/drawingml/2006/main">
              <a:ext uri="{FF2B5EF4-FFF2-40B4-BE49-F238E27FC236}">
                <a16:creationId xmlns:a16="http://schemas.microsoft.com/office/drawing/2014/main" id="{2F41CCB4-F891-4722-BA6C-FD35BDF5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SLIDES</a:t>
            </a:r>
          </a:p>
        </p:txBody>
      </p:sp>
      <p:sp>
        <p:nvSpPr>
          <p:cNvPr id="10" name="number">
            <a:extLst xmlns:a="http://schemas.openxmlformats.org/drawingml/2006/main">
              <a:ext uri="{FF2B5EF4-FFF2-40B4-BE49-F238E27FC236}">
                <a16:creationId xmlns:a16="http://schemas.microsoft.com/office/drawing/2014/main" id="{3B5A6642-77C2-44E9-9EF5-B005701A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97179610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91B68D96-78F7-440F-9066-100D6962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defRPr>
            </a:pPr>
            <a:r>
              <a:rPr sz="3000" b="1">
                <a:solidFill>
                  <a:srgbClr val="1D2B26"/>
                </a:solidFill>
                <a:latin typeface="Bookman Old Style"/>
                <a:ea typeface="Bookman Old Style"/>
                <a:cs typeface="Bookman Old Style"/>
              </a:rPr>
              <a:t>What will you build next?</a:t>
            </a:r>
          </a:p>
        </p:txBody>
      </p:sp>
      <p:sp>
        <p:nvSpPr>
          <p:cNvPr id="2" name="question">
            <a:extLst xmlns:a="http://schemas.openxmlformats.org/drawingml/2006/main">
              <a:ext uri="{FF2B5EF4-FFF2-40B4-BE49-F238E27FC236}">
                <a16:creationId xmlns:a16="http://schemas.microsoft.com/office/drawing/2014/main" id="{9A312061-D616-4AAD-8994-D82835E3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1070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One new tool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One graph route</a:t>
            </a:r>
          </a:p>
          <a:p xmlns:a="http://schemas.openxmlformats.org/drawingml/2006/main">
            <a:pPr>
              <a:defRPr sz="33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Or compare one agent with a team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51D9D4B7-7FAA-4808-ACFC-D73F740C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E3A32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E3A32"/>
                </a:solidFill>
                <a:latin typeface="Calibri"/>
                <a:ea typeface="Calibri"/>
                <a:cs typeface="Calibri"/>
              </a:rPr>
              <a:t>Questions · repository and exercises in your student kit</a:t>
            </a:r>
          </a:p>
        </p:txBody>
      </p:sp>
      <p:sp>
        <p:nvSpPr>
          <p:cNvPr id="4" name="mode">
            <a:extLst xmlns:a="http://schemas.openxmlformats.org/drawingml/2006/main">
              <a:ext uri="{FF2B5EF4-FFF2-40B4-BE49-F238E27FC236}">
                <a16:creationId xmlns:a16="http://schemas.microsoft.com/office/drawing/2014/main" id="{2CC29963-FDFC-492F-BD70-77C5E087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341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Q&amp;A</a:t>
            </a:r>
          </a:p>
        </p:txBody>
      </p:sp>
      <p:sp>
        <p:nvSpPr>
          <p:cNvPr id="5" name="number">
            <a:extLst xmlns:a="http://schemas.openxmlformats.org/drawingml/2006/main">
              <a:ext uri="{FF2B5EF4-FFF2-40B4-BE49-F238E27FC236}">
                <a16:creationId xmlns:a16="http://schemas.microsoft.com/office/drawing/2014/main" id="{2FFB7B95-72CF-4683-9B43-17106822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341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C6B66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C6B66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3967765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2026-10-16T07:47:55.5880000Z</dcterms:created>
  <dcterms:modified xsi:type="dcterms:W3CDTF">2026-10-16T07:47:55.5880000Z</dcterms:modified>
</coreProperties>
</file>