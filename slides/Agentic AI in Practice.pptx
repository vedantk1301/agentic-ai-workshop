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5b41164d9c4476" /><Relationship Type="http://schemas.openxmlformats.org/officeDocument/2006/relationships/extended-properties" Target="/docProps/app.xml" Id="R353e481611494a64" /><Relationship Type="http://schemas.openxmlformats.org/officeDocument/2006/relationships/officeDocument" Target="/ppt/presentation.xml" Id="R49bf178789c943aa" /></Relationships>
</file>

<file path=ppt/presentation.xml><?xml version="1.0" encoding="utf-8"?>
<p:presentation xmlns:p="http://schemas.openxmlformats.org/presentationml/2006/main">
  <p:sldMasterIdLst>
    <p:sldMasterId xmlns:r="http://schemas.openxmlformats.org/officeDocument/2006/relationships" id="2147483648" r:id="R2832cd56a7ff4629"/>
  </p:sldMasterIdLst>
  <p:notesMasterIdLst>
    <p:notesMasterId xmlns:r="http://schemas.openxmlformats.org/officeDocument/2006/relationships" r:id="Rfafb3a7061644244"/>
  </p:notesMasterIdLst>
  <p:sldIdLst>
    <p:sldId xmlns:r="http://schemas.openxmlformats.org/officeDocument/2006/relationships" id="256" r:id="R3df5c00c0d124790"/>
    <p:sldId xmlns:r="http://schemas.openxmlformats.org/officeDocument/2006/relationships" id="257" r:id="Rdd9ec91f29e84492"/>
    <p:sldId xmlns:r="http://schemas.openxmlformats.org/officeDocument/2006/relationships" id="258" r:id="R0841f3c06e8c4be4"/>
    <p:sldId xmlns:r="http://schemas.openxmlformats.org/officeDocument/2006/relationships" id="259" r:id="Reb6741a8331f4653"/>
    <p:sldId xmlns:r="http://schemas.openxmlformats.org/officeDocument/2006/relationships" id="260" r:id="R4dd71c531b1f45a2"/>
    <p:sldId xmlns:r="http://schemas.openxmlformats.org/officeDocument/2006/relationships" id="261" r:id="Rc7c6923045ba47bf"/>
    <p:sldId xmlns:r="http://schemas.openxmlformats.org/officeDocument/2006/relationships" id="262" r:id="Rf1df96d4433c49d0"/>
    <p:sldId xmlns:r="http://schemas.openxmlformats.org/officeDocument/2006/relationships" id="263" r:id="R77fefdb8ea1e4a66"/>
    <p:sldId xmlns:r="http://schemas.openxmlformats.org/officeDocument/2006/relationships" id="264" r:id="Rb34b6077b6674e0a"/>
    <p:sldId xmlns:r="http://schemas.openxmlformats.org/officeDocument/2006/relationships" id="265" r:id="Re1a85c6e8edb4698"/>
    <p:sldId xmlns:r="http://schemas.openxmlformats.org/officeDocument/2006/relationships" id="266" r:id="R4603b8843fd24c9a"/>
    <p:sldId xmlns:r="http://schemas.openxmlformats.org/officeDocument/2006/relationships" id="267" r:id="R13cb094d952b4a0e"/>
    <p:sldId xmlns:r="http://schemas.openxmlformats.org/officeDocument/2006/relationships" id="268" r:id="R79c2a35a872f43d7"/>
    <p:sldId xmlns:r="http://schemas.openxmlformats.org/officeDocument/2006/relationships" id="269" r:id="R6c11429ccd3c4395"/>
    <p:sldId xmlns:r="http://schemas.openxmlformats.org/officeDocument/2006/relationships" id="270" r:id="R0794fa4e89034e82"/>
    <p:sldId xmlns:r="http://schemas.openxmlformats.org/officeDocument/2006/relationships" id="271" r:id="R9c3f63089ab246e0"/>
    <p:sldId xmlns:r="http://schemas.openxmlformats.org/officeDocument/2006/relationships" id="272" r:id="R1ddd2aa42e45494d"/>
    <p:sldId xmlns:r="http://schemas.openxmlformats.org/officeDocument/2006/relationships" id="273" r:id="Rd2bd6c44440a4d77"/>
    <p:sldId xmlns:r="http://schemas.openxmlformats.org/officeDocument/2006/relationships" id="274" r:id="Rdde938c2595d40b9"/>
    <p:sldId xmlns:r="http://schemas.openxmlformats.org/officeDocument/2006/relationships" id="275" r:id="R7338004dfb9445dd"/>
    <p:sldId xmlns:r="http://schemas.openxmlformats.org/officeDocument/2006/relationships" id="276" r:id="R2f26cd84dde04709"/>
    <p:sldId xmlns:r="http://schemas.openxmlformats.org/officeDocument/2006/relationships" id="277" r:id="R5edfb8e965524a9d"/>
    <p:sldId xmlns:r="http://schemas.openxmlformats.org/officeDocument/2006/relationships" id="278" r:id="Ra3b5b231b47a48d6"/>
    <p:sldId xmlns:r="http://schemas.openxmlformats.org/officeDocument/2006/relationships" id="279" r:id="Reb2888fa52c3438b"/>
    <p:sldId xmlns:r="http://schemas.openxmlformats.org/officeDocument/2006/relationships" id="280" r:id="R01174f01b9df4b88"/>
    <p:sldId xmlns:r="http://schemas.openxmlformats.org/officeDocument/2006/relationships" id="281" r:id="R37bd2b7280fc4843"/>
    <p:sldId xmlns:r="http://schemas.openxmlformats.org/officeDocument/2006/relationships" id="282" r:id="Reb7a6a209fef45eb"/>
    <p:sldId xmlns:r="http://schemas.openxmlformats.org/officeDocument/2006/relationships" id="283" r:id="R1fde36c9f64e4dd8"/>
    <p:sldId xmlns:r="http://schemas.openxmlformats.org/officeDocument/2006/relationships" id="284" r:id="R75bbfab782c049d3"/>
    <p:sldId xmlns:r="http://schemas.openxmlformats.org/officeDocument/2006/relationships" id="285" r:id="Rc4339a527b254ecd"/>
    <p:sldId xmlns:r="http://schemas.openxmlformats.org/officeDocument/2006/relationships" id="286" r:id="R0c6dd3c9df2d48c9"/>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77a934051364786" /><Relationship Type="http://schemas.openxmlformats.org/officeDocument/2006/relationships/slideMaster" Target="/ppt/slideMasters/slideMaster1.xml" Id="R2832cd56a7ff4629" /><Relationship Type="http://schemas.openxmlformats.org/officeDocument/2006/relationships/notesMaster" Target="/ppt/notesMasters/notesMaster1.xml" Id="Rfafb3a7061644244" /><Relationship Type="http://schemas.openxmlformats.org/officeDocument/2006/relationships/presProps" Target="/ppt/presProps.xml" Id="Rc6717d6bc9244210" /><Relationship Type="http://schemas.openxmlformats.org/officeDocument/2006/relationships/viewProps" Target="/ppt/viewProps.xml" Id="R047143641def490c" /><Relationship Type="http://schemas.openxmlformats.org/officeDocument/2006/relationships/tableStyles" Target="/ppt/tableStyles.xml" Id="R224d3c0bcd724b73" /><Relationship Type="http://schemas.openxmlformats.org/officeDocument/2006/relationships/slide" Target="/ppt/slides/slide1.xml" Id="R3df5c00c0d124790" /><Relationship Type="http://schemas.openxmlformats.org/officeDocument/2006/relationships/slide" Target="/ppt/slides/slide2.xml" Id="Rdd9ec91f29e84492" /><Relationship Type="http://schemas.openxmlformats.org/officeDocument/2006/relationships/slide" Target="/ppt/slides/slide3.xml" Id="R0841f3c06e8c4be4" /><Relationship Type="http://schemas.openxmlformats.org/officeDocument/2006/relationships/slide" Target="/ppt/slides/slide4.xml" Id="Reb6741a8331f4653" /><Relationship Type="http://schemas.openxmlformats.org/officeDocument/2006/relationships/slide" Target="/ppt/slides/slide5.xml" Id="R4dd71c531b1f45a2" /><Relationship Type="http://schemas.openxmlformats.org/officeDocument/2006/relationships/slide" Target="/ppt/slides/slide6.xml" Id="Rc7c6923045ba47bf" /><Relationship Type="http://schemas.openxmlformats.org/officeDocument/2006/relationships/slide" Target="/ppt/slides/slide7.xml" Id="Rf1df96d4433c49d0" /><Relationship Type="http://schemas.openxmlformats.org/officeDocument/2006/relationships/slide" Target="/ppt/slides/slide8.xml" Id="R77fefdb8ea1e4a66" /><Relationship Type="http://schemas.openxmlformats.org/officeDocument/2006/relationships/slide" Target="/ppt/slides/slide9.xml" Id="Rb34b6077b6674e0a" /><Relationship Type="http://schemas.openxmlformats.org/officeDocument/2006/relationships/slide" Target="/ppt/slides/slide10.xml" Id="Re1a85c6e8edb4698" /><Relationship Type="http://schemas.openxmlformats.org/officeDocument/2006/relationships/slide" Target="/ppt/slides/slide11.xml" Id="R4603b8843fd24c9a" /><Relationship Type="http://schemas.openxmlformats.org/officeDocument/2006/relationships/slide" Target="/ppt/slides/slide12.xml" Id="R13cb094d952b4a0e" /><Relationship Type="http://schemas.openxmlformats.org/officeDocument/2006/relationships/slide" Target="/ppt/slides/slide13.xml" Id="R79c2a35a872f43d7" /><Relationship Type="http://schemas.openxmlformats.org/officeDocument/2006/relationships/slide" Target="/ppt/slides/slide14.xml" Id="R6c11429ccd3c4395" /><Relationship Type="http://schemas.openxmlformats.org/officeDocument/2006/relationships/slide" Target="/ppt/slides/slide15.xml" Id="R0794fa4e89034e82" /><Relationship Type="http://schemas.openxmlformats.org/officeDocument/2006/relationships/slide" Target="/ppt/slides/slide16.xml" Id="R9c3f63089ab246e0" /><Relationship Type="http://schemas.openxmlformats.org/officeDocument/2006/relationships/slide" Target="/ppt/slides/slide17.xml" Id="R1ddd2aa42e45494d" /><Relationship Type="http://schemas.openxmlformats.org/officeDocument/2006/relationships/slide" Target="/ppt/slides/slide18.xml" Id="Rd2bd6c44440a4d77" /><Relationship Type="http://schemas.openxmlformats.org/officeDocument/2006/relationships/slide" Target="/ppt/slides/slide19.xml" Id="Rdde938c2595d40b9" /><Relationship Type="http://schemas.openxmlformats.org/officeDocument/2006/relationships/slide" Target="/ppt/slides/slide20.xml" Id="R7338004dfb9445dd" /><Relationship Type="http://schemas.openxmlformats.org/officeDocument/2006/relationships/slide" Target="/ppt/slides/slide21.xml" Id="R2f26cd84dde04709" /><Relationship Type="http://schemas.openxmlformats.org/officeDocument/2006/relationships/slide" Target="/ppt/slides/slide22.xml" Id="R5edfb8e965524a9d" /><Relationship Type="http://schemas.openxmlformats.org/officeDocument/2006/relationships/slide" Target="/ppt/slides/slide23.xml" Id="Ra3b5b231b47a48d6" /><Relationship Type="http://schemas.openxmlformats.org/officeDocument/2006/relationships/slide" Target="/ppt/slides/slide24.xml" Id="Reb2888fa52c3438b" /><Relationship Type="http://schemas.openxmlformats.org/officeDocument/2006/relationships/slide" Target="/ppt/slides/slide25.xml" Id="R01174f01b9df4b88" /><Relationship Type="http://schemas.openxmlformats.org/officeDocument/2006/relationships/slide" Target="/ppt/slides/slide26.xml" Id="R37bd2b7280fc4843" /><Relationship Type="http://schemas.openxmlformats.org/officeDocument/2006/relationships/slide" Target="/ppt/slides/slide27.xml" Id="Reb7a6a209fef45eb" /><Relationship Type="http://schemas.openxmlformats.org/officeDocument/2006/relationships/slide" Target="/ppt/slides/slide28.xml" Id="R1fde36c9f64e4dd8" /><Relationship Type="http://schemas.openxmlformats.org/officeDocument/2006/relationships/slide" Target="/ppt/slides/slide29.xml" Id="R75bbfab782c049d3" /><Relationship Type="http://schemas.openxmlformats.org/officeDocument/2006/relationships/slide" Target="/ppt/slides/slide30.xml" Id="Rc4339a527b254ecd" /><Relationship Type="http://schemas.openxmlformats.org/officeDocument/2006/relationships/slide" Target="/ppt/slides/slide31.xml" Id="R0c6dd3c9df2d48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12ce68e3bb4e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081643fabae4c75" /><Relationship Type="http://schemas.openxmlformats.org/officeDocument/2006/relationships/notesMaster" Target="/ppt/notesMasters/notesMaster1.xml" Id="R0ff6ae2284b740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d7f720c01a420f" /><Relationship Type="http://schemas.openxmlformats.org/officeDocument/2006/relationships/notesMaster" Target="/ppt/notesMasters/notesMaster1.xml" Id="R15b7b8677648431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c73527c7da4f06" /><Relationship Type="http://schemas.openxmlformats.org/officeDocument/2006/relationships/notesMaster" Target="/ppt/notesMasters/notesMaster1.xml" Id="R683d065a0b8247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c3d3e5a9b5469a" /><Relationship Type="http://schemas.openxmlformats.org/officeDocument/2006/relationships/notesMaster" Target="/ppt/notesMasters/notesMaster1.xml" Id="Ree2c37fbbd0a42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cbd0a3d8ad425e" /><Relationship Type="http://schemas.openxmlformats.org/officeDocument/2006/relationships/notesMaster" Target="/ppt/notesMasters/notesMaster1.xml" Id="Rc9ebb3a72dd941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ae868c1e5a4958" /><Relationship Type="http://schemas.openxmlformats.org/officeDocument/2006/relationships/notesMaster" Target="/ppt/notesMasters/notesMaster1.xml" Id="R27b0f5e896fc440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de84e070b2490a" /><Relationship Type="http://schemas.openxmlformats.org/officeDocument/2006/relationships/notesMaster" Target="/ppt/notesMasters/notesMaster1.xml" Id="R031eca3d5e3244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d305022b5794ab0" /><Relationship Type="http://schemas.openxmlformats.org/officeDocument/2006/relationships/notesMaster" Target="/ppt/notesMasters/notesMaster1.xml" Id="R7afd7a6c336945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e6c2e593ae49f9" /><Relationship Type="http://schemas.openxmlformats.org/officeDocument/2006/relationships/notesMaster" Target="/ppt/notesMasters/notesMaster1.xml" Id="R5e9a7e31e2d047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13f3b122874e13" /><Relationship Type="http://schemas.openxmlformats.org/officeDocument/2006/relationships/notesMaster" Target="/ppt/notesMasters/notesMaster1.xml" Id="R22ae36e9f4d64b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12facfaac1400e" /><Relationship Type="http://schemas.openxmlformats.org/officeDocument/2006/relationships/notesMaster" Target="/ppt/notesMasters/notesMaster1.xml" Id="R904860b77cde433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df3d3a8b344121" /><Relationship Type="http://schemas.openxmlformats.org/officeDocument/2006/relationships/notesMaster" Target="/ppt/notesMasters/notesMaster1.xml" Id="Rd6ba39595bd448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d53c14862714f0f" /><Relationship Type="http://schemas.openxmlformats.org/officeDocument/2006/relationships/notesMaster" Target="/ppt/notesMasters/notesMaster1.xml" Id="Rd2a857f960d2423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6bd01824b034d9c" /><Relationship Type="http://schemas.openxmlformats.org/officeDocument/2006/relationships/notesMaster" Target="/ppt/notesMasters/notesMaster1.xml" Id="R99bd5b1d709141e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d89bea4418f4e5c" /><Relationship Type="http://schemas.openxmlformats.org/officeDocument/2006/relationships/notesMaster" Target="/ppt/notesMasters/notesMaster1.xml" Id="R06d657d95ffd419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9d2bd550d704900" /><Relationship Type="http://schemas.openxmlformats.org/officeDocument/2006/relationships/notesMaster" Target="/ppt/notesMasters/notesMaster1.xml" Id="R4220f3d3ce664dc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e2d0260eea4182" /><Relationship Type="http://schemas.openxmlformats.org/officeDocument/2006/relationships/notesMaster" Target="/ppt/notesMasters/notesMaster1.xml" Id="R1a05e2ba5ead4ab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d993a633787486f" /><Relationship Type="http://schemas.openxmlformats.org/officeDocument/2006/relationships/notesMaster" Target="/ppt/notesMasters/notesMaster1.xml" Id="R48bf5496da1c474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1c63edf6f94967" /><Relationship Type="http://schemas.openxmlformats.org/officeDocument/2006/relationships/notesMaster" Target="/ppt/notesMasters/notesMaster1.xml" Id="R7ec5dad5cdda48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fd6f70db1347a6" /><Relationship Type="http://schemas.openxmlformats.org/officeDocument/2006/relationships/notesMaster" Target="/ppt/notesMasters/notesMaster1.xml" Id="Re64f6d6f5bc548c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fe518212c744bca" /><Relationship Type="http://schemas.openxmlformats.org/officeDocument/2006/relationships/notesMaster" Target="/ppt/notesMasters/notesMaster1.xml" Id="Rd142903c2c72485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fb2c66795be45f5" /><Relationship Type="http://schemas.openxmlformats.org/officeDocument/2006/relationships/notesMaster" Target="/ppt/notesMasters/notesMaster1.xml" Id="Re3d51aad900d427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8c010935ccf4b4e" /><Relationship Type="http://schemas.openxmlformats.org/officeDocument/2006/relationships/notesMaster" Target="/ppt/notesMasters/notesMaster1.xml" Id="R2679c82404254f8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1cea81088d94fc8" /><Relationship Type="http://schemas.openxmlformats.org/officeDocument/2006/relationships/notesMaster" Target="/ppt/notesMasters/notesMaster1.xml" Id="Rcfcd42edca22445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9ce0f20ba3f4db7" /><Relationship Type="http://schemas.openxmlformats.org/officeDocument/2006/relationships/notesMaster" Target="/ppt/notesMasters/notesMaster1.xml" Id="Rb8d717d9b1554cf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2ce8f22d16b4efd" /><Relationship Type="http://schemas.openxmlformats.org/officeDocument/2006/relationships/notesMaster" Target="/ppt/notesMasters/notesMaster1.xml" Id="Rf62ec20be7d3476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b8270a09eb04b2c" /><Relationship Type="http://schemas.openxmlformats.org/officeDocument/2006/relationships/notesMaster" Target="/ppt/notesMasters/notesMaster1.xml" Id="R7b71aef9e0fc4da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e03b1a6865c40e5" /><Relationship Type="http://schemas.openxmlformats.org/officeDocument/2006/relationships/notesMaster" Target="/ppt/notesMasters/notesMaster1.xml" Id="R559aeb8d3105496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56d848cc27444d9" /><Relationship Type="http://schemas.openxmlformats.org/officeDocument/2006/relationships/notesMaster" Target="/ppt/notesMasters/notesMaster1.xml" Id="R8889e2c73418460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8e5c12db6414529" /><Relationship Type="http://schemas.openxmlformats.org/officeDocument/2006/relationships/notesMaster" Target="/ppt/notesMasters/notesMaster1.xml" Id="Rc353e3af41da47f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59410c8bb084085" /><Relationship Type="http://schemas.openxmlformats.org/officeDocument/2006/relationships/notesMaster" Target="/ppt/notesMasters/notesMaster1.xml" Id="R1feb6a8ecb884e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11:00:00–11:01:00 IST (60 seconds).</a:t>
            </a:r>
            <a:endParaRPr/>
          </a:p>
          <a:p xmlns:a="http://schemas.openxmlformats.org/drawingml/2006/main">
            <a:r>
              <a:t/>
            </a:r>
            <a:endParaRPr/>
          </a:p>
          <a:p xmlns:a="http://schemas.openxmlformats.org/drawingml/2006/main">
            <a:r>
              <a:t>Welcome. Plan for a possible 100-200 students, with actual attendance still to be confirmed. Each student records a useful instruction, a small code change and its result, and a review finding. Use your own laptop where available; sharing is optional. Explain that we will work together through common checkpoints. The presenter leads from the front; helpers, if available, handle individual laptop issues.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11:01:00–11:03:00 IST (120 seconds).</a:t>
            </a:r>
            <a:endParaRPr/>
          </a:p>
          <a:p xmlns:a="http://schemas.openxmlformats.org/drawingml/2006/main">
            <a:r>
              <a:t/>
            </a:r>
            <a:endParaRPr/>
          </a:p>
          <a:p xmlns:a="http://schemas.openxmlformats.org/drawingml/2006/main">
            <a:r>
              <a:t>Ask which facts the assistant needs: budget, diet, stock and hours. Let everyone write a prediction first, then take two answers from different seating areas. Students can use their own laptop, share by taking turns, or record answers on paper. Do not assume everyone completed the earlier speaker setup.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11:03:00–11:06:00 IST (180 seconds).</a:t>
            </a:r>
            <a:endParaRPr/>
          </a:p>
          <a:p xmlns:a="http://schemas.openxmlformats.org/drawingml/2006/main">
            <a:r>
              <a:t/>
            </a:r>
            <a:endParaRPr/>
          </a:p>
          <a:p xmlns:a="http://schemas.openxmlformats.org/drawingml/2006/main">
            <a:r>
              <a:t>Introduce Canteen Bhaiya and Overconfident AI briefly. Give students thirty seconds to identify the nonexistent wrap, then sample answers. This is a constructed bad answer, not a measured Gemini failure. Point out the real sandwich, sold-out poha, non-vegetarian chicken and over-budget dosa.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11:06:00–11:10:00 IST (240 seconds).</a:t>
            </a:r>
            <a:endParaRPr/>
          </a:p>
          <a:p xmlns:a="http://schemas.openxmlformats.org/drawingml/2006/main">
            <a:r>
              <a:t/>
            </a:r>
            <a:endParaRPr/>
          </a:p>
          <a:p xmlns:a="http://schemas.openxmlformats.org/drawingml/2006/main">
            <a:r>
              <a:t>Slowly trace model request, application execution and tool result. Use the order-slip analogy. A tool is ordinary code. A model can request a tool but does not directly run Python. Ask a student who actually reads the menu. If the answer is unclear, repeat this diagram instead of adding MCP terminology.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11:10:00–11:14:00 IST (240 seconds).</a:t>
            </a:r>
          </a:p>
          <a:p xmlns:a="http://schemas.openxmlformats.org/drawingml/2006/main">
            <a:r>
              <a:t/>
            </a:r>
          </a:p>
          <a:p xmlns:a="http://schemas.openxmlformats.org/drawingml/2006/main">
            <a:r>
              <a:t>Four-minute instructor demonstration, not simultaneous audience account creation. Open AI Studio and show API Keys using blank or masked configuration. New users may have a default project/key; otherwise show the creation route. Check free-tier/model access without promising eligibility or quota. Students continue with offline tasks and may configure live use privately outside the activity. No Cloud Console provisioning, billing upgrade or credit purchase. Sources: https://ai.google.dev/gemini-api/docs/api-key and https://ai.google.dev/gemini-api/docs/billing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11:14:00–11:17:00 IST (180 seconds).</a:t>
            </a:r>
          </a:p>
          <a:p xmlns:a="http://schemas.openxmlformats.org/drawingml/2006/main">
            <a:r>
              <a:t/>
            </a:r>
          </a:p>
          <a:p xmlns:a="http://schemas.openxmlformats.org/drawingml/2006/main">
            <a:r>
              <a:t>Show starter/.env.example with a blank key. Explain private .env configuration as GOOGLE_API_KEY and the separate GEMINI_MODEL setting. Do not type, reveal or distribute a real key. Demonstrate with prepared or masked configuration, not a room-wide setup pause. Run starter/check_setup.py and the actual live agent privately before class if showing Gemini. Coding-assistant sign-in and this application key are separate. AI Studio is 18+; unavailable accounts continue offline. Sources: https://ai.google.dev/gemini-api/docs/api-key and https://ai.google.dev/gemini-api/docs/available-regions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11:17:00–11:20:00 IST (180 seconds).</a:t>
            </a:r>
          </a:p>
          <a:p xmlns:a="http://schemas.openxmlformats.org/drawingml/2006/main">
            <a:r>
              <a:t/>
            </a:r>
          </a:p>
          <a:p xmlns:a="http://schemas.openxmlformats.org/drawingml/2006/main">
            <a:r>
              <a:t>Three-minute Checkpoint 0. Dependencies should already be installed. From the repository root run starter/agent.py --offline. Explicitly label the rule-based stand-in; the agent/tool plumbing still executes. Expected sandwich Rs 60 and closing time 16:00. Explain signals: 1 finger ready, 2 need help, 3 using saved trace. Helpers handle individual issues if available. Without helpers, address a repeated error briefly from the front and direct blocked students to deep-dives/demo/saved_runs/02_agent_lunch_and_hours_OFFLINE.txt, source and menu. Students record executed locally or read trace. Do not wait to inspect every laptop. Copy the supplied notes template or use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11:20:00–11:23:00 IST (180 seconds).</a:t>
            </a:r>
          </a:p>
          <a:p xmlns:a="http://schemas.openxmlformats.org/drawingml/2006/main">
            <a:r>
              <a:t/>
            </a:r>
          </a:p>
          <a:p xmlns:a="http://schemas.openxmlformats.org/drawingml/2006/main">
            <a:r>
              <a:t>Show these files inside starter/. Explain each reader and purpose. Tests are in deep-dives/demo/tests/ for later practice. Ask: where does stock belong? Where does the run command belong? Do not lecture on every folder or require everyone to create an empty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11:23:00–11:26:00 IST (180 seconds).</a:t>
            </a:r>
          </a:p>
          <a:p xmlns:a="http://schemas.openxmlformats.org/drawingml/2006/main">
            <a:r>
              <a:t/>
            </a:r>
          </a:p>
          <a:p xmlns:a="http://schemas.openxmlformats.org/drawingml/2006/main">
            <a:r>
              <a:t>Three minutes. Type a title, a Requirements heading and two bullets in a scratch Markdown note. Show preview. Each student writes one clear requirement. Mention the starter/workshop_notes.template.md for recording checkpoint evidence. Avoid Markdown extensions and front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11:26:00–11:29:00 IST (180 seconds).</a:t>
            </a:r>
          </a:p>
          <a:p xmlns:a="http://schemas.openxmlformats.org/drawingml/2006/main">
            <a:r>
              <a:t/>
            </a:r>
          </a:p>
          <a:p xmlns:a="http://schemas.openxmlformats.org/drawingml/2006/main">
            <a:r>
              <a:t>The change is intentionally small. A first-year student can understand the budget change. A senior student should explain the evidence and failure cases. Read the three checks aloud. Do not expand this into a full new chatbot build.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11:29:00–11:32:00 IST (180 seconds).</a:t>
            </a:r>
          </a:p>
          <a:p xmlns:a="http://schemas.openxmlformats.org/drawingml/2006/main">
            <a:r>
              <a:t/>
            </a:r>
          </a:p>
          <a:p xmlns:a="http://schemas.openxmlformats.org/drawingml/2006/main">
            <a:r>
              <a:t>Read the existing AGENTS.md. Demonstrate one shared instruction file in the active client. Current Antigravity supports workspace AGENTS.md and GEMINI.md; check loaded rules for the installed version. Mention CLAUDE.md for Claude Code and GEMINI.md for Gemini CLI in one sentence only. Do not install three clients. These files guide a coding assistant; the Python demo does not automatically read them. Source: https://www.antigravity.google/docs/rules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11:32:00–11:36:00 IST (240 seconds).</a:t>
            </a:r>
          </a:p>
          <a:p xmlns:a="http://schemas.openxmlformats.org/drawingml/2006/main">
            <a:r>
              <a:t/>
            </a:r>
          </a:p>
          <a:p xmlns:a="http://schemas.openxmlformats.org/drawingml/2006/main">
            <a:r>
              <a:t>Four-minute Checkpoint 1. Each student writes five useful instruction lines in their own scratch note or on paper, then adds the best line to supplied starter/AGENTS.md without removing existing guidance. Sharing a laptop is optional; each student records their own line and a way to check it. Ask for progress signals and sample two answers from different seating areas. Do not walk to every laptop. Example: do not change menu records to make a test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11:36:00–11:40:00 IST (240 seconds).</a:t>
            </a:r>
          </a:p>
          <a:p xmlns:a="http://schemas.openxmlformats.org/drawingml/2006/main">
            <a:r>
              <a:t/>
            </a:r>
          </a:p>
          <a:p xmlns:a="http://schemas.openxmlformats.org/drawingml/2006/main">
            <a:r>
              <a:t>Four minutes. Open data/menu.json and read one record slowly. Name, integer rupee price, boolean vegetarian and stock. Explain true/false and double-quoted JSON strings. Ask why an instruction saying “always recommend sandwich” cannot establish stock. No JSON-schema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11:40:00–11:44:00 IST (240 seconds).</a:t>
            </a:r>
            <a:endParaRPr/>
          </a:p>
          <a:p xmlns:a="http://schemas.openxmlformats.org/drawingml/2006/main">
            <a:r>
              <a:t/>
            </a:r>
            <a:endParaRPr/>
          </a:p>
          <a:p xmlns:a="http://schemas.openxmlformats.org/drawingml/2006/main">
            <a:r>
              <a:t>Run part A of 01 once, or open its saved output. Read find_food(max_price=80, vegetarian=True). Ask which records are excluded and why. Stay on the small function and its return value. Do not explain package imports or all helper modules.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11:44:00–11:47:00 IST (180 seconds).</a:t>
            </a:r>
            <a:endParaRPr/>
          </a:p>
          <a:p xmlns:a="http://schemas.openxmlformats.org/drawingml/2006/main">
            <a:r>
              <a:t/>
            </a:r>
            <a:endParaRPr/>
          </a:p>
          <a:p xmlns:a="http://schemas.openxmlformats.org/drawingml/2006/main">
            <a:r>
              <a:t>Explain ReAct as reasoning/action/observation using the lost-charger analogy. We can inspect tool requests and results; we are not displaying hidden reasoning. After every result the next request can depend on what was found. Keep to one loop and one example.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11:47:00–11:52:00 IST (300 seconds).</a:t>
            </a:r>
            <a:endParaRPr/>
          </a:p>
          <a:p xmlns:a="http://schemas.openxmlformats.org/drawingml/2006/main">
            <a:r>
              <a:t/>
            </a:r>
            <a:endParaRPr/>
          </a:p>
          <a:p xmlns:a="http://schemas.openxmlformats.org/drawingml/2006/main">
            <a:r>
              <a:t>Five-minute instructor demonstration. Run starter/agent.py --pause with Gemini only if privately tested beforehand; otherwise add --offline and explicitly disclose the rule-based stand-in. The pause reveals an already-completed trace. Ask the whole room for predictions before each reveal. Students do not make simultaneous live calls. A real model may group or reorder requests.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11:52:00–12:00:00 IST (480 seconds).</a:t>
            </a:r>
          </a:p>
          <a:p xmlns:a="http://schemas.openxmlformats.org/drawingml/2006/main">
            <a:r>
              <a:t/>
            </a:r>
          </a:p>
          <a:p xmlns:a="http://schemas.openxmlformats.org/drawingml/2006/main">
            <a:r>
              <a:t>Eight-minute Checkpoint 2. First demonstrate copying starter/agent.py to starter/practice_agent.py and locating QUESTION. Everyone makes only the Rs 80 to Rs 30 change, manually or with an already configured coding assistant. Preserve MENU_ONLY_QUESTION, tools and data. Students run the copy with --offline and record the diff and observed result in their notes. Show the expected no-match result from the front. Use progress signals; helpers, if available, handle individual issues. Blocked students record a proposed edit and predicted output labelled not run, then continue. Optional sharing uses keyboard turns. Early finishers try sold_out or menu_timeout. Sample two explanations. Finish by 12:00.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12:00:00–12:05:00 IST (300 seconds).</a:t>
            </a:r>
            <a:endParaRPr/>
          </a:p>
          <a:p xmlns:a="http://schemas.openxmlformats.org/drawingml/2006/main">
            <a:r>
              <a:t/>
            </a:r>
            <a:endParaRPr/>
          </a:p>
          <a:p xmlns:a="http://schemas.openxmlformats.org/drawingml/2006/main">
            <a:r>
              <a:t>Five-minute break, 12:00-12:05. Return at 12:05. Open docs/REVIEW.md and demo 04. Helpers may assist with unresolved setup during the break if available. The presenter does not promise to debug every laptop; blocked students continue with trace/source/paper after the break.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12:05:00–12:08:00 IST (180 seconds).</a:t>
            </a:r>
          </a:p>
          <a:p xmlns:a="http://schemas.openxmlformats.org/drawingml/2006/main">
            <a:r>
              <a:t/>
            </a:r>
          </a:p>
          <a:p xmlns:a="http://schemas.openxmlformats.org/drawingml/2006/main">
            <a:r>
              <a:t>Three minutes. Show the one-line budget diff first. Then introduce the review order: requirement, changed lines, input/tool values, failure, final text. A downloaded ZIP is not a Git repository. Use the editor comparison view. Git is optional and not a new installation topic.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12:08:00–12:12:00 IST (240 seconds).</a:t>
            </a:r>
          </a:p>
          <a:p xmlns:a="http://schemas.openxmlformats.org/drawingml/2006/main">
            <a:r>
              <a:t/>
            </a:r>
          </a:p>
          <a:p xmlns:a="http://schemas.openxmlformats.org/drawingml/2006/main">
            <a:r>
              <a:t>Four minutes. The original 24 tests passed, but the model message could still contain a fake dish. Only the recommended_dishes list was checked. Ask a student to point to the value actually returned to the user. More passing tests alone do not prove correctness.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12:12:00–12:18:00 IST (360 seconds).</a:t>
            </a:r>
          </a:p>
          <a:p xmlns:a="http://schemas.openxmlformats.org/drawingml/2006/main">
            <a:r>
              <a:t/>
            </a:r>
          </a:p>
          <a:p xmlns:a="http://schemas.openxmlformats.org/drawingml/2006/main">
            <a:r>
              <a:t>Six-minute Checkpoint 3. Open docs/REVIEW.md. Each student first identifies the unchecked return value, writes a correcting idea and one input/output check in their own note. Optional neighbour discussion follows. No Python or account is required. Ask for progress signals and sample two explanations. Demonstrate the worked answer afterward. A rule in AGENTS.md alone does not fix the unsafe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12:18:00–12:22:00 IST (240 seconds).</a:t>
            </a:r>
            <a:endParaRPr/>
          </a:p>
          <a:p xmlns:a="http://schemas.openxmlformats.org/drawingml/2006/main">
            <a:r>
              <a:t/>
            </a:r>
            <a:endParaRPr/>
          </a:p>
          <a:p xmlns:a="http://schemas.openxmlformats.org/drawingml/2006/main">
            <a:r>
              <a:t>Four minutes. Run deep-dives/demo/04_graph_with_agent.py --offline --inject-mistake fake_dish, then free_text only if time remains. The mistake is injected for teaching. The MODEL PROPOSAL is untrusted debug text; ANSWER uses checked records. Joke payoff: Canteen Bhaiya 1, Overconfident AI 0. Explain the checking idea, not the entire 200-line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12:22:00–12:25:00 IST (180 seconds).</a:t>
            </a:r>
          </a:p>
          <a:p xmlns:a="http://schemas.openxmlformats.org/drawingml/2006/main">
            <a:r>
              <a:t/>
            </a:r>
          </a:p>
          <a:p xmlns:a="http://schemas.openxmlformats.org/drawingml/2006/main">
            <a:r>
              <a:t>Three minutes. Ask what a successful empty lookup means, and how that differs from a source failure. A search under Rs 10 does not establish no food under Rs 80. These are extension questions if the room is comfortable. Everyone should at least explain why a failed lookup cannot prove stock.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12:25:00–12:28:00 IST (180 seconds).</a:t>
            </a:r>
            <a:endParaRPr/>
          </a:p>
          <a:p xmlns:a="http://schemas.openxmlformats.org/drawingml/2006/main">
            <a:r>
              <a:t/>
            </a:r>
            <a:endParaRPr/>
          </a:p>
          <a:p xmlns:a="http://schemas.openxmlformats.org/drawingml/2006/main">
            <a:r>
              <a:t>Three minutes. State is the bag of information, nodes are steps, edges are routes. Students need to read a route, not write LangGraph syntax today. A node can contain ordinary code or a model-driven loop. Ask where the original budget is kept.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12:28:00–12:31:00 IST (180 seconds).</a:t>
            </a:r>
            <a:endParaRPr/>
          </a:p>
          <a:p xmlns:a="http://schemas.openxmlformats.org/drawingml/2006/main">
            <a:r>
              <a:t/>
            </a:r>
            <a:endParaRPr/>
          </a:p>
          <a:p xmlns:a="http://schemas.openxmlformats.org/drawingml/2006/main">
            <a:r>
              <a:t>Three minutes. Follow one normal route and one failed lookup route. Missing/invalid budget asks and ends this run. A failed menu lookup has two attempts total: one retry, then honest unavailable information. No durable resumption is configured. An explicit graph can contain flexible agents. Ask which decision code should enforce.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12:31:00–12:33:00 IST (120 seconds).</a:t>
            </a:r>
            <a:endParaRPr/>
          </a:p>
          <a:p xmlns:a="http://schemas.openxmlformats.org/drawingml/2006/main">
            <a:r>
              <a:t/>
            </a:r>
            <a:endParaRPr/>
          </a:p>
          <a:p xmlns:a="http://schemas.openxmlformats.org/drawingml/2006/main">
            <a:r>
              <a:t>Two minutes. Use saved normal and timeout routes rather than another long live code tour. If behind, describe just one failure route. The full implementation and exercises remain in the take-home kit.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12:33:00–12:36:00 IST (180 seconds).</a:t>
            </a:r>
          </a:p>
          <a:p xmlns:a="http://schemas.openxmlformats.org/drawingml/2006/main">
            <a:r>
              <a:t/>
            </a:r>
          </a:p>
          <a:p xmlns:a="http://schemas.openxmlformats.org/drawingml/2006/main">
            <a:r>
              <a:t>Three-minute overview only. ReAct is a pattern, LangGraph orchestrates workflows and agents, and CrewAI provides crews and flows. They are not opposites on a deterministic-versus-autonomous scale. One model with two tools often handles lunch plus policy. Multi-agent setup and implementation are optional reference material. Sources: https://docs.langchain.com/oss/python/langgraph/overview and https://docs.crewai.com/en/concepts/crews and https://docs.crewai.com/en/concepts/flows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12:36:00–12:40:00 IST (240 seconds).</a:t>
            </a:r>
            <a:endParaRPr/>
          </a:p>
          <a:p xmlns:a="http://schemas.openxmlformats.org/drawingml/2006/main">
            <a:r>
              <a:t/>
            </a:r>
            <a:endParaRPr/>
          </a:p>
          <a:p xmlns:a="http://schemas.openxmlformats.org/drawingml/2006/main">
            <a:r>
              <a:t>Four minutes. Give every student one minute to write where the model may choose and where code should check. Optional neighbour comparison follows; sample two answers from different seating areas. Use menu filtering, campus helper and a paid order as design questions. Extra jargon is not a better design. Finish by 12:40.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12:40:00–12:44:00 IST (240 seconds).</a:t>
            </a:r>
          </a:p>
          <a:p xmlns:a="http://schemas.openxmlformats.org/drawingml/2006/main">
            <a:r>
              <a:t/>
            </a:r>
          </a:p>
          <a:p xmlns:a="http://schemas.openxmlformats.org/drawingml/2006/main">
            <a:r>
              <a:t>Four minutes. Connect each habit to the change students just made. Requirements before edits, shared instructions/data with distinct roles, narrow diff review, check the final answer and failures. Do not add RAG, deployment, payments, CI configuration or another provider setup. Ainaa recording moves to optional reference discussion after the workshop.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12:44:00–12:50:00 IST (360 seconds).</a:t>
            </a:r>
          </a:p>
          <a:p xmlns:a="http://schemas.openxmlformats.org/drawingml/2006/main">
            <a:r>
              <a:t/>
            </a:r>
          </a:p>
          <a:p xmlns:a="http://schemas.openxmlformats.org/drawingml/2006/main">
            <a:r>
              <a:t>Six-minute Checkpoint 4. Each student saves their own note: one useful instruction and how to check it, the budget diff and observed answer or clearly labelled unexecuted prediction, and one review finding/check. Ask for progress signals and sample explanations from different seating areas, including a beginner and a more experienced student where practical. Volunteers may spot-check within zones if available. No individual presenter approval queue. Use a collection channel only if already arranged by the coordinator. If many are unsure, recap model/tool/code and shorten extra framework discussion. Q&amp;A begins at 12:50.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 12:50:00–13:00:00 IST (600 seconds).</a:t>
            </a:r>
          </a:p>
          <a:p xmlns:a="http://schemas.openxmlformats.org/drawingml/2006/main">
            <a:r>
              <a:t/>
            </a:r>
          </a:p>
          <a:p xmlns:a="http://schemas.openxmlformats.org/drawingml/2006/main">
            <a:r>
              <a:t>Ten-minute Q&amp;A and close, ending 13:00. Share the GitHub repository URL. It contains the starter, solutions and deeper material. While private, only authorised accounts can access it. Challenge students to extend one small workflow and check a failure. Do not require all five demos as homework. If asked about an untested case, say what remains unknown and how you would check it. No invented demo URLs or product architecture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78b9e3cbe5413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65acf08bf714b1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a2efbcec394bd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0f094178d1d426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LIGHT">
    <p:bg>
      <p:bgPr>
        <a:solidFill xmlns:a="http://schemas.openxmlformats.org/drawingml/2006/main">
          <a:srgbClr val="F8F8F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72C91A7-C09F-4461-93FF-BD22C77E4CA5}"/>
              </a:ext>
            </a:extLst>
          </p:cNvPr>
          <p:cNvSpPr>
            <a:spLocks xmlns:a="http://schemas.openxmlformats.org/drawingml/2006/main" noGrp="1"/>
          </p:cNvSpPr>
          <p:nvPr/>
        </p:nvSpPr>
        <p:spPr>
          <a:xfrm xmlns:a="http://schemas.openxmlformats.org/drawingml/2006/main">
            <a:off x="548640" y="6400800"/>
            <a:ext cx="54864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a:solidFill>
                  <a:srgbClr val="5C6B66"/>
                </a:solidFill>
                <a:latin typeface="Calibri"/>
                <a:ea typeface="Calibri"/>
                <a:cs typeface="Calibri"/>
              </a:rPr>
              <a:t>Agentic AI in Practice  ·  VIT Mumbai</a:t>
            </a:r>
            <a:endParaRPr sz="1100"/>
          </a:p>
        </p:txBody>
      </p:sp>
      <p:sp>
        <p:nvSpPr>
          <p:cNvPr id="25" name="Slide Number Placeholder 0">
            <a:extLst xmlns:a="http://schemas.openxmlformats.org/drawingml/2006/main">
              <a:ext uri="{FF2B5EF4-FFF2-40B4-BE49-F238E27FC236}">
                <a16:creationId xmlns:a16="http://schemas.microsoft.com/office/drawing/2014/main" id="{D0FF8C93-3FDF-4DB2-9D2D-B4193002B84C}"/>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F7021451-1387-4CA6-816F-3879F97B5CBC}" type="slidenum">
              <a:rPr b="0"/>
              <a:t>1002</a:t>
            </a:fld>
            <a:endParaRPr/>
          </a:p>
        </p:txBody>
      </p:sp>
    </p:spTree>
  </p:cSld>
</p:sldLayout>
</file>

<file path=ppt/slideLayouts/slideLayout3.xml><?xml version="1.0" encoding="utf-8"?>
<p:sldLayout xmlns:p="http://schemas.openxmlformats.org/presentationml/2006/main" preserve="1">
  <p:cSld name="DARK">
    <p:bg>
      <p:bgPr>
        <a:solidFill xmlns:a="http://schemas.openxmlformats.org/drawingml/2006/main">
          <a:srgbClr val="1E3A32"/>
        </a:solidFill>
      </p:bgPr>
    </p:bg>
    <p:spTree>
      <p:nvGrpSpPr>
        <p:cNvPr id="1" name=""/>
        <p:cNvGrpSpPr/>
        <p:nvPr/>
      </p:nvGrpSpPr>
      <p:grpSpPr>
        <a:xfrm xmlns:a="http://schemas.openxmlformats.org/drawingml/2006/main"/>
      </p:grpSpPr>
    </p:spTree>
  </p:cSld>
</p:sldLayout>
</file>

<file path=ppt/slideLayouts/slideLayout4.xml><?xml version="1.0" encoding="utf-8"?>
<p:sldLayout xmlns:p="http://schemas.openxmlformats.org/presentationml/2006/main" preserve="1">
  <p:cSld name="CHECK">
    <p:bg>
      <p:bgPr>
        <a:solidFill xmlns:a="http://schemas.openxmlformats.org/drawingml/2006/main">
          <a:srgbClr val="F2B33D"/>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3977933c304c43" /><Relationship Type="http://schemas.openxmlformats.org/officeDocument/2006/relationships/slideLayout" Target="/ppt/slideLayouts/slideLayout1.xml" Id="R5d2893bac39a405d" /><Relationship Type="http://schemas.openxmlformats.org/officeDocument/2006/relationships/slideLayout" Target="/ppt/slideLayouts/slideLayout2.xml" Id="Re3a9c9d06d19484d" /><Relationship Type="http://schemas.openxmlformats.org/officeDocument/2006/relationships/slideLayout" Target="/ppt/slideLayouts/slideLayout3.xml" Id="R1c9fb5e8ff02421b" /><Relationship Type="http://schemas.openxmlformats.org/officeDocument/2006/relationships/slideLayout" Target="/ppt/slideLayouts/slideLayout4.xml" Id="Rf83041035f314ab0"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6B897B04-387C-414F-9C71-55951C4BEE6F}"/>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2893bac39a405d"/>
    <p:sldLayoutId xmlns:r="http://schemas.openxmlformats.org/officeDocument/2006/relationships" id="2147483650" r:id="Re3a9c9d06d19484d"/>
    <p:sldLayoutId xmlns:r="http://schemas.openxmlformats.org/officeDocument/2006/relationships" id="2147483651" r:id="R1c9fb5e8ff02421b"/>
    <p:sldLayoutId xmlns:r="http://schemas.openxmlformats.org/officeDocument/2006/relationships" id="2147483652" r:id="Rf83041035f314ab0"/>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44048e76c75c48bb" /><Relationship Type="http://schemas.openxmlformats.org/officeDocument/2006/relationships/image" Target="/ppt/media/image.png" Id="Rd300a65d7b0e407b" /><Relationship Type="http://schemas.openxmlformats.org/officeDocument/2006/relationships/image" Target="/ppt/media/image2.png" Id="R64ed50ed36904d78" /><Relationship Type="http://schemas.openxmlformats.org/officeDocument/2006/relationships/notesSlide" Target="/ppt/notesSlides/notesSlide1.xml" Id="Rc03b0859e38048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c86ec81316e24820" /><Relationship Type="http://schemas.openxmlformats.org/officeDocument/2006/relationships/notesSlide" Target="/ppt/notesSlides/notesSlide2.xml" Id="Rf0c93da9b9374d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d95da46b884845da" /><Relationship Type="http://schemas.openxmlformats.org/officeDocument/2006/relationships/image" Target="/ppt/media/image3.png" Id="Rcfe37822134f437d" /><Relationship Type="http://schemas.openxmlformats.org/officeDocument/2006/relationships/notesSlide" Target="/ppt/notesSlides/notesSlide3.xml" Id="R34b5e7dd601b47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b4cbee08f95f478b" /><Relationship Type="http://schemas.openxmlformats.org/officeDocument/2006/relationships/notesSlide" Target="/ppt/notesSlides/notesSlide4.xml" Id="R2c974743367d45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04eca5da9d84e37" /><Relationship Type="http://schemas.openxmlformats.org/officeDocument/2006/relationships/notesSlide" Target="/ppt/notesSlides/notesSlide5.xml" Id="Rc834b4f3a3ab49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acdf322eeeb4656" /><Relationship Type="http://schemas.openxmlformats.org/officeDocument/2006/relationships/notesSlide" Target="/ppt/notesSlides/notesSlide6.xml" Id="Rac9d7dc1a8284a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12330aa119e4e2e" /><Relationship Type="http://schemas.openxmlformats.org/officeDocument/2006/relationships/notesSlide" Target="/ppt/notesSlides/notesSlide7.xml" Id="R298e7955dda24d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e1f84ce222447df" /><Relationship Type="http://schemas.openxmlformats.org/officeDocument/2006/relationships/notesSlide" Target="/ppt/notesSlides/notesSlide8.xml" Id="R0cb929bebeea49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80dfc71e9d4212" /><Relationship Type="http://schemas.openxmlformats.org/officeDocument/2006/relationships/notesSlide" Target="/ppt/notesSlides/notesSlide9.xml" Id="Rcfbbc40cd56149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66902b706c44164" /><Relationship Type="http://schemas.openxmlformats.org/officeDocument/2006/relationships/notesSlide" Target="/ppt/notesSlides/notesSlide10.xml" Id="Re640f9dcc1f641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84bb2a228b441de" /><Relationship Type="http://schemas.openxmlformats.org/officeDocument/2006/relationships/notesSlide" Target="/ppt/notesSlides/notesSlide11.xml" Id="R279fcbdd8d6c43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6ae67ee4a94b0e" /><Relationship Type="http://schemas.openxmlformats.org/officeDocument/2006/relationships/notesSlide" Target="/ppt/notesSlides/notesSlide12.xml" Id="R50d5e00ce1304f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71ad17a2ac848e8" /><Relationship Type="http://schemas.openxmlformats.org/officeDocument/2006/relationships/notesSlide" Target="/ppt/notesSlides/notesSlide13.xml" Id="Rd03f6c03d8814c2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9950becb57614f15" /><Relationship Type="http://schemas.openxmlformats.org/officeDocument/2006/relationships/notesSlide" Target="/ppt/notesSlides/notesSlide14.xml" Id="R0b933b64b58246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7e4b7c3d5064441f" /><Relationship Type="http://schemas.openxmlformats.org/officeDocument/2006/relationships/notesSlide" Target="/ppt/notesSlides/notesSlide15.xml" Id="Rb49d582fce7848d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ba4ec232108a41e6" /><Relationship Type="http://schemas.openxmlformats.org/officeDocument/2006/relationships/notesSlide" Target="/ppt/notesSlides/notesSlide16.xml" Id="R3cb0de6e3ecf461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87ef726c70648a5" /><Relationship Type="http://schemas.openxmlformats.org/officeDocument/2006/relationships/notesSlide" Target="/ppt/notesSlides/notesSlide17.xml" Id="Rcc50b43e596f48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4.xml" Id="Rc5bd50de403c4767" /><Relationship Type="http://schemas.openxmlformats.org/officeDocument/2006/relationships/notesSlide" Target="/ppt/notesSlides/notesSlide18.xml" Id="R78bc833f311b4c2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47fc52e9b6b488c" /><Relationship Type="http://schemas.openxmlformats.org/officeDocument/2006/relationships/notesSlide" Target="/ppt/notesSlides/notesSlide19.xml" Id="R8ee2d2a0ac3242a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89b0993fd4446ed" /><Relationship Type="http://schemas.openxmlformats.org/officeDocument/2006/relationships/notesSlide" Target="/ppt/notesSlides/notesSlide20.xml" Id="Rec0b8431af894b0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87d30d5eca34f26" /><Relationship Type="http://schemas.openxmlformats.org/officeDocument/2006/relationships/notesSlide" Target="/ppt/notesSlides/notesSlide21.xml" Id="Raf0ad1b7d2af4e5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078aa95c8b874ead" /><Relationship Type="http://schemas.openxmlformats.org/officeDocument/2006/relationships/notesSlide" Target="/ppt/notesSlides/notesSlide22.xml" Id="Ra247deee24df45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b94463f35bd4438" /><Relationship Type="http://schemas.openxmlformats.org/officeDocument/2006/relationships/notesSlide" Target="/ppt/notesSlides/notesSlide23.xml" Id="R5cd10dc17bc442a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113252c1020245d6" /><Relationship Type="http://schemas.openxmlformats.org/officeDocument/2006/relationships/image" Target="/ppt/media/image4.png" Id="Ra01a1c3a6c7141c2" /><Relationship Type="http://schemas.openxmlformats.org/officeDocument/2006/relationships/image" Target="/ppt/media/image5.png" Id="Rd21b78cd46684684" /><Relationship Type="http://schemas.openxmlformats.org/officeDocument/2006/relationships/image" Target="/ppt/media/image6.png" Id="Re37424e4d3b74525" /><Relationship Type="http://schemas.openxmlformats.org/officeDocument/2006/relationships/image" Target="/ppt/media/image7.png" Id="Rcb98634d68864c86" /><Relationship Type="http://schemas.openxmlformats.org/officeDocument/2006/relationships/notesSlide" Target="/ppt/notesSlides/notesSlide24.xml" Id="R38bc44d026c84bc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2904ae81b0504089" /><Relationship Type="http://schemas.openxmlformats.org/officeDocument/2006/relationships/image" Target="/ppt/media/image8.png" Id="R8d56302afeb8404d" /><Relationship Type="http://schemas.openxmlformats.org/officeDocument/2006/relationships/notesSlide" Target="/ppt/notesSlides/notesSlide25.xml" Id="R3cfae3a1dcf343b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14d613b3427f40d7" /><Relationship Type="http://schemas.openxmlformats.org/officeDocument/2006/relationships/notesSlide" Target="/ppt/notesSlides/notesSlide26.xml" Id="R54fb2bccb5a3459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935ea3e788437e" /><Relationship Type="http://schemas.openxmlformats.org/officeDocument/2006/relationships/notesSlide" Target="/ppt/notesSlides/notesSlide27.xml" Id="R094f8668004049d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2.xml" Id="R344114124e404402" /><Relationship Type="http://schemas.openxmlformats.org/officeDocument/2006/relationships/image" Target="/ppt/media/image9.png" Id="R51b8371d0f084703" /><Relationship Type="http://schemas.openxmlformats.org/officeDocument/2006/relationships/image" Target="/ppt/media/image10.png" Id="R8fea8587b7154089" /><Relationship Type="http://schemas.openxmlformats.org/officeDocument/2006/relationships/image" Target="/ppt/media/image11.png" Id="R4f21876d31844d34" /><Relationship Type="http://schemas.openxmlformats.org/officeDocument/2006/relationships/notesSlide" Target="/ppt/notesSlides/notesSlide28.xml" Id="R6a4adbcc900f40d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e1dbc339fa047b6" /><Relationship Type="http://schemas.openxmlformats.org/officeDocument/2006/relationships/notesSlide" Target="/ppt/notesSlides/notesSlide29.xml" Id="Rb98348e449fd420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c944b6842464d74" /><Relationship Type="http://schemas.openxmlformats.org/officeDocument/2006/relationships/notesSlide" Target="/ppt/notesSlides/notesSlide30.xml" Id="R04c7f5cbb9944c2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65fae96eac544e8" /><Relationship Type="http://schemas.openxmlformats.org/officeDocument/2006/relationships/notesSlide" Target="/ppt/notesSlides/notesSlide31.xml" Id="R8fe570e1e235456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0471927-509E-4E42-9943-EDD3AF50802A}"/>
              </a:ext>
            </a:extLst>
          </p:cNvPr>
          <p:cNvSpPr>
            <a:spLocks xmlns:a="http://schemas.openxmlformats.org/drawingml/2006/main" noGrp="1"/>
          </p:cNvSpPr>
          <p:nvPr/>
        </p:nvSpPr>
        <p:spPr>
          <a:xfrm xmlns:a="http://schemas.openxmlformats.org/drawingml/2006/main">
            <a:off x="822960" y="128016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spc="400">
                <a:solidFill>
                  <a:srgbClr val="F2B33D"/>
                </a:solidFill>
                <a:latin typeface="Calibri"/>
                <a:ea typeface="Calibri"/>
                <a:cs typeface="Calibri"/>
              </a:rPr>
              <a:t>VIT MUMBAI  ·  17 OCTOBER 2026</a:t>
            </a:r>
            <a:endParaRPr sz="1800"/>
          </a:p>
        </p:txBody>
      </p:sp>
      <p:sp>
        <p:nvSpPr>
          <p:cNvPr id="3" name="Text 1">
            <a:extLst xmlns:a="http://schemas.openxmlformats.org/drawingml/2006/main">
              <a:ext uri="{FF2B5EF4-FFF2-40B4-BE49-F238E27FC236}">
                <a16:creationId xmlns:a16="http://schemas.microsoft.com/office/drawing/2014/main" id="{215D53B4-E81B-4990-8DB5-9503995B96AF}"/>
              </a:ext>
            </a:extLst>
          </p:cNvPr>
          <p:cNvSpPr>
            <a:spLocks xmlns:a="http://schemas.openxmlformats.org/drawingml/2006/main" noGrp="1"/>
          </p:cNvSpPr>
          <p:nvPr/>
        </p:nvSpPr>
        <p:spPr>
          <a:xfrm xmlns:a="http://schemas.openxmlformats.org/drawingml/2006/main">
            <a:off x="822960" y="1828800"/>
            <a:ext cx="77724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5400" b="1">
                <a:solidFill>
                  <a:srgbClr val="F4F2EC"/>
                </a:solidFill>
                <a:latin typeface="Bookman Old Style"/>
                <a:ea typeface="Bookman Old Style"/>
                <a:cs typeface="Bookman Old Style"/>
              </a:rPr>
              <a:t>Agentic AI in Practice</a:t>
            </a:r>
            <a:endParaRPr sz="5400"/>
          </a:p>
        </p:txBody>
      </p:sp>
      <p:sp>
        <p:nvSpPr>
          <p:cNvPr id="4" name="Text 2">
            <a:extLst xmlns:a="http://schemas.openxmlformats.org/drawingml/2006/main">
              <a:ext uri="{FF2B5EF4-FFF2-40B4-BE49-F238E27FC236}">
                <a16:creationId xmlns:a16="http://schemas.microsoft.com/office/drawing/2014/main" id="{E222DBB0-34F1-45DF-A3F0-704AB5F4DE7A}"/>
              </a:ext>
            </a:extLst>
          </p:cNvPr>
          <p:cNvSpPr>
            <a:spLocks xmlns:a="http://schemas.openxmlformats.org/drawingml/2006/main" noGrp="1"/>
          </p:cNvSpPr>
          <p:nvPr/>
        </p:nvSpPr>
        <p:spPr>
          <a:xfrm xmlns:a="http://schemas.openxmlformats.org/drawingml/2006/main">
            <a:off x="822960" y="3657600"/>
            <a:ext cx="73152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F4F2EC"/>
                </a:solidFill>
                <a:latin typeface="Calibri"/>
                <a:ea typeface="Calibri"/>
                <a:cs typeface="Calibri"/>
              </a:rPr>
              <a:t>Build, review and control useful agents.</a:t>
            </a:r>
            <a:endParaRPr sz="2600"/>
          </a:p>
          <a:p xmlns:a="http://schemas.openxmlformats.org/drawingml/2006/main">
            <a:pPr marL="0" indent="0">
              <a:buNone/>
            </a:pPr>
            <a:r>
              <a:rPr sz="2600">
                <a:solidFill>
                  <a:srgbClr val="F4F2EC"/>
                </a:solidFill>
                <a:latin typeface="Calibri"/>
                <a:ea typeface="Calibri"/>
                <a:cs typeface="Calibri"/>
              </a:rPr>
              <a:t>Who decides the next step?</a:t>
            </a:r>
            <a:endParaRPr sz="2600"/>
          </a:p>
        </p:txBody>
      </p:sp>
      <p:sp>
        <p:nvSpPr>
          <p:cNvPr id="5" name="Text 3">
            <a:extLst xmlns:a="http://schemas.openxmlformats.org/drawingml/2006/main">
              <a:ext uri="{FF2B5EF4-FFF2-40B4-BE49-F238E27FC236}">
                <a16:creationId xmlns:a16="http://schemas.microsoft.com/office/drawing/2014/main" id="{3CE77974-FF36-41E2-B5FB-3B089E343FA7}"/>
              </a:ext>
            </a:extLst>
          </p:cNvPr>
          <p:cNvSpPr>
            <a:spLocks xmlns:a="http://schemas.openxmlformats.org/drawingml/2006/main" noGrp="1"/>
          </p:cNvSpPr>
          <p:nvPr/>
        </p:nvSpPr>
        <p:spPr>
          <a:xfrm xmlns:a="http://schemas.openxmlformats.org/drawingml/2006/main">
            <a:off x="822960" y="557784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a:solidFill>
                  <a:srgbClr val="F2B33D"/>
                </a:solidFill>
                <a:latin typeface="Calibri"/>
                <a:ea typeface="Calibri"/>
                <a:cs typeface="Calibri"/>
              </a:rPr>
              <a:t>Vedant  ·  I build AI systems for online shopping</a:t>
            </a:r>
            <a:endParaRPr sz="1800"/>
          </a:p>
        </p:txBody>
      </p:sp>
      <p:sp>
        <p:nvSpPr>
          <p:cNvPr id="6" name="Shape 4">
            <a:extLst xmlns:a="http://schemas.openxmlformats.org/drawingml/2006/main">
              <a:ext uri="{FF2B5EF4-FFF2-40B4-BE49-F238E27FC236}">
                <a16:creationId xmlns:a16="http://schemas.microsoft.com/office/drawing/2014/main" id="{AB338EEB-CACB-4B12-85BF-063414F2DD7D}"/>
              </a:ext>
            </a:extLst>
          </p:cNvPr>
          <p:cNvSpPr>
            <a:spLocks xmlns:a="http://schemas.openxmlformats.org/drawingml/2006/main" noGrp="1"/>
          </p:cNvSpPr>
          <p:nvPr/>
        </p:nvSpPr>
        <p:spPr>
          <a:xfrm xmlns:a="http://schemas.openxmlformats.org/drawingml/2006/main">
            <a:off x="8778240" y="1463040"/>
            <a:ext cx="2651760" cy="2651760"/>
          </a:xfrm>
          <a:prstGeom xmlns:a="http://schemas.openxmlformats.org/drawingml/2006/main" prst="ellipse">
            <a:avLst/>
          </a:prstGeom>
          <a:solidFill xmlns:a="http://schemas.openxmlformats.org/drawingml/2006/main">
            <a:srgbClr val="16302A"/>
          </a:solidFill>
          <a:ln xmlns:a="http://schemas.openxmlformats.org/drawingml/2006/main" w="38100">
            <a:solidFill>
              <a:srgbClr val="E4572E"/>
            </a:solidFill>
            <a:prstDash val="solid"/>
          </a:ln>
        </p:spPr>
      </p:sp>
      <p:pic>
        <p:nvPicPr>
          <p:cNvPr id="7" name="Image 0">
            <a:extLst xmlns:a="http://schemas.openxmlformats.org/drawingml/2006/main">
              <a:ext uri="{FF2B5EF4-FFF2-40B4-BE49-F238E27FC236}">
                <a16:creationId xmlns:a16="http://schemas.microsoft.com/office/drawing/2014/main" id="{6ED012EB-401B-497F-BC08-9185E56BB75F}"/>
              </a:ext>
            </a:extLst>
          </p:cNvPr>
          <p:cNvPicPr>
            <a:picLocks xmlns:a="http://schemas.openxmlformats.org/drawingml/2006/main" noChangeAspect="1"/>
          </p:cNvPicPr>
          <p:nvPr/>
        </p:nvPicPr>
        <p:blipFill>
          <a:blip xmlns:r="http://schemas.openxmlformats.org/officeDocument/2006/relationships" xmlns:a="http://schemas.openxmlformats.org/drawingml/2006/main" r:embed="Rd300a65d7b0e407b"/>
          <a:stretch xmlns:a="http://schemas.openxmlformats.org/drawingml/2006/main">
            <a:fillRect l="0" t="0" r="0" b="0"/>
          </a:stretch>
        </p:blipFill>
        <p:spPr>
          <a:xfrm xmlns:a="http://schemas.openxmlformats.org/drawingml/2006/main">
            <a:off x="9464040" y="2148840"/>
            <a:ext cx="1280160" cy="128016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2CFBD4DB-BC07-4C33-AC56-CE17AD9927D2}"/>
              </a:ext>
            </a:extLst>
          </p:cNvPr>
          <p:cNvSpPr>
            <a:spLocks xmlns:a="http://schemas.openxmlformats.org/drawingml/2006/main" noGrp="1"/>
          </p:cNvSpPr>
          <p:nvPr/>
        </p:nvSpPr>
        <p:spPr>
          <a:xfrm xmlns:a="http://schemas.openxmlformats.org/drawingml/2006/main">
            <a:off x="9692640" y="3840480"/>
            <a:ext cx="1737360" cy="1737360"/>
          </a:xfrm>
          <a:prstGeom xmlns:a="http://schemas.openxmlformats.org/drawingml/2006/main" prst="ellipse">
            <a:avLst/>
          </a:prstGeom>
          <a:solidFill xmlns:a="http://schemas.openxmlformats.org/drawingml/2006/main">
            <a:srgbClr val="16302A"/>
          </a:solidFill>
          <a:ln xmlns:a="http://schemas.openxmlformats.org/drawingml/2006/main" w="38100">
            <a:solidFill>
              <a:srgbClr val="3B9C5A"/>
            </a:solidFill>
            <a:prstDash val="solid"/>
          </a:ln>
        </p:spPr>
      </p:sp>
      <p:pic>
        <p:nvPicPr>
          <p:cNvPr id="9" name="Image 1">
            <a:extLst xmlns:a="http://schemas.openxmlformats.org/drawingml/2006/main">
              <a:ext uri="{FF2B5EF4-FFF2-40B4-BE49-F238E27FC236}">
                <a16:creationId xmlns:a16="http://schemas.microsoft.com/office/drawing/2014/main" id="{571E528E-6B67-4F86-B4E3-DE62B3F4A4AA}"/>
              </a:ext>
            </a:extLst>
          </p:cNvPr>
          <p:cNvPicPr>
            <a:picLocks xmlns:a="http://schemas.openxmlformats.org/drawingml/2006/main" noChangeAspect="1"/>
          </p:cNvPicPr>
          <p:nvPr/>
        </p:nvPicPr>
        <p:blipFill>
          <a:blip xmlns:r="http://schemas.openxmlformats.org/officeDocument/2006/relationships" xmlns:a="http://schemas.openxmlformats.org/drawingml/2006/main" r:embed="R64ed50ed36904d78"/>
          <a:stretch xmlns:a="http://schemas.openxmlformats.org/drawingml/2006/main">
            <a:fillRect l="0" t="0" r="0" b="0"/>
          </a:stretch>
        </p:blipFill>
        <p:spPr>
          <a:xfrm xmlns:a="http://schemas.openxmlformats.org/drawingml/2006/main">
            <a:off x="10149840" y="4297680"/>
            <a:ext cx="822960" cy="822960"/>
          </a:xfrm>
          <a:prstGeom xmlns:a="http://schemas.openxmlformats.org/drawingml/2006/main" prst="rect">
            <a:avLst/>
          </a:prstGeom>
        </p:spPr>
      </p:pic>
    </p:spTree>
    <p:extLst>
      <p:ext uri="{BB962C8B-B14F-4D97-AF65-F5344CB8AC3E}">
        <p14:creationId xmlns:p14="http://schemas.microsoft.com/office/powerpoint/2010/main" val="2162928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08AF28-F03B-4259-BBD0-869C8DF22A84}"/>
              </a:ext>
            </a:extLst>
          </p:cNvPr>
          <p:cNvSpPr>
            <a:spLocks xmlns:a="http://schemas.openxmlformats.org/drawingml/2006/main" noGrp="1"/>
          </p:cNvSpPr>
          <p:nvPr/>
        </p:nvSpPr>
        <p:spPr>
          <a:xfrm xmlns:a="http://schemas.openxmlformats.org/drawingml/2006/main">
            <a:off x="822960" y="1828800"/>
            <a:ext cx="1051560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F4F2EC"/>
                </a:solidFill>
                <a:latin typeface="Bookman Old Style"/>
                <a:ea typeface="Bookman Old Style"/>
                <a:cs typeface="Bookman Old Style"/>
              </a:rPr>
              <a:t>You have ₹80.</a:t>
            </a:r>
            <a:endParaRPr sz="4400"/>
          </a:p>
          <a:p xmlns:a="http://schemas.openxmlformats.org/drawingml/2006/main">
            <a:pPr marL="0" indent="0">
              <a:buNone/>
            </a:pPr>
            <a:r>
              <a:rPr sz="4400" b="1">
                <a:solidFill>
                  <a:srgbClr val="F4F2EC"/>
                </a:solidFill>
                <a:latin typeface="Bookman Old Style"/>
                <a:ea typeface="Bookman Old Style"/>
                <a:cs typeface="Bookman Old Style"/>
              </a:rPr>
              <a:t>Attendance in 10 minutes.</a:t>
            </a:r>
            <a:endParaRPr sz="4400"/>
          </a:p>
          <a:p xmlns:a="http://schemas.openxmlformats.org/drawingml/2006/main">
            <a:pPr marL="0" indent="0">
              <a:buNone/>
            </a:pPr>
            <a:r>
              <a:rPr sz="4400" b="1">
                <a:solidFill>
                  <a:srgbClr val="F4F2EC"/>
                </a:solidFill>
                <a:latin typeface="Bookman Old Style"/>
                <a:ea typeface="Bookman Old Style"/>
                <a:cs typeface="Bookman Old Style"/>
              </a:rPr>
              <a:t>You're hungry.</a:t>
            </a:r>
            <a:endParaRPr sz="4400"/>
          </a:p>
        </p:txBody>
      </p:sp>
      <p:sp>
        <p:nvSpPr>
          <p:cNvPr id="3" name="Text 1">
            <a:extLst xmlns:a="http://schemas.openxmlformats.org/drawingml/2006/main">
              <a:ext uri="{FF2B5EF4-FFF2-40B4-BE49-F238E27FC236}">
                <a16:creationId xmlns:a16="http://schemas.microsoft.com/office/drawing/2014/main" id="{9A03CDDC-C2B0-4122-95A4-35DA15DCD982}"/>
              </a:ext>
            </a:extLst>
          </p:cNvPr>
          <p:cNvSpPr>
            <a:spLocks xmlns:a="http://schemas.openxmlformats.org/drawingml/2006/main" noGrp="1"/>
          </p:cNvSpPr>
          <p:nvPr/>
        </p:nvSpPr>
        <p:spPr>
          <a:xfrm xmlns:a="http://schemas.openxmlformats.org/drawingml/2006/main">
            <a:off x="822960" y="4389120"/>
            <a:ext cx="105156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F2B33D"/>
                </a:solidFill>
                <a:latin typeface="Calibri"/>
                <a:ea typeface="Calibri"/>
                <a:cs typeface="Calibri"/>
              </a:rPr>
              <a:t>What must an AI assistant CHECK before it recommends your lunch?</a:t>
            </a:r>
            <a:endParaRPr sz="2400"/>
          </a:p>
        </p:txBody>
      </p:sp>
    </p:spTree>
    <p:extLst>
      <p:ext uri="{BB962C8B-B14F-4D97-AF65-F5344CB8AC3E}">
        <p14:creationId xmlns:p14="http://schemas.microsoft.com/office/powerpoint/2010/main" val="8515241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FE8FACB-86E4-42F3-A1C9-B75A12A4D134}"/>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Overconfident AI recommends…</a:t>
            </a:r>
            <a:endParaRPr sz="3200"/>
          </a:p>
        </p:txBody>
      </p:sp>
      <p:sp>
        <p:nvSpPr>
          <p:cNvPr id="4" name="Shape 1">
            <a:extLst xmlns:a="http://schemas.openxmlformats.org/drawingml/2006/main">
              <a:ext uri="{FF2B5EF4-FFF2-40B4-BE49-F238E27FC236}">
                <a16:creationId xmlns:a16="http://schemas.microsoft.com/office/drawing/2014/main" id="{B6EE95FA-81B2-415F-9439-C05A4EF604FD}"/>
              </a:ext>
            </a:extLst>
          </p:cNvPr>
          <p:cNvSpPr>
            <a:spLocks xmlns:a="http://schemas.openxmlformats.org/drawingml/2006/main" noGrp="1"/>
          </p:cNvSpPr>
          <p:nvPr/>
        </p:nvSpPr>
        <p:spPr>
          <a:xfrm xmlns:a="http://schemas.openxmlformats.org/drawingml/2006/main">
            <a:off x="548640" y="1600200"/>
            <a:ext cx="5669280" cy="292608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12700">
            <a:solidFill>
              <a:srgbClr val="E4572E"/>
            </a:solidFill>
            <a:prstDash val="solid"/>
          </a:ln>
        </p:spPr>
      </p:sp>
      <p:pic>
        <p:nvPicPr>
          <p:cNvPr id="5" name="Image 0">
            <a:extLst xmlns:a="http://schemas.openxmlformats.org/drawingml/2006/main">
              <a:ext uri="{FF2B5EF4-FFF2-40B4-BE49-F238E27FC236}">
                <a16:creationId xmlns:a16="http://schemas.microsoft.com/office/drawing/2014/main" id="{DA9DC6B0-BBB2-4537-948C-D505BA8A56B6}"/>
              </a:ext>
            </a:extLst>
          </p:cNvPr>
          <p:cNvPicPr>
            <a:picLocks xmlns:a="http://schemas.openxmlformats.org/drawingml/2006/main" noChangeAspect="1"/>
          </p:cNvPicPr>
          <p:nvPr/>
        </p:nvPicPr>
        <p:blipFill>
          <a:blip xmlns:r="http://schemas.openxmlformats.org/officeDocument/2006/relationships" xmlns:a="http://schemas.openxmlformats.org/drawingml/2006/main" r:embed="Rcfe37822134f437d"/>
          <a:stretch xmlns:a="http://schemas.openxmlformats.org/drawingml/2006/main">
            <a:fillRect l="0" t="0" r="0" b="0"/>
          </a:stretch>
        </p:blipFill>
        <p:spPr>
          <a:xfrm xmlns:a="http://schemas.openxmlformats.org/drawingml/2006/main">
            <a:off x="868680" y="1874520"/>
            <a:ext cx="731520" cy="731520"/>
          </a:xfrm>
          <a:prstGeom xmlns:a="http://schemas.openxmlformats.org/drawingml/2006/main" prst="rect">
            <a:avLst/>
          </a:prstGeom>
        </p:spPr>
      </p:pic>
      <p:sp>
        <p:nvSpPr>
          <p:cNvPr id="6" name="Text 2">
            <a:extLst xmlns:a="http://schemas.openxmlformats.org/drawingml/2006/main">
              <a:ext uri="{FF2B5EF4-FFF2-40B4-BE49-F238E27FC236}">
                <a16:creationId xmlns:a16="http://schemas.microsoft.com/office/drawing/2014/main" id="{F3704A0D-D3FF-41BE-AB5C-76003C4CE410}"/>
              </a:ext>
            </a:extLst>
          </p:cNvPr>
          <p:cNvSpPr>
            <a:spLocks xmlns:a="http://schemas.openxmlformats.org/drawingml/2006/main" noGrp="1"/>
          </p:cNvSpPr>
          <p:nvPr/>
        </p:nvSpPr>
        <p:spPr>
          <a:xfrm xmlns:a="http://schemas.openxmlformats.org/drawingml/2006/main">
            <a:off x="868680" y="2743200"/>
            <a:ext cx="502920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i="1">
                <a:solidFill>
                  <a:srgbClr val="1D2B26"/>
                </a:solidFill>
                <a:latin typeface="Bookman Old Style"/>
                <a:ea typeface="Bookman Old Style"/>
                <a:cs typeface="Bookman Old Style"/>
              </a:rPr>
              <a:t>“Try the Paneer Tikka Wrap, just ₹70! Fresh, hot, and totally vegetarian!”</a:t>
            </a:r>
            <a:endParaRPr sz="2400"/>
          </a:p>
        </p:txBody>
      </p:sp>
      <p:sp>
        <p:nvSpPr>
          <p:cNvPr id="7" name="Text 3">
            <a:extLst xmlns:a="http://schemas.openxmlformats.org/drawingml/2006/main">
              <a:ext uri="{FF2B5EF4-FFF2-40B4-BE49-F238E27FC236}">
                <a16:creationId xmlns:a16="http://schemas.microsoft.com/office/drawing/2014/main" id="{D82EE160-55C0-45AD-AC38-03120FC49FB5}"/>
              </a:ext>
            </a:extLst>
          </p:cNvPr>
          <p:cNvSpPr>
            <a:spLocks xmlns:a="http://schemas.openxmlformats.org/drawingml/2006/main" noGrp="1"/>
          </p:cNvSpPr>
          <p:nvPr/>
        </p:nvSpPr>
        <p:spPr>
          <a:xfrm xmlns:a="http://schemas.openxmlformats.org/drawingml/2006/main">
            <a:off x="548640" y="4709160"/>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i="1">
                <a:solidFill>
                  <a:srgbClr val="5C6B66"/>
                </a:solidFill>
                <a:latin typeface="Calibri"/>
                <a:ea typeface="Calibri"/>
                <a:cs typeface="Calibri"/>
              </a:rPr>
              <a:t>Made-up example, for teaching.</a:t>
            </a:r>
            <a:endParaRPr sz="1400"/>
          </a:p>
        </p:txBody>
      </p:sp>
      <p:sp>
        <p:nvSpPr>
          <p:cNvPr id="8" name="Shape 4">
            <a:extLst xmlns:a="http://schemas.openxmlformats.org/drawingml/2006/main">
              <a:ext uri="{FF2B5EF4-FFF2-40B4-BE49-F238E27FC236}">
                <a16:creationId xmlns:a16="http://schemas.microsoft.com/office/drawing/2014/main" id="{B830CC23-2B3E-4994-8B3B-49C9D0A9A8ED}"/>
              </a:ext>
            </a:extLst>
          </p:cNvPr>
          <p:cNvSpPr>
            <a:spLocks xmlns:a="http://schemas.openxmlformats.org/drawingml/2006/main" noGrp="1"/>
          </p:cNvSpPr>
          <p:nvPr/>
        </p:nvSpPr>
        <p:spPr>
          <a:xfrm xmlns:a="http://schemas.openxmlformats.org/drawingml/2006/main">
            <a:off x="6675120" y="1600200"/>
            <a:ext cx="4937760" cy="4297680"/>
          </a:xfrm>
          <a:prstGeom xmlns:a="http://schemas.openxmlformats.org/drawingml/2006/main" prst="rect">
            <a:avLst/>
          </a:prstGeom>
          <a:solidFill xmlns:a="http://schemas.openxmlformats.org/drawingml/2006/main">
            <a:srgbClr val="1E3A32"/>
          </a:solidFill>
          <a:ln xmlns:a="http://schemas.openxmlformats.org/drawingml/2006/main" w="12700">
            <a:solidFill>
              <a:srgbClr val="1E3A32"/>
            </a:solidFill>
            <a:prstDash val="solid"/>
          </a:ln>
        </p:spPr>
      </p:sp>
      <p:sp>
        <p:nvSpPr>
          <p:cNvPr id="9" name="Text 5">
            <a:extLst xmlns:a="http://schemas.openxmlformats.org/drawingml/2006/main">
              <a:ext uri="{FF2B5EF4-FFF2-40B4-BE49-F238E27FC236}">
                <a16:creationId xmlns:a16="http://schemas.microsoft.com/office/drawing/2014/main" id="{E12CA6E6-0998-4B82-9E29-81E8AEC36544}"/>
              </a:ext>
            </a:extLst>
          </p:cNvPr>
          <p:cNvSpPr>
            <a:spLocks xmlns:a="http://schemas.openxmlformats.org/drawingml/2006/main" noGrp="1"/>
          </p:cNvSpPr>
          <p:nvPr/>
        </p:nvSpPr>
        <p:spPr>
          <a:xfrm xmlns:a="http://schemas.openxmlformats.org/drawingml/2006/main">
            <a:off x="7040880" y="1828800"/>
            <a:ext cx="4206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spc="400">
                <a:solidFill>
                  <a:srgbClr val="F2B33D"/>
                </a:solidFill>
                <a:latin typeface="Calibri"/>
                <a:ea typeface="Calibri"/>
                <a:cs typeface="Calibri"/>
              </a:rPr>
              <a:t>TODAY'S MENU</a:t>
            </a:r>
            <a:endParaRPr sz="1800"/>
          </a:p>
        </p:txBody>
      </p:sp>
      <p:sp>
        <p:nvSpPr>
          <p:cNvPr id="10" name="Text 6">
            <a:extLst xmlns:a="http://schemas.openxmlformats.org/drawingml/2006/main">
              <a:ext uri="{FF2B5EF4-FFF2-40B4-BE49-F238E27FC236}">
                <a16:creationId xmlns:a16="http://schemas.microsoft.com/office/drawing/2014/main" id="{140D14AD-2052-4FF7-AF33-B9EF2DA33F62}"/>
              </a:ext>
            </a:extLst>
          </p:cNvPr>
          <p:cNvSpPr>
            <a:spLocks xmlns:a="http://schemas.openxmlformats.org/drawingml/2006/main" noGrp="1"/>
          </p:cNvSpPr>
          <p:nvPr/>
        </p:nvSpPr>
        <p:spPr>
          <a:xfrm xmlns:a="http://schemas.openxmlformats.org/drawingml/2006/main">
            <a:off x="7040880" y="251460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a:solidFill>
                  <a:srgbClr val="F4F2EC"/>
                </a:solidFill>
                <a:latin typeface="Calibri"/>
                <a:ea typeface="Calibri"/>
                <a:cs typeface="Calibri"/>
              </a:rPr>
              <a:t>Veg sandwich</a:t>
            </a:r>
            <a:endParaRPr sz="2200"/>
          </a:p>
        </p:txBody>
      </p:sp>
      <p:sp>
        <p:nvSpPr>
          <p:cNvPr id="11" name="Text 7">
            <a:extLst xmlns:a="http://schemas.openxmlformats.org/drawingml/2006/main">
              <a:ext uri="{FF2B5EF4-FFF2-40B4-BE49-F238E27FC236}">
                <a16:creationId xmlns:a16="http://schemas.microsoft.com/office/drawing/2014/main" id="{E1D58ECD-AD45-4763-8372-712484418156}"/>
              </a:ext>
            </a:extLst>
          </p:cNvPr>
          <p:cNvSpPr>
            <a:spLocks xmlns:a="http://schemas.openxmlformats.org/drawingml/2006/main" noGrp="1"/>
          </p:cNvSpPr>
          <p:nvPr/>
        </p:nvSpPr>
        <p:spPr>
          <a:xfrm xmlns:a="http://schemas.openxmlformats.org/drawingml/2006/main">
            <a:off x="9326880" y="2514600"/>
            <a:ext cx="822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2200" b="1">
                <a:solidFill>
                  <a:srgbClr val="F4F2EC"/>
                </a:solidFill>
                <a:latin typeface="Calibri"/>
                <a:ea typeface="Calibri"/>
                <a:cs typeface="Calibri"/>
              </a:rPr>
              <a:t>₹60</a:t>
            </a:r>
            <a:endParaRPr sz="2200"/>
          </a:p>
        </p:txBody>
      </p:sp>
      <p:sp>
        <p:nvSpPr>
          <p:cNvPr id="12" name="Text 8">
            <a:extLst xmlns:a="http://schemas.openxmlformats.org/drawingml/2006/main">
              <a:ext uri="{FF2B5EF4-FFF2-40B4-BE49-F238E27FC236}">
                <a16:creationId xmlns:a16="http://schemas.microsoft.com/office/drawing/2014/main" id="{68CA98AF-C41F-487B-AB83-A0DA3E78D38C}"/>
              </a:ext>
            </a:extLst>
          </p:cNvPr>
          <p:cNvSpPr>
            <a:spLocks xmlns:a="http://schemas.openxmlformats.org/drawingml/2006/main" noGrp="1"/>
          </p:cNvSpPr>
          <p:nvPr/>
        </p:nvSpPr>
        <p:spPr>
          <a:xfrm xmlns:a="http://schemas.openxmlformats.org/drawingml/2006/main">
            <a:off x="10241280" y="2578608"/>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rgbClr val="3B9C5A"/>
                </a:solidFill>
                <a:latin typeface="Calibri"/>
                <a:ea typeface="Calibri"/>
                <a:cs typeface="Calibri"/>
              </a:rPr>
              <a:t>in stock</a:t>
            </a:r>
            <a:endParaRPr sz="1400"/>
          </a:p>
        </p:txBody>
      </p:sp>
      <p:sp>
        <p:nvSpPr>
          <p:cNvPr id="13" name="Text 9">
            <a:extLst xmlns:a="http://schemas.openxmlformats.org/drawingml/2006/main">
              <a:ext uri="{FF2B5EF4-FFF2-40B4-BE49-F238E27FC236}">
                <a16:creationId xmlns:a16="http://schemas.microsoft.com/office/drawing/2014/main" id="{6542219E-319F-43F5-A35C-F534AE686A2C}"/>
              </a:ext>
            </a:extLst>
          </p:cNvPr>
          <p:cNvSpPr>
            <a:spLocks xmlns:a="http://schemas.openxmlformats.org/drawingml/2006/main" noGrp="1"/>
          </p:cNvSpPr>
          <p:nvPr/>
        </p:nvSpPr>
        <p:spPr>
          <a:xfrm xmlns:a="http://schemas.openxmlformats.org/drawingml/2006/main">
            <a:off x="7040880" y="329184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a:solidFill>
                  <a:srgbClr val="F4F2EC"/>
                </a:solidFill>
                <a:latin typeface="Calibri"/>
                <a:ea typeface="Calibri"/>
                <a:cs typeface="Calibri"/>
              </a:rPr>
              <a:t>Poha</a:t>
            </a:r>
            <a:endParaRPr sz="2200"/>
          </a:p>
        </p:txBody>
      </p:sp>
      <p:sp>
        <p:nvSpPr>
          <p:cNvPr id="14" name="Text 10">
            <a:extLst xmlns:a="http://schemas.openxmlformats.org/drawingml/2006/main">
              <a:ext uri="{FF2B5EF4-FFF2-40B4-BE49-F238E27FC236}">
                <a16:creationId xmlns:a16="http://schemas.microsoft.com/office/drawing/2014/main" id="{DB50BC7D-7D4A-4208-82B4-17F30B1089B3}"/>
              </a:ext>
            </a:extLst>
          </p:cNvPr>
          <p:cNvSpPr>
            <a:spLocks xmlns:a="http://schemas.openxmlformats.org/drawingml/2006/main" noGrp="1"/>
          </p:cNvSpPr>
          <p:nvPr/>
        </p:nvSpPr>
        <p:spPr>
          <a:xfrm xmlns:a="http://schemas.openxmlformats.org/drawingml/2006/main">
            <a:off x="9326880" y="3291840"/>
            <a:ext cx="822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2200" b="1">
                <a:solidFill>
                  <a:srgbClr val="F4F2EC"/>
                </a:solidFill>
                <a:latin typeface="Calibri"/>
                <a:ea typeface="Calibri"/>
                <a:cs typeface="Calibri"/>
              </a:rPr>
              <a:t>₹35</a:t>
            </a:r>
            <a:endParaRPr sz="2200"/>
          </a:p>
        </p:txBody>
      </p:sp>
      <p:sp>
        <p:nvSpPr>
          <p:cNvPr id="15" name="Text 11">
            <a:extLst xmlns:a="http://schemas.openxmlformats.org/drawingml/2006/main">
              <a:ext uri="{FF2B5EF4-FFF2-40B4-BE49-F238E27FC236}">
                <a16:creationId xmlns:a16="http://schemas.microsoft.com/office/drawing/2014/main" id="{9CB923A7-3716-4A82-917C-5DA24A60E753}"/>
              </a:ext>
            </a:extLst>
          </p:cNvPr>
          <p:cNvSpPr>
            <a:spLocks xmlns:a="http://schemas.openxmlformats.org/drawingml/2006/main" noGrp="1"/>
          </p:cNvSpPr>
          <p:nvPr/>
        </p:nvSpPr>
        <p:spPr>
          <a:xfrm xmlns:a="http://schemas.openxmlformats.org/drawingml/2006/main">
            <a:off x="10241280" y="3355848"/>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rgbClr val="E4572E"/>
                </a:solidFill>
                <a:latin typeface="Calibri"/>
                <a:ea typeface="Calibri"/>
                <a:cs typeface="Calibri"/>
              </a:rPr>
              <a:t>SOLD OUT</a:t>
            </a:r>
            <a:endParaRPr sz="1400"/>
          </a:p>
        </p:txBody>
      </p:sp>
      <p:sp>
        <p:nvSpPr>
          <p:cNvPr id="16" name="Text 12">
            <a:extLst xmlns:a="http://schemas.openxmlformats.org/drawingml/2006/main">
              <a:ext uri="{FF2B5EF4-FFF2-40B4-BE49-F238E27FC236}">
                <a16:creationId xmlns:a16="http://schemas.microsoft.com/office/drawing/2014/main" id="{48D668E2-6A8F-4C61-B191-BAF0D5DD0BF5}"/>
              </a:ext>
            </a:extLst>
          </p:cNvPr>
          <p:cNvSpPr>
            <a:spLocks xmlns:a="http://schemas.openxmlformats.org/drawingml/2006/main" noGrp="1"/>
          </p:cNvSpPr>
          <p:nvPr/>
        </p:nvSpPr>
        <p:spPr>
          <a:xfrm xmlns:a="http://schemas.openxmlformats.org/drawingml/2006/main">
            <a:off x="7040880" y="406908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a:solidFill>
                  <a:srgbClr val="F4F2EC"/>
                </a:solidFill>
                <a:latin typeface="Calibri"/>
                <a:ea typeface="Calibri"/>
                <a:cs typeface="Calibri"/>
              </a:rPr>
              <a:t>Chicken roll</a:t>
            </a:r>
            <a:endParaRPr sz="2200"/>
          </a:p>
        </p:txBody>
      </p:sp>
      <p:sp>
        <p:nvSpPr>
          <p:cNvPr id="17" name="Text 13">
            <a:extLst xmlns:a="http://schemas.openxmlformats.org/drawingml/2006/main">
              <a:ext uri="{FF2B5EF4-FFF2-40B4-BE49-F238E27FC236}">
                <a16:creationId xmlns:a16="http://schemas.microsoft.com/office/drawing/2014/main" id="{37ED7E21-B47A-45DF-9B2E-30F2F3ACD462}"/>
              </a:ext>
            </a:extLst>
          </p:cNvPr>
          <p:cNvSpPr>
            <a:spLocks xmlns:a="http://schemas.openxmlformats.org/drawingml/2006/main" noGrp="1"/>
          </p:cNvSpPr>
          <p:nvPr/>
        </p:nvSpPr>
        <p:spPr>
          <a:xfrm xmlns:a="http://schemas.openxmlformats.org/drawingml/2006/main">
            <a:off x="9326880" y="4069080"/>
            <a:ext cx="822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2200" b="1">
                <a:solidFill>
                  <a:srgbClr val="F4F2EC"/>
                </a:solidFill>
                <a:latin typeface="Calibri"/>
                <a:ea typeface="Calibri"/>
                <a:cs typeface="Calibri"/>
              </a:rPr>
              <a:t>₹75</a:t>
            </a:r>
            <a:endParaRPr sz="2200"/>
          </a:p>
        </p:txBody>
      </p:sp>
      <p:sp>
        <p:nvSpPr>
          <p:cNvPr id="18" name="Text 14">
            <a:extLst xmlns:a="http://schemas.openxmlformats.org/drawingml/2006/main">
              <a:ext uri="{FF2B5EF4-FFF2-40B4-BE49-F238E27FC236}">
                <a16:creationId xmlns:a16="http://schemas.microsoft.com/office/drawing/2014/main" id="{3FEF69C5-4261-42A6-A803-125B33CE3A7A}"/>
              </a:ext>
            </a:extLst>
          </p:cNvPr>
          <p:cNvSpPr>
            <a:spLocks xmlns:a="http://schemas.openxmlformats.org/drawingml/2006/main" noGrp="1"/>
          </p:cNvSpPr>
          <p:nvPr/>
        </p:nvSpPr>
        <p:spPr>
          <a:xfrm xmlns:a="http://schemas.openxmlformats.org/drawingml/2006/main">
            <a:off x="10241280" y="4133088"/>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rgbClr val="F2B33D"/>
                </a:solidFill>
                <a:latin typeface="Calibri"/>
                <a:ea typeface="Calibri"/>
                <a:cs typeface="Calibri"/>
              </a:rPr>
              <a:t>not veg</a:t>
            </a:r>
            <a:endParaRPr sz="1400"/>
          </a:p>
        </p:txBody>
      </p:sp>
      <p:sp>
        <p:nvSpPr>
          <p:cNvPr id="19" name="Text 15">
            <a:extLst xmlns:a="http://schemas.openxmlformats.org/drawingml/2006/main">
              <a:ext uri="{FF2B5EF4-FFF2-40B4-BE49-F238E27FC236}">
                <a16:creationId xmlns:a16="http://schemas.microsoft.com/office/drawing/2014/main" id="{B1C6753D-9B35-44A2-8C4A-7F6700B38386}"/>
              </a:ext>
            </a:extLst>
          </p:cNvPr>
          <p:cNvSpPr>
            <a:spLocks xmlns:a="http://schemas.openxmlformats.org/drawingml/2006/main" noGrp="1"/>
          </p:cNvSpPr>
          <p:nvPr/>
        </p:nvSpPr>
        <p:spPr>
          <a:xfrm xmlns:a="http://schemas.openxmlformats.org/drawingml/2006/main">
            <a:off x="7040880" y="484632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a:solidFill>
                  <a:srgbClr val="F4F2EC"/>
                </a:solidFill>
                <a:latin typeface="Calibri"/>
                <a:ea typeface="Calibri"/>
                <a:cs typeface="Calibri"/>
              </a:rPr>
              <a:t>Dosa</a:t>
            </a:r>
            <a:endParaRPr sz="2200"/>
          </a:p>
        </p:txBody>
      </p:sp>
      <p:sp>
        <p:nvSpPr>
          <p:cNvPr id="20" name="Text 16">
            <a:extLst xmlns:a="http://schemas.openxmlformats.org/drawingml/2006/main">
              <a:ext uri="{FF2B5EF4-FFF2-40B4-BE49-F238E27FC236}">
                <a16:creationId xmlns:a16="http://schemas.microsoft.com/office/drawing/2014/main" id="{0801915B-9263-4195-82C2-BB172381DC38}"/>
              </a:ext>
            </a:extLst>
          </p:cNvPr>
          <p:cNvSpPr>
            <a:spLocks xmlns:a="http://schemas.openxmlformats.org/drawingml/2006/main" noGrp="1"/>
          </p:cNvSpPr>
          <p:nvPr/>
        </p:nvSpPr>
        <p:spPr>
          <a:xfrm xmlns:a="http://schemas.openxmlformats.org/drawingml/2006/main">
            <a:off x="9326880" y="4846320"/>
            <a:ext cx="822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2200" b="1">
                <a:solidFill>
                  <a:srgbClr val="F4F2EC"/>
                </a:solidFill>
                <a:latin typeface="Calibri"/>
                <a:ea typeface="Calibri"/>
                <a:cs typeface="Calibri"/>
              </a:rPr>
              <a:t>₹90</a:t>
            </a:r>
            <a:endParaRPr sz="2200"/>
          </a:p>
        </p:txBody>
      </p:sp>
      <p:sp>
        <p:nvSpPr>
          <p:cNvPr id="21" name="Text 17">
            <a:extLst xmlns:a="http://schemas.openxmlformats.org/drawingml/2006/main">
              <a:ext uri="{FF2B5EF4-FFF2-40B4-BE49-F238E27FC236}">
                <a16:creationId xmlns:a16="http://schemas.microsoft.com/office/drawing/2014/main" id="{B746E369-972A-47E9-B6E4-A54A3B35D324}"/>
              </a:ext>
            </a:extLst>
          </p:cNvPr>
          <p:cNvSpPr>
            <a:spLocks xmlns:a="http://schemas.openxmlformats.org/drawingml/2006/main" noGrp="1"/>
          </p:cNvSpPr>
          <p:nvPr/>
        </p:nvSpPr>
        <p:spPr>
          <a:xfrm xmlns:a="http://schemas.openxmlformats.org/drawingml/2006/main">
            <a:off x="10241280" y="4910328"/>
            <a:ext cx="1280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a:solidFill>
                  <a:srgbClr val="3B9C5A"/>
                </a:solidFill>
                <a:latin typeface="Calibri"/>
                <a:ea typeface="Calibri"/>
                <a:cs typeface="Calibri"/>
              </a:rPr>
              <a:t>in stock</a:t>
            </a:r>
            <a:endParaRPr sz="1400"/>
          </a:p>
        </p:txBody>
      </p:sp>
      <p:sp>
        <p:nvSpPr>
          <p:cNvPr id="22" name="Text 18">
            <a:extLst xmlns:a="http://schemas.openxmlformats.org/drawingml/2006/main">
              <a:ext uri="{FF2B5EF4-FFF2-40B4-BE49-F238E27FC236}">
                <a16:creationId xmlns:a16="http://schemas.microsoft.com/office/drawing/2014/main" id="{2362F4B8-E35A-4E6A-A6EE-49619E57A910}"/>
              </a:ext>
            </a:extLst>
          </p:cNvPr>
          <p:cNvSpPr>
            <a:spLocks xmlns:a="http://schemas.openxmlformats.org/drawingml/2006/main" noGrp="1"/>
          </p:cNvSpPr>
          <p:nvPr/>
        </p:nvSpPr>
        <p:spPr>
          <a:xfrm xmlns:a="http://schemas.openxmlformats.org/drawingml/2006/main">
            <a:off x="7040880" y="5486400"/>
            <a:ext cx="42062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F4F2EC"/>
                </a:solidFill>
                <a:latin typeface="Calibri"/>
                <a:ea typeface="Calibri"/>
                <a:cs typeface="Calibri"/>
              </a:rPr>
              <a:t>Canteen open 9 am – 4 pm</a:t>
            </a:r>
            <a:endParaRPr sz="1400"/>
          </a:p>
        </p:txBody>
      </p:sp>
      <p:sp>
        <p:nvSpPr>
          <p:cNvPr id="25" name="Slide Number Placeholder 0">
            <a:extLst xmlns:a="http://schemas.openxmlformats.org/drawingml/2006/main">
              <a:ext uri="{FF2B5EF4-FFF2-40B4-BE49-F238E27FC236}">
                <a16:creationId xmlns:a16="http://schemas.microsoft.com/office/drawing/2014/main" id="{6796A159-734A-4BCC-A02C-2F3C2F04278C}"/>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202359C0-8A7A-196E-DD58-8E6569619F09}" type="slidenum">
              <a:rPr b="0"/>
              <a:t>3</a:t>
            </a:fld>
            <a:endParaRPr/>
          </a:p>
        </p:txBody>
      </p:sp>
    </p:spTree>
    <p:extLst>
      <p:ext uri="{BB962C8B-B14F-4D97-AF65-F5344CB8AC3E}">
        <p14:creationId xmlns:p14="http://schemas.microsoft.com/office/powerpoint/2010/main" val="138283726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0514A41-A3C8-407A-8DCB-8337A39392B0}"/>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AI writes the order slip. Code makes the food.</a:t>
            </a:r>
            <a:endParaRPr sz="3200"/>
          </a:p>
        </p:txBody>
      </p:sp>
      <p:sp>
        <p:nvSpPr>
          <p:cNvPr id="4" name="Shape 1">
            <a:extLst xmlns:a="http://schemas.openxmlformats.org/drawingml/2006/main">
              <a:ext uri="{FF2B5EF4-FFF2-40B4-BE49-F238E27FC236}">
                <a16:creationId xmlns:a16="http://schemas.microsoft.com/office/drawing/2014/main" id="{322D7A05-7EA1-453D-BC6E-C27C507285C9}"/>
              </a:ext>
            </a:extLst>
          </p:cNvPr>
          <p:cNvSpPr>
            <a:spLocks xmlns:a="http://schemas.openxmlformats.org/drawingml/2006/main" noGrp="1"/>
          </p:cNvSpPr>
          <p:nvPr/>
        </p:nvSpPr>
        <p:spPr>
          <a:xfrm xmlns:a="http://schemas.openxmlformats.org/drawingml/2006/main">
            <a:off x="548640" y="1828800"/>
            <a:ext cx="1539240" cy="1828800"/>
          </a:xfrm>
          <a:prstGeom xmlns:a="http://schemas.openxmlformats.org/drawingml/2006/main" prst="roundRect">
            <a:avLst>
              <a:gd name="adj" fmla="val 7129"/>
            </a:avLst>
          </a:prstGeom>
          <a:solidFill xmlns:a="http://schemas.openxmlformats.org/drawingml/2006/main">
            <a:srgbClr val="FFFFFF"/>
          </a:solidFill>
          <a:ln xmlns:a="http://schemas.openxmlformats.org/drawingml/2006/main" w="12700">
            <a:solidFill>
              <a:srgbClr val="3B9C5A"/>
            </a:solidFill>
            <a:prstDash val="solid"/>
          </a:ln>
        </p:spPr>
      </p:sp>
      <p:sp>
        <p:nvSpPr>
          <p:cNvPr id="5" name="Text 2">
            <a:extLst xmlns:a="http://schemas.openxmlformats.org/drawingml/2006/main">
              <a:ext uri="{FF2B5EF4-FFF2-40B4-BE49-F238E27FC236}">
                <a16:creationId xmlns:a16="http://schemas.microsoft.com/office/drawing/2014/main" id="{1AA36D4D-9D83-45D0-B419-8327084CE01B}"/>
              </a:ext>
            </a:extLst>
          </p:cNvPr>
          <p:cNvSpPr>
            <a:spLocks xmlns:a="http://schemas.openxmlformats.org/drawingml/2006/main" noGrp="1"/>
          </p:cNvSpPr>
          <p:nvPr/>
        </p:nvSpPr>
        <p:spPr>
          <a:xfrm xmlns:a="http://schemas.openxmlformats.org/drawingml/2006/main">
            <a:off x="658368" y="1965960"/>
            <a:ext cx="13197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1. You ask</a:t>
            </a:r>
            <a:endParaRPr sz="1800"/>
          </a:p>
        </p:txBody>
      </p:sp>
      <p:sp>
        <p:nvSpPr>
          <p:cNvPr id="6" name="Text 3">
            <a:extLst xmlns:a="http://schemas.openxmlformats.org/drawingml/2006/main">
              <a:ext uri="{FF2B5EF4-FFF2-40B4-BE49-F238E27FC236}">
                <a16:creationId xmlns:a16="http://schemas.microsoft.com/office/drawing/2014/main" id="{05924AC7-DDF4-4DB6-BF51-B83313B533DF}"/>
              </a:ext>
            </a:extLst>
          </p:cNvPr>
          <p:cNvSpPr>
            <a:spLocks xmlns:a="http://schemas.openxmlformats.org/drawingml/2006/main" noGrp="1"/>
          </p:cNvSpPr>
          <p:nvPr/>
        </p:nvSpPr>
        <p:spPr>
          <a:xfrm xmlns:a="http://schemas.openxmlformats.org/drawingml/2006/main">
            <a:off x="658368" y="2697480"/>
            <a:ext cx="131978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“Veg lunch under ₹80?”</a:t>
            </a:r>
            <a:endParaRPr sz="1500"/>
          </a:p>
        </p:txBody>
      </p:sp>
      <p:sp>
        <p:nvSpPr>
          <p:cNvPr id="7" name="Shape 4">
            <a:extLst xmlns:a="http://schemas.openxmlformats.org/drawingml/2006/main">
              <a:ext uri="{FF2B5EF4-FFF2-40B4-BE49-F238E27FC236}">
                <a16:creationId xmlns:a16="http://schemas.microsoft.com/office/drawing/2014/main" id="{50BFDF6F-5BA7-4FAB-9B40-4FD77A852085}"/>
              </a:ext>
            </a:extLst>
          </p:cNvPr>
          <p:cNvSpPr>
            <a:spLocks xmlns:a="http://schemas.openxmlformats.org/drawingml/2006/main" noGrp="1"/>
          </p:cNvSpPr>
          <p:nvPr/>
        </p:nvSpPr>
        <p:spPr>
          <a:xfrm xmlns:a="http://schemas.openxmlformats.org/drawingml/2006/main">
            <a:off x="2124456" y="274320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8" name="Shape 5">
            <a:extLst xmlns:a="http://schemas.openxmlformats.org/drawingml/2006/main">
              <a:ext uri="{FF2B5EF4-FFF2-40B4-BE49-F238E27FC236}">
                <a16:creationId xmlns:a16="http://schemas.microsoft.com/office/drawing/2014/main" id="{AD52E354-3736-4DDB-9F1A-0F62201FC30C}"/>
              </a:ext>
            </a:extLst>
          </p:cNvPr>
          <p:cNvSpPr>
            <a:spLocks xmlns:a="http://schemas.openxmlformats.org/drawingml/2006/main" noGrp="1"/>
          </p:cNvSpPr>
          <p:nvPr/>
        </p:nvSpPr>
        <p:spPr>
          <a:xfrm xmlns:a="http://schemas.openxmlformats.org/drawingml/2006/main">
            <a:off x="2453640" y="1828800"/>
            <a:ext cx="1539240" cy="1828800"/>
          </a:xfrm>
          <a:prstGeom xmlns:a="http://schemas.openxmlformats.org/drawingml/2006/main" prst="roundRect">
            <a:avLst>
              <a:gd name="adj" fmla="val 7129"/>
            </a:avLst>
          </a:prstGeom>
          <a:solidFill xmlns:a="http://schemas.openxmlformats.org/drawingml/2006/main">
            <a:srgbClr val="FFFFFF"/>
          </a:solidFill>
          <a:ln xmlns:a="http://schemas.openxmlformats.org/drawingml/2006/main" w="12700">
            <a:solidFill>
              <a:srgbClr val="3B9C5A"/>
            </a:solidFill>
            <a:prstDash val="solid"/>
          </a:ln>
        </p:spPr>
      </p:sp>
      <p:sp>
        <p:nvSpPr>
          <p:cNvPr id="9" name="Text 6">
            <a:extLst xmlns:a="http://schemas.openxmlformats.org/drawingml/2006/main">
              <a:ext uri="{FF2B5EF4-FFF2-40B4-BE49-F238E27FC236}">
                <a16:creationId xmlns:a16="http://schemas.microsoft.com/office/drawing/2014/main" id="{0E2DF9EB-6FC0-4523-8ED2-0D37B5932D24}"/>
              </a:ext>
            </a:extLst>
          </p:cNvPr>
          <p:cNvSpPr>
            <a:spLocks xmlns:a="http://schemas.openxmlformats.org/drawingml/2006/main" noGrp="1"/>
          </p:cNvSpPr>
          <p:nvPr/>
        </p:nvSpPr>
        <p:spPr>
          <a:xfrm xmlns:a="http://schemas.openxmlformats.org/drawingml/2006/main">
            <a:off x="2563368" y="1965960"/>
            <a:ext cx="13197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2. AI writes a slip</a:t>
            </a:r>
            <a:endParaRPr sz="1800"/>
          </a:p>
        </p:txBody>
      </p:sp>
      <p:sp>
        <p:nvSpPr>
          <p:cNvPr id="10" name="Text 7">
            <a:extLst xmlns:a="http://schemas.openxmlformats.org/drawingml/2006/main">
              <a:ext uri="{FF2B5EF4-FFF2-40B4-BE49-F238E27FC236}">
                <a16:creationId xmlns:a16="http://schemas.microsoft.com/office/drawing/2014/main" id="{C877AFA3-3C36-48FA-91C6-A531DED5B4CB}"/>
              </a:ext>
            </a:extLst>
          </p:cNvPr>
          <p:cNvSpPr>
            <a:spLocks xmlns:a="http://schemas.openxmlformats.org/drawingml/2006/main" noGrp="1"/>
          </p:cNvSpPr>
          <p:nvPr/>
        </p:nvSpPr>
        <p:spPr>
          <a:xfrm xmlns:a="http://schemas.openxmlformats.org/drawingml/2006/main">
            <a:off x="2563368" y="2697480"/>
            <a:ext cx="131978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find_food(80, veg)</a:t>
            </a:r>
            <a:endParaRPr sz="1500"/>
          </a:p>
        </p:txBody>
      </p:sp>
      <p:sp>
        <p:nvSpPr>
          <p:cNvPr id="11" name="Shape 8">
            <a:extLst xmlns:a="http://schemas.openxmlformats.org/drawingml/2006/main">
              <a:ext uri="{FF2B5EF4-FFF2-40B4-BE49-F238E27FC236}">
                <a16:creationId xmlns:a16="http://schemas.microsoft.com/office/drawing/2014/main" id="{3E527756-3FC6-4C65-B1AF-6DF5A232B4C2}"/>
              </a:ext>
            </a:extLst>
          </p:cNvPr>
          <p:cNvSpPr>
            <a:spLocks xmlns:a="http://schemas.openxmlformats.org/drawingml/2006/main" noGrp="1"/>
          </p:cNvSpPr>
          <p:nvPr/>
        </p:nvSpPr>
        <p:spPr>
          <a:xfrm xmlns:a="http://schemas.openxmlformats.org/drawingml/2006/main">
            <a:off x="4029456" y="274320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12" name="Shape 9">
            <a:extLst xmlns:a="http://schemas.openxmlformats.org/drawingml/2006/main">
              <a:ext uri="{FF2B5EF4-FFF2-40B4-BE49-F238E27FC236}">
                <a16:creationId xmlns:a16="http://schemas.microsoft.com/office/drawing/2014/main" id="{EAB0B637-F2C7-4CBD-AA21-5AA27D083315}"/>
              </a:ext>
            </a:extLst>
          </p:cNvPr>
          <p:cNvSpPr>
            <a:spLocks xmlns:a="http://schemas.openxmlformats.org/drawingml/2006/main" noGrp="1"/>
          </p:cNvSpPr>
          <p:nvPr/>
        </p:nvSpPr>
        <p:spPr>
          <a:xfrm xmlns:a="http://schemas.openxmlformats.org/drawingml/2006/main">
            <a:off x="4358640" y="1828800"/>
            <a:ext cx="1539240" cy="1828800"/>
          </a:xfrm>
          <a:prstGeom xmlns:a="http://schemas.openxmlformats.org/drawingml/2006/main" prst="roundRect">
            <a:avLst>
              <a:gd name="adj" fmla="val 7129"/>
            </a:avLst>
          </a:prstGeom>
          <a:solidFill xmlns:a="http://schemas.openxmlformats.org/drawingml/2006/main">
            <a:srgbClr val="FFFFFF"/>
          </a:solidFill>
          <a:ln xmlns:a="http://schemas.openxmlformats.org/drawingml/2006/main" w="12700">
            <a:solidFill>
              <a:srgbClr val="3B9C5A"/>
            </a:solidFill>
            <a:prstDash val="solid"/>
          </a:ln>
        </p:spPr>
      </p:sp>
      <p:sp>
        <p:nvSpPr>
          <p:cNvPr id="13" name="Text 10">
            <a:extLst xmlns:a="http://schemas.openxmlformats.org/drawingml/2006/main">
              <a:ext uri="{FF2B5EF4-FFF2-40B4-BE49-F238E27FC236}">
                <a16:creationId xmlns:a16="http://schemas.microsoft.com/office/drawing/2014/main" id="{916FDFA6-5AE9-4EC2-8AAC-F40C6A44708A}"/>
              </a:ext>
            </a:extLst>
          </p:cNvPr>
          <p:cNvSpPr>
            <a:spLocks xmlns:a="http://schemas.openxmlformats.org/drawingml/2006/main" noGrp="1"/>
          </p:cNvSpPr>
          <p:nvPr/>
        </p:nvSpPr>
        <p:spPr>
          <a:xfrm xmlns:a="http://schemas.openxmlformats.org/drawingml/2006/main">
            <a:off x="4468368" y="1965960"/>
            <a:ext cx="13197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3. Our code checks it</a:t>
            </a:r>
            <a:endParaRPr sz="1800"/>
          </a:p>
        </p:txBody>
      </p:sp>
      <p:sp>
        <p:nvSpPr>
          <p:cNvPr id="14" name="Text 11">
            <a:extLst xmlns:a="http://schemas.openxmlformats.org/drawingml/2006/main">
              <a:ext uri="{FF2B5EF4-FFF2-40B4-BE49-F238E27FC236}">
                <a16:creationId xmlns:a16="http://schemas.microsoft.com/office/drawing/2014/main" id="{DB1AEC99-981F-42A1-A486-4BA042873387}"/>
              </a:ext>
            </a:extLst>
          </p:cNvPr>
          <p:cNvSpPr>
            <a:spLocks xmlns:a="http://schemas.openxmlformats.org/drawingml/2006/main" noGrp="1"/>
          </p:cNvSpPr>
          <p:nvPr/>
        </p:nvSpPr>
        <p:spPr>
          <a:xfrm xmlns:a="http://schemas.openxmlformats.org/drawingml/2006/main">
            <a:off x="4468368" y="2697480"/>
            <a:ext cx="131978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allowed? sensible?</a:t>
            </a:r>
            <a:endParaRPr sz="1500"/>
          </a:p>
        </p:txBody>
      </p:sp>
      <p:sp>
        <p:nvSpPr>
          <p:cNvPr id="15" name="Shape 12">
            <a:extLst xmlns:a="http://schemas.openxmlformats.org/drawingml/2006/main">
              <a:ext uri="{FF2B5EF4-FFF2-40B4-BE49-F238E27FC236}">
                <a16:creationId xmlns:a16="http://schemas.microsoft.com/office/drawing/2014/main" id="{24D02868-32FE-4E53-AAB4-E11BD14433EA}"/>
              </a:ext>
            </a:extLst>
          </p:cNvPr>
          <p:cNvSpPr>
            <a:spLocks xmlns:a="http://schemas.openxmlformats.org/drawingml/2006/main" noGrp="1"/>
          </p:cNvSpPr>
          <p:nvPr/>
        </p:nvSpPr>
        <p:spPr>
          <a:xfrm xmlns:a="http://schemas.openxmlformats.org/drawingml/2006/main">
            <a:off x="5934456" y="274320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16" name="Shape 13">
            <a:extLst xmlns:a="http://schemas.openxmlformats.org/drawingml/2006/main">
              <a:ext uri="{FF2B5EF4-FFF2-40B4-BE49-F238E27FC236}">
                <a16:creationId xmlns:a16="http://schemas.microsoft.com/office/drawing/2014/main" id="{9D7A17F7-2120-4020-A6DC-7BBDEE5FF4DD}"/>
              </a:ext>
            </a:extLst>
          </p:cNvPr>
          <p:cNvSpPr>
            <a:spLocks xmlns:a="http://schemas.openxmlformats.org/drawingml/2006/main" noGrp="1"/>
          </p:cNvSpPr>
          <p:nvPr/>
        </p:nvSpPr>
        <p:spPr>
          <a:xfrm xmlns:a="http://schemas.openxmlformats.org/drawingml/2006/main">
            <a:off x="6263640" y="1828800"/>
            <a:ext cx="1539240" cy="1828800"/>
          </a:xfrm>
          <a:prstGeom xmlns:a="http://schemas.openxmlformats.org/drawingml/2006/main" prst="roundRect">
            <a:avLst>
              <a:gd name="adj" fmla="val 7129"/>
            </a:avLst>
          </a:prstGeom>
          <a:solidFill xmlns:a="http://schemas.openxmlformats.org/drawingml/2006/main">
            <a:srgbClr val="FFFFFF"/>
          </a:solidFill>
          <a:ln xmlns:a="http://schemas.openxmlformats.org/drawingml/2006/main" w="12700">
            <a:solidFill>
              <a:srgbClr val="3B9C5A"/>
            </a:solidFill>
            <a:prstDash val="solid"/>
          </a:ln>
        </p:spPr>
      </p:sp>
      <p:sp>
        <p:nvSpPr>
          <p:cNvPr id="17" name="Text 14">
            <a:extLst xmlns:a="http://schemas.openxmlformats.org/drawingml/2006/main">
              <a:ext uri="{FF2B5EF4-FFF2-40B4-BE49-F238E27FC236}">
                <a16:creationId xmlns:a16="http://schemas.microsoft.com/office/drawing/2014/main" id="{4DAC5B9E-1134-444E-92F8-F574A2079034}"/>
              </a:ext>
            </a:extLst>
          </p:cNvPr>
          <p:cNvSpPr>
            <a:spLocks xmlns:a="http://schemas.openxmlformats.org/drawingml/2006/main" noGrp="1"/>
          </p:cNvSpPr>
          <p:nvPr/>
        </p:nvSpPr>
        <p:spPr>
          <a:xfrm xmlns:a="http://schemas.openxmlformats.org/drawingml/2006/main">
            <a:off x="6373368" y="1965960"/>
            <a:ext cx="13197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4. Tool runs</a:t>
            </a:r>
            <a:endParaRPr sz="1800"/>
          </a:p>
        </p:txBody>
      </p:sp>
      <p:sp>
        <p:nvSpPr>
          <p:cNvPr id="18" name="Text 15">
            <a:extLst xmlns:a="http://schemas.openxmlformats.org/drawingml/2006/main">
              <a:ext uri="{FF2B5EF4-FFF2-40B4-BE49-F238E27FC236}">
                <a16:creationId xmlns:a16="http://schemas.microsoft.com/office/drawing/2014/main" id="{AD4F49F9-F60A-4ED3-BAD8-7D2EC8E6204F}"/>
              </a:ext>
            </a:extLst>
          </p:cNvPr>
          <p:cNvSpPr>
            <a:spLocks xmlns:a="http://schemas.openxmlformats.org/drawingml/2006/main" noGrp="1"/>
          </p:cNvSpPr>
          <p:nvPr/>
        </p:nvSpPr>
        <p:spPr>
          <a:xfrm xmlns:a="http://schemas.openxmlformats.org/drawingml/2006/main">
            <a:off x="6373368" y="2697480"/>
            <a:ext cx="131978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reads the real menu</a:t>
            </a:r>
            <a:endParaRPr sz="1500"/>
          </a:p>
        </p:txBody>
      </p:sp>
      <p:sp>
        <p:nvSpPr>
          <p:cNvPr id="19" name="Shape 16">
            <a:extLst xmlns:a="http://schemas.openxmlformats.org/drawingml/2006/main">
              <a:ext uri="{FF2B5EF4-FFF2-40B4-BE49-F238E27FC236}">
                <a16:creationId xmlns:a16="http://schemas.microsoft.com/office/drawing/2014/main" id="{17590CCD-D9EA-462E-8832-F2220AB82F28}"/>
              </a:ext>
            </a:extLst>
          </p:cNvPr>
          <p:cNvSpPr>
            <a:spLocks xmlns:a="http://schemas.openxmlformats.org/drawingml/2006/main" noGrp="1"/>
          </p:cNvSpPr>
          <p:nvPr/>
        </p:nvSpPr>
        <p:spPr>
          <a:xfrm xmlns:a="http://schemas.openxmlformats.org/drawingml/2006/main">
            <a:off x="7839456" y="274320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20" name="Shape 17">
            <a:extLst xmlns:a="http://schemas.openxmlformats.org/drawingml/2006/main">
              <a:ext uri="{FF2B5EF4-FFF2-40B4-BE49-F238E27FC236}">
                <a16:creationId xmlns:a16="http://schemas.microsoft.com/office/drawing/2014/main" id="{F02105C2-457C-46FE-BB0E-AB3B599DF80B}"/>
              </a:ext>
            </a:extLst>
          </p:cNvPr>
          <p:cNvSpPr>
            <a:spLocks xmlns:a="http://schemas.openxmlformats.org/drawingml/2006/main" noGrp="1"/>
          </p:cNvSpPr>
          <p:nvPr/>
        </p:nvSpPr>
        <p:spPr>
          <a:xfrm xmlns:a="http://schemas.openxmlformats.org/drawingml/2006/main">
            <a:off x="8168640" y="1828800"/>
            <a:ext cx="1539240" cy="1828800"/>
          </a:xfrm>
          <a:prstGeom xmlns:a="http://schemas.openxmlformats.org/drawingml/2006/main" prst="roundRect">
            <a:avLst>
              <a:gd name="adj" fmla="val 7129"/>
            </a:avLst>
          </a:prstGeom>
          <a:solidFill xmlns:a="http://schemas.openxmlformats.org/drawingml/2006/main">
            <a:srgbClr val="FFFFFF"/>
          </a:solidFill>
          <a:ln xmlns:a="http://schemas.openxmlformats.org/drawingml/2006/main" w="12700">
            <a:solidFill>
              <a:srgbClr val="3B9C5A"/>
            </a:solidFill>
            <a:prstDash val="solid"/>
          </a:ln>
        </p:spPr>
      </p:sp>
      <p:sp>
        <p:nvSpPr>
          <p:cNvPr id="21" name="Text 18">
            <a:extLst xmlns:a="http://schemas.openxmlformats.org/drawingml/2006/main">
              <a:ext uri="{FF2B5EF4-FFF2-40B4-BE49-F238E27FC236}">
                <a16:creationId xmlns:a16="http://schemas.microsoft.com/office/drawing/2014/main" id="{D4DCB31F-5E64-425A-854E-99C1000904B6}"/>
              </a:ext>
            </a:extLst>
          </p:cNvPr>
          <p:cNvSpPr>
            <a:spLocks xmlns:a="http://schemas.openxmlformats.org/drawingml/2006/main" noGrp="1"/>
          </p:cNvSpPr>
          <p:nvPr/>
        </p:nvSpPr>
        <p:spPr>
          <a:xfrm xmlns:a="http://schemas.openxmlformats.org/drawingml/2006/main">
            <a:off x="8278368" y="1965960"/>
            <a:ext cx="13197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5. AI writes reply</a:t>
            </a:r>
            <a:endParaRPr sz="1800"/>
          </a:p>
        </p:txBody>
      </p:sp>
      <p:sp>
        <p:nvSpPr>
          <p:cNvPr id="22" name="Text 19">
            <a:extLst xmlns:a="http://schemas.openxmlformats.org/drawingml/2006/main">
              <a:ext uri="{FF2B5EF4-FFF2-40B4-BE49-F238E27FC236}">
                <a16:creationId xmlns:a16="http://schemas.microsoft.com/office/drawing/2014/main" id="{EDCC81CC-07CE-4550-B242-34F4B9E7039B}"/>
              </a:ext>
            </a:extLst>
          </p:cNvPr>
          <p:cNvSpPr>
            <a:spLocks xmlns:a="http://schemas.openxmlformats.org/drawingml/2006/main" noGrp="1"/>
          </p:cNvSpPr>
          <p:nvPr/>
        </p:nvSpPr>
        <p:spPr>
          <a:xfrm xmlns:a="http://schemas.openxmlformats.org/drawingml/2006/main">
            <a:off x="8278368" y="2697480"/>
            <a:ext cx="131978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from real records</a:t>
            </a:r>
            <a:endParaRPr sz="1500"/>
          </a:p>
        </p:txBody>
      </p:sp>
      <p:sp>
        <p:nvSpPr>
          <p:cNvPr id="23" name="Shape 20">
            <a:extLst xmlns:a="http://schemas.openxmlformats.org/drawingml/2006/main">
              <a:ext uri="{FF2B5EF4-FFF2-40B4-BE49-F238E27FC236}">
                <a16:creationId xmlns:a16="http://schemas.microsoft.com/office/drawing/2014/main" id="{6A6C3BD5-101D-4A51-B9D4-2A760783FED5}"/>
              </a:ext>
            </a:extLst>
          </p:cNvPr>
          <p:cNvSpPr>
            <a:spLocks xmlns:a="http://schemas.openxmlformats.org/drawingml/2006/main" noGrp="1"/>
          </p:cNvSpPr>
          <p:nvPr/>
        </p:nvSpPr>
        <p:spPr>
          <a:xfrm xmlns:a="http://schemas.openxmlformats.org/drawingml/2006/main">
            <a:off x="9744456" y="274320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24" name="Shape 21">
            <a:extLst xmlns:a="http://schemas.openxmlformats.org/drawingml/2006/main">
              <a:ext uri="{FF2B5EF4-FFF2-40B4-BE49-F238E27FC236}">
                <a16:creationId xmlns:a16="http://schemas.microsoft.com/office/drawing/2014/main" id="{9A333380-AD60-4535-8039-04332A453741}"/>
              </a:ext>
            </a:extLst>
          </p:cNvPr>
          <p:cNvSpPr>
            <a:spLocks xmlns:a="http://schemas.openxmlformats.org/drawingml/2006/main" noGrp="1"/>
          </p:cNvSpPr>
          <p:nvPr/>
        </p:nvSpPr>
        <p:spPr>
          <a:xfrm xmlns:a="http://schemas.openxmlformats.org/drawingml/2006/main">
            <a:off x="10073640" y="1828800"/>
            <a:ext cx="1539240" cy="1828800"/>
          </a:xfrm>
          <a:prstGeom xmlns:a="http://schemas.openxmlformats.org/drawingml/2006/main" prst="roundRect">
            <a:avLst>
              <a:gd name="adj" fmla="val 7129"/>
            </a:avLst>
          </a:prstGeom>
          <a:solidFill xmlns:a="http://schemas.openxmlformats.org/drawingml/2006/main">
            <a:srgbClr val="FFFFFF"/>
          </a:solidFill>
          <a:ln xmlns:a="http://schemas.openxmlformats.org/drawingml/2006/main" w="12700">
            <a:solidFill>
              <a:srgbClr val="3B9C5A"/>
            </a:solidFill>
            <a:prstDash val="solid"/>
          </a:ln>
        </p:spPr>
      </p:sp>
      <p:sp>
        <p:nvSpPr>
          <p:cNvPr id="25" name="Text 22">
            <a:extLst xmlns:a="http://schemas.openxmlformats.org/drawingml/2006/main">
              <a:ext uri="{FF2B5EF4-FFF2-40B4-BE49-F238E27FC236}">
                <a16:creationId xmlns:a16="http://schemas.microsoft.com/office/drawing/2014/main" id="{D93A922A-FC36-4640-9F1F-B40E63574C37}"/>
              </a:ext>
            </a:extLst>
          </p:cNvPr>
          <p:cNvSpPr>
            <a:spLocks xmlns:a="http://schemas.openxmlformats.org/drawingml/2006/main" noGrp="1"/>
          </p:cNvSpPr>
          <p:nvPr/>
        </p:nvSpPr>
        <p:spPr>
          <a:xfrm xmlns:a="http://schemas.openxmlformats.org/drawingml/2006/main">
            <a:off x="10183368" y="1965960"/>
            <a:ext cx="13197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6. Code checks reply</a:t>
            </a:r>
            <a:endParaRPr sz="1800"/>
          </a:p>
        </p:txBody>
      </p:sp>
      <p:sp>
        <p:nvSpPr>
          <p:cNvPr id="26" name="Text 23">
            <a:extLst xmlns:a="http://schemas.openxmlformats.org/drawingml/2006/main">
              <a:ext uri="{FF2B5EF4-FFF2-40B4-BE49-F238E27FC236}">
                <a16:creationId xmlns:a16="http://schemas.microsoft.com/office/drawing/2014/main" id="{1E0ED194-31A6-4620-8790-8283253C64AF}"/>
              </a:ext>
            </a:extLst>
          </p:cNvPr>
          <p:cNvSpPr>
            <a:spLocks xmlns:a="http://schemas.openxmlformats.org/drawingml/2006/main" noGrp="1"/>
          </p:cNvSpPr>
          <p:nvPr/>
        </p:nvSpPr>
        <p:spPr>
          <a:xfrm xmlns:a="http://schemas.openxmlformats.org/drawingml/2006/main">
            <a:off x="10183368" y="2697480"/>
            <a:ext cx="131978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before you see it</a:t>
            </a:r>
            <a:endParaRPr sz="1500"/>
          </a:p>
        </p:txBody>
      </p:sp>
      <p:sp>
        <p:nvSpPr>
          <p:cNvPr id="27" name="Text 24">
            <a:extLst xmlns:a="http://schemas.openxmlformats.org/drawingml/2006/main">
              <a:ext uri="{FF2B5EF4-FFF2-40B4-BE49-F238E27FC236}">
                <a16:creationId xmlns:a16="http://schemas.microsoft.com/office/drawing/2014/main" id="{5616B9F1-6482-452C-8165-98E3297C294C}"/>
              </a:ext>
            </a:extLst>
          </p:cNvPr>
          <p:cNvSpPr>
            <a:spLocks xmlns:a="http://schemas.openxmlformats.org/drawingml/2006/main" noGrp="1"/>
          </p:cNvSpPr>
          <p:nvPr/>
        </p:nvSpPr>
        <p:spPr>
          <a:xfrm xmlns:a="http://schemas.openxmlformats.org/drawingml/2006/main">
            <a:off x="548640" y="4206240"/>
            <a:ext cx="10972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800" b="1">
                <a:solidFill>
                  <a:srgbClr val="3B9C5A"/>
                </a:solidFill>
                <a:latin typeface="Bookman Old Style"/>
                <a:ea typeface="Bookman Old Style"/>
                <a:cs typeface="Bookman Old Style"/>
              </a:rPr>
              <a:t>The AI never walks into the kitchen.</a:t>
            </a:r>
            <a:endParaRPr sz="2800"/>
          </a:p>
        </p:txBody>
      </p:sp>
      <p:sp>
        <p:nvSpPr>
          <p:cNvPr id="28" name="Text 25">
            <a:extLst xmlns:a="http://schemas.openxmlformats.org/drawingml/2006/main">
              <a:ext uri="{FF2B5EF4-FFF2-40B4-BE49-F238E27FC236}">
                <a16:creationId xmlns:a16="http://schemas.microsoft.com/office/drawing/2014/main" id="{20A03FBE-F8E5-4659-A19F-C5DF20B364AA}"/>
              </a:ext>
            </a:extLst>
          </p:cNvPr>
          <p:cNvSpPr>
            <a:spLocks xmlns:a="http://schemas.openxmlformats.org/drawingml/2006/main" noGrp="1"/>
          </p:cNvSpPr>
          <p:nvPr/>
        </p:nvSpPr>
        <p:spPr>
          <a:xfrm xmlns:a="http://schemas.openxmlformats.org/drawingml/2006/main">
            <a:off x="548640" y="48463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000">
                <a:solidFill>
                  <a:srgbClr val="5C6B66"/>
                </a:solidFill>
                <a:latin typeface="Calibri"/>
                <a:ea typeface="Calibri"/>
                <a:cs typeface="Calibri"/>
              </a:rPr>
              <a:t>The model proposes. The application executes.</a:t>
            </a:r>
            <a:endParaRPr sz="2000"/>
          </a:p>
        </p:txBody>
      </p:sp>
      <p:sp>
        <p:nvSpPr>
          <p:cNvPr id="29" name="Slide Number Placeholder 0">
            <a:extLst xmlns:a="http://schemas.openxmlformats.org/drawingml/2006/main">
              <a:ext uri="{FF2B5EF4-FFF2-40B4-BE49-F238E27FC236}">
                <a16:creationId xmlns:a16="http://schemas.microsoft.com/office/drawing/2014/main" id="{0F71AA45-BE96-4EED-95EA-C87F47D24FB6}"/>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EFD6AB9A-5F9E-5F59-51AB-3C8734130965}" type="slidenum">
              <a:rPr b="0"/>
              <a:t>4</a:t>
            </a:fld>
            <a:endParaRPr/>
          </a:p>
        </p:txBody>
      </p:sp>
    </p:spTree>
    <p:extLst>
      <p:ext uri="{BB962C8B-B14F-4D97-AF65-F5344CB8AC3E}">
        <p14:creationId xmlns:p14="http://schemas.microsoft.com/office/powerpoint/2010/main" val="843678878"/>
      </p:ext>
    </p:extLst>
  </p:cSld>
</p:sld>
</file>

<file path=ppt/slides/slide5.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C913B5C1-2F5E-4DC5-B53F-17EF83F67A9C}"/>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Google AI Studio setup</a:t>
            </a:r>
          </a:p>
        </p:txBody>
      </p:sp>
      <p:sp>
        <p:nvSpPr>
          <p:cNvPr id="2" name="row-label-0">
            <a:extLst xmlns:a="http://schemas.openxmlformats.org/drawingml/2006/main">
              <a:ext uri="{FF2B5EF4-FFF2-40B4-BE49-F238E27FC236}">
                <a16:creationId xmlns:a16="http://schemas.microsoft.com/office/drawing/2014/main" id="{E592B916-6D0F-45A3-BD57-96F67BD2157C}"/>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Sign in</a:t>
            </a:r>
          </a:p>
        </p:txBody>
      </p:sp>
      <p:sp>
        <p:nvSpPr>
          <p:cNvPr id="3" name="row-body-0">
            <a:extLst xmlns:a="http://schemas.openxmlformats.org/drawingml/2006/main">
              <a:ext uri="{FF2B5EF4-FFF2-40B4-BE49-F238E27FC236}">
                <a16:creationId xmlns:a16="http://schemas.microsoft.com/office/drawing/2014/main" id="{34D4991A-1D48-4531-A7B6-D669C06CB393}"/>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Open Google AI Studio in your browser.</a:t>
            </a:r>
          </a:p>
        </p:txBody>
      </p:sp>
      <p:sp>
        <p:nvSpPr>
          <p:cNvPr id="4" name="row-label-1">
            <a:extLst xmlns:a="http://schemas.openxmlformats.org/drawingml/2006/main">
              <a:ext uri="{FF2B5EF4-FFF2-40B4-BE49-F238E27FC236}">
                <a16:creationId xmlns:a16="http://schemas.microsoft.com/office/drawing/2014/main" id="{DC43372F-7D4B-47EF-89A0-83EA223CE9F1}"/>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API Keys</a:t>
            </a:r>
          </a:p>
        </p:txBody>
      </p:sp>
      <p:sp>
        <p:nvSpPr>
          <p:cNvPr id="5" name="row-body-1">
            <a:extLst xmlns:a="http://schemas.openxmlformats.org/drawingml/2006/main">
              <a:ext uri="{FF2B5EF4-FFF2-40B4-BE49-F238E27FC236}">
                <a16:creationId xmlns:a16="http://schemas.microsoft.com/office/drawing/2014/main" id="{D0D645F4-3DAB-4C3B-B4DC-D4B768FA054E}"/>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Use the default key or create one.</a:t>
            </a:r>
          </a:p>
        </p:txBody>
      </p:sp>
      <p:sp>
        <p:nvSpPr>
          <p:cNvPr id="6" name="row-label-2">
            <a:extLst xmlns:a="http://schemas.openxmlformats.org/drawingml/2006/main">
              <a:ext uri="{FF2B5EF4-FFF2-40B4-BE49-F238E27FC236}">
                <a16:creationId xmlns:a16="http://schemas.microsoft.com/office/drawing/2014/main" id="{4CBD1724-3CF7-4832-AF4D-D2E28C7B940F}"/>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Free tier</a:t>
            </a:r>
          </a:p>
        </p:txBody>
      </p:sp>
      <p:sp>
        <p:nvSpPr>
          <p:cNvPr id="7" name="row-body-2">
            <a:extLst xmlns:a="http://schemas.openxmlformats.org/drawingml/2006/main">
              <a:ext uri="{FF2B5EF4-FFF2-40B4-BE49-F238E27FC236}">
                <a16:creationId xmlns:a16="http://schemas.microsoft.com/office/drawing/2014/main" id="{A2003517-8DE1-4C9D-902B-11D973A5D423}"/>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Check the project tier and available model.</a:t>
            </a:r>
          </a:p>
        </p:txBody>
      </p:sp>
      <p:sp>
        <p:nvSpPr>
          <p:cNvPr id="8" name="takeaway">
            <a:extLst xmlns:a="http://schemas.openxmlformats.org/drawingml/2006/main">
              <a:ext uri="{FF2B5EF4-FFF2-40B4-BE49-F238E27FC236}">
                <a16:creationId xmlns:a16="http://schemas.microsoft.com/office/drawing/2014/main" id="{3E22CDC3-E2BF-4665-AD69-32B168CF3994}"/>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Watch the walkthrough. Personal API setup is optional.</a:t>
            </a:r>
          </a:p>
        </p:txBody>
      </p:sp>
      <p:sp>
        <p:nvSpPr>
          <p:cNvPr id="9" name="footer">
            <a:extLst xmlns:a="http://schemas.openxmlformats.org/drawingml/2006/main">
              <a:ext uri="{FF2B5EF4-FFF2-40B4-BE49-F238E27FC236}">
                <a16:creationId xmlns:a16="http://schemas.microsoft.com/office/drawing/2014/main" id="{8E290FB7-5DF6-46F2-8196-1E81B8286361}"/>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ADB0020E-E647-4D48-98C2-41B853FD3536}"/>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5</a:t>
            </a:r>
          </a:p>
        </p:txBody>
      </p:sp>
    </p:spTree>
    <p:extLst>
      <p:ext uri="{BB962C8B-B14F-4D97-AF65-F5344CB8AC3E}">
        <p14:creationId xmlns:p14="http://schemas.microsoft.com/office/powerpoint/2010/main" val="2131876688"/>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495E312F-0403-412D-8F06-6A08C6094348}"/>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Connect the prepared Python demo</a:t>
            </a:r>
          </a:p>
        </p:txBody>
      </p:sp>
      <p:sp>
        <p:nvSpPr>
          <p:cNvPr id="2" name="code-example">
            <a:extLst xmlns:a="http://schemas.openxmlformats.org/drawingml/2006/main">
              <a:ext uri="{FF2B5EF4-FFF2-40B4-BE49-F238E27FC236}">
                <a16:creationId xmlns:a16="http://schemas.microsoft.com/office/drawing/2014/main" id="{D151DC08-1781-470D-98D8-DC4E547AFA4D}"/>
              </a:ext>
            </a:extLst>
          </p:cNvPr>
          <p:cNvSpPr>
            <a:spLocks xmlns:a="http://schemas.openxmlformats.org/drawingml/2006/main" noGrp="1"/>
          </p:cNvSpPr>
          <p:nvPr/>
        </p:nvSpPr>
        <p:spPr>
          <a:xfrm xmlns:a="http://schemas.openxmlformats.org/drawingml/2006/main">
            <a:off x="742950" y="1714500"/>
            <a:ext cx="10763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E3A32"/>
                </a:solidFill>
                <a:latin typeface="Consolas"/>
                <a:ea typeface="Consolas"/>
                <a:cs typeface="Consolas"/>
              </a:defRPr>
            </a:defPPr>
          </a:lstStyle>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starter/</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.env.example     variable names only</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.env             your private key</a:t>
            </a:r>
          </a:p>
          <a:p xmlns:a="http://schemas.openxmlformats.org/drawingml/2006/main">
            <a:r>
              <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GOOGLE_API_KEY=your_key_here</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GEMINI_MODEL=gemini-3.6-flash</a:t>
            </a:r>
          </a:p>
        </p:txBody>
      </p:sp>
      <p:sp>
        <p:nvSpPr>
          <p:cNvPr id="3" name="takeaway">
            <a:extLst xmlns:a="http://schemas.openxmlformats.org/drawingml/2006/main">
              <a:ext uri="{FF2B5EF4-FFF2-40B4-BE49-F238E27FC236}">
                <a16:creationId xmlns:a16="http://schemas.microsoft.com/office/drawing/2014/main" id="{8AB076AE-848B-44AA-B5DF-EBD9D00E44AE}"/>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Never project or submit a real API key.</a:t>
            </a:r>
          </a:p>
        </p:txBody>
      </p:sp>
      <p:sp>
        <p:nvSpPr>
          <p:cNvPr id="4" name="footer">
            <a:extLst xmlns:a="http://schemas.openxmlformats.org/drawingml/2006/main">
              <a:ext uri="{FF2B5EF4-FFF2-40B4-BE49-F238E27FC236}">
                <a16:creationId xmlns:a16="http://schemas.microsoft.com/office/drawing/2014/main" id="{B75BC872-CE4B-478A-8300-74E2024916C9}"/>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54B2A244-1024-470D-B519-4EF3B0E4F46F}"/>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6</a:t>
            </a:r>
          </a:p>
        </p:txBody>
      </p:sp>
    </p:spTree>
    <p:extLst>
      <p:ext uri="{BB962C8B-B14F-4D97-AF65-F5344CB8AC3E}">
        <p14:creationId xmlns:p14="http://schemas.microsoft.com/office/powerpoint/2010/main" val="1962525269"/>
      </p:ext>
    </p:extLst>
  </p:cSld>
</p:sld>
</file>

<file path=ppt/slides/slide7.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CFD64774-47DB-4E8C-B2A5-DF0ABF0E0D5C}"/>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Checkpoint 0: run the starter</a:t>
            </a:r>
          </a:p>
        </p:txBody>
      </p:sp>
      <p:sp>
        <p:nvSpPr>
          <p:cNvPr id="2" name="code-example">
            <a:extLst xmlns:a="http://schemas.openxmlformats.org/drawingml/2006/main">
              <a:ext uri="{FF2B5EF4-FFF2-40B4-BE49-F238E27FC236}">
                <a16:creationId xmlns:a16="http://schemas.microsoft.com/office/drawing/2014/main" id="{7725BAD3-5858-427E-A500-52794B86F9B3}"/>
              </a:ext>
            </a:extLst>
          </p:cNvPr>
          <p:cNvSpPr>
            <a:spLocks xmlns:a="http://schemas.openxmlformats.org/drawingml/2006/main" noGrp="1"/>
          </p:cNvSpPr>
          <p:nvPr/>
        </p:nvSpPr>
        <p:spPr>
          <a:xfrm xmlns:a="http://schemas.openxmlformats.org/drawingml/2006/main">
            <a:off x="742950" y="1714500"/>
            <a:ext cx="10763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E3A32"/>
                </a:solidFill>
                <a:latin typeface="Consolas"/>
                <a:ea typeface="Consolas"/>
                <a:cs typeface="Consolas"/>
              </a:defRPr>
            </a:defPPr>
          </a:lstStyle>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.venv\Scripts\python starter/agent.py --offline</a:t>
            </a:r>
          </a:p>
          <a:p xmlns:a="http://schemas.openxmlformats.org/drawingml/2006/main">
            <a:r>
              <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macOS / Linux:</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.venv/bin/python starter/agent.py --offline</a:t>
            </a:r>
          </a:p>
        </p:txBody>
      </p:sp>
      <p:sp>
        <p:nvSpPr>
          <p:cNvPr id="3" name="takeaway">
            <a:extLst xmlns:a="http://schemas.openxmlformats.org/drawingml/2006/main">
              <a:ext uri="{FF2B5EF4-FFF2-40B4-BE49-F238E27FC236}">
                <a16:creationId xmlns:a16="http://schemas.microsoft.com/office/drawing/2014/main" id="{C13C1699-5CD7-4171-B1AA-805C635E3004}"/>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Show 1: ready     2: need help     3: using a saved trace</a:t>
            </a:r>
          </a:p>
        </p:txBody>
      </p:sp>
      <p:sp>
        <p:nvSpPr>
          <p:cNvPr id="4" name="footer">
            <a:extLst xmlns:a="http://schemas.openxmlformats.org/drawingml/2006/main">
              <a:ext uri="{FF2B5EF4-FFF2-40B4-BE49-F238E27FC236}">
                <a16:creationId xmlns:a16="http://schemas.microsoft.com/office/drawing/2014/main" id="{2AE039AA-19C1-4FDA-A3B7-CDF3290C5CAE}"/>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871BCACF-60AB-4E61-AAD1-6EE1AC568897}"/>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7</a:t>
            </a:r>
          </a:p>
        </p:txBody>
      </p:sp>
    </p:spTree>
    <p:extLst>
      <p:ext uri="{BB962C8B-B14F-4D97-AF65-F5344CB8AC3E}">
        <p14:creationId xmlns:p14="http://schemas.microsoft.com/office/powerpoint/2010/main" val="551032662"/>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40D7E7B9-6E09-47CB-80BD-84ABDDA4C0AE}"/>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Give each file one job</a:t>
            </a:r>
          </a:p>
        </p:txBody>
      </p:sp>
      <p:sp>
        <p:nvSpPr>
          <p:cNvPr id="2" name="code-example">
            <a:extLst xmlns:a="http://schemas.openxmlformats.org/drawingml/2006/main">
              <a:ext uri="{FF2B5EF4-FFF2-40B4-BE49-F238E27FC236}">
                <a16:creationId xmlns:a16="http://schemas.microsoft.com/office/drawing/2014/main" id="{5671F340-800E-4F8D-B5F5-33A95A49E244}"/>
              </a:ext>
            </a:extLst>
          </p:cNvPr>
          <p:cNvSpPr>
            <a:spLocks xmlns:a="http://schemas.openxmlformats.org/drawingml/2006/main" noGrp="1"/>
          </p:cNvSpPr>
          <p:nvPr/>
        </p:nvSpPr>
        <p:spPr>
          <a:xfrm xmlns:a="http://schemas.openxmlformats.org/drawingml/2006/main">
            <a:off x="742950" y="1714500"/>
            <a:ext cx="10763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E3A32"/>
                </a:solidFill>
                <a:latin typeface="Consolas"/>
                <a:ea typeface="Consolas"/>
                <a:cs typeface="Consolas"/>
              </a:defRPr>
            </a:defPPr>
          </a:lstStyle>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starter/</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README.md        how to run and practise</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AGENTS.md        coding-assistant instructions</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docs/PROJECT.md  expected behavior</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data/menu.json   fictional menu records</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agent.py         program we will change</a:t>
            </a:r>
          </a:p>
        </p:txBody>
      </p:sp>
      <p:sp>
        <p:nvSpPr>
          <p:cNvPr id="3" name="takeaway">
            <a:extLst xmlns:a="http://schemas.openxmlformats.org/drawingml/2006/main">
              <a:ext uri="{FF2B5EF4-FFF2-40B4-BE49-F238E27FC236}">
                <a16:creationId xmlns:a16="http://schemas.microsoft.com/office/drawing/2014/main" id="{452A70F1-6306-449B-AA14-6A62B1AD0E11}"/>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Instructions, data and application code have different jobs.</a:t>
            </a:r>
          </a:p>
        </p:txBody>
      </p:sp>
      <p:sp>
        <p:nvSpPr>
          <p:cNvPr id="4" name="footer">
            <a:extLst xmlns:a="http://schemas.openxmlformats.org/drawingml/2006/main">
              <a:ext uri="{FF2B5EF4-FFF2-40B4-BE49-F238E27FC236}">
                <a16:creationId xmlns:a16="http://schemas.microsoft.com/office/drawing/2014/main" id="{B939E02F-60CA-4045-BD40-ECC5A9FDBA47}"/>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85DBB1AE-D837-4081-8552-CD13583EDAF3}"/>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8</a:t>
            </a:r>
          </a:p>
        </p:txBody>
      </p:sp>
    </p:spTree>
    <p:extLst>
      <p:ext uri="{BB962C8B-B14F-4D97-AF65-F5344CB8AC3E}">
        <p14:creationId xmlns:p14="http://schemas.microsoft.com/office/powerpoint/2010/main" val="985530076"/>
      </p:ext>
    </p:extLst>
  </p:cSld>
</p:sld>
</file>

<file path=ppt/slides/slide9.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BBAB493D-3B9A-4623-AAA3-4FD6F89DDAE4}"/>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buNone/>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Markdown basics</a:t>
            </a:r>
          </a:p>
        </p:txBody>
      </p:sp>
      <p:sp>
        <p:nvSpPr>
          <p:cNvPr id="2" name="lesson-example">
            <a:extLst xmlns:a="http://schemas.openxmlformats.org/drawingml/2006/main">
              <a:ext uri="{FF2B5EF4-FFF2-40B4-BE49-F238E27FC236}">
                <a16:creationId xmlns:a16="http://schemas.microsoft.com/office/drawing/2014/main" id="{6B8C6529-81EA-4094-808E-6E9D2528E882}"/>
              </a:ext>
            </a:extLst>
          </p:cNvPr>
          <p:cNvSpPr>
            <a:spLocks xmlns:a="http://schemas.openxmlformats.org/drawingml/2006/main" noGrp="1"/>
          </p:cNvSpPr>
          <p:nvPr/>
        </p:nvSpPr>
        <p:spPr>
          <a:xfrm xmlns:a="http://schemas.openxmlformats.org/drawingml/2006/main">
            <a:off x="647700" y="1714500"/>
            <a:ext cx="5905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E3A32"/>
                </a:solidFill>
                <a:latin typeface="Consolas"/>
                <a:ea typeface="Consolas"/>
                <a:cs typeface="Consolas"/>
              </a:defRPr>
            </a:defPPr>
          </a:lstStyle>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 Campus Canteen Assistant</a:t>
            </a:r>
          </a:p>
          <a:p xmlns:a="http://schemas.openxmlformats.org/drawingml/2006/main">
            <a:r>
              <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 Outcome</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Find available lunch within a budget.</a:t>
            </a:r>
          </a:p>
          <a:p xmlns:a="http://schemas.openxmlformats.org/drawingml/2006/main">
            <a:r>
              <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 Check the real menu.</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 Ask when the budget is missing.</a:t>
            </a:r>
          </a:p>
          <a:p xmlns:a="http://schemas.openxmlformats.org/drawingml/2006/main">
            <a:r>
              <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[Project brief](docs/PROJECT.md)</a:t>
            </a:r>
          </a:p>
        </p:txBody>
      </p:sp>
      <p:sp>
        <p:nvSpPr>
          <p:cNvPr id="3" name="lesson-explanation">
            <a:extLst xmlns:a="http://schemas.openxmlformats.org/drawingml/2006/main">
              <a:ext uri="{FF2B5EF4-FFF2-40B4-BE49-F238E27FC236}">
                <a16:creationId xmlns:a16="http://schemas.microsoft.com/office/drawing/2014/main" id="{38C7D8CB-AAEA-4756-841A-00564BF6C5AF}"/>
              </a:ext>
            </a:extLst>
          </p:cNvPr>
          <p:cNvSpPr>
            <a:spLocks xmlns:a="http://schemas.openxmlformats.org/drawingml/2006/main" noGrp="1"/>
          </p:cNvSpPr>
          <p:nvPr/>
        </p:nvSpPr>
        <p:spPr>
          <a:xfrm xmlns:a="http://schemas.openxmlformats.org/drawingml/2006/main">
            <a:off x="7067550" y="1714500"/>
            <a:ext cx="4381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D2B26"/>
                </a:solidFill>
                <a:latin typeface="Calibri"/>
                <a:ea typeface="Calibri"/>
                <a:cs typeface="Calibri"/>
              </a:defRPr>
            </a:defPPr>
          </a:lstStyle>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 gives a title</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 starts a section</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 makes a list</a:t>
            </a:r>
          </a:p>
          <a:p xmlns:a="http://schemas.openxmlformats.org/drawingml/2006/main">
            <a:r>
              <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Use fenced blocks for code.</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Save as README.md, not .md.txt.</a:t>
            </a:r>
          </a:p>
        </p:txBody>
      </p:sp>
      <p:sp>
        <p:nvSpPr>
          <p:cNvPr id="4" name="footer">
            <a:extLst xmlns:a="http://schemas.openxmlformats.org/drawingml/2006/main">
              <a:ext uri="{FF2B5EF4-FFF2-40B4-BE49-F238E27FC236}">
                <a16:creationId xmlns:a16="http://schemas.microsoft.com/office/drawing/2014/main" id="{FD603022-DE52-4C97-B830-8D9E8A309F96}"/>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buNone/>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14736A1B-9B43-4EE1-B859-1407E0DC582E}"/>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buNone/>
              <a:defRPr sz="1050" b="0">
                <a:solidFill>
                  <a:srgbClr val="5C6B66"/>
                </a:solidFill>
                <a:latin typeface="Calibri"/>
                <a:ea typeface="Calibri"/>
                <a:cs typeface="Calibri"/>
              </a:defRPr>
            </a:pPr>
            <a:r>
              <a:rPr sz="1050" b="0">
                <a:solidFill>
                  <a:srgbClr val="5C6B66"/>
                </a:solidFill>
                <a:latin typeface="Calibri"/>
                <a:ea typeface="Calibri"/>
                <a:cs typeface="Calibri"/>
              </a:rPr>
              <a:t>9</a:t>
            </a:r>
          </a:p>
        </p:txBody>
      </p:sp>
    </p:spTree>
    <p:extLst>
      <p:ext uri="{BB962C8B-B14F-4D97-AF65-F5344CB8AC3E}">
        <p14:creationId xmlns:p14="http://schemas.microsoft.com/office/powerpoint/2010/main" val="431471012"/>
      </p:ext>
    </p:extLst>
  </p:cSld>
</p:sld>
</file>

<file path=ppt/slides/slide10.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98A46A6F-FB84-47A4-BFE6-C4324E33C656}"/>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Write the outcome before asking for code</a:t>
            </a:r>
          </a:p>
        </p:txBody>
      </p:sp>
      <p:sp>
        <p:nvSpPr>
          <p:cNvPr id="2" name="row-label-0">
            <a:extLst xmlns:a="http://schemas.openxmlformats.org/drawingml/2006/main">
              <a:ext uri="{FF2B5EF4-FFF2-40B4-BE49-F238E27FC236}">
                <a16:creationId xmlns:a16="http://schemas.microsoft.com/office/drawing/2014/main" id="{D36D3FD5-ED60-4AFE-AC01-022A2D49FE4D}"/>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Outcome</a:t>
            </a:r>
          </a:p>
        </p:txBody>
      </p:sp>
      <p:sp>
        <p:nvSpPr>
          <p:cNvPr id="3" name="row-body-0">
            <a:extLst xmlns:a="http://schemas.openxmlformats.org/drawingml/2006/main">
              <a:ext uri="{FF2B5EF4-FFF2-40B4-BE49-F238E27FC236}">
                <a16:creationId xmlns:a16="http://schemas.microsoft.com/office/drawing/2014/main" id="{D3F11E3A-2F1C-4979-A6B0-FA89B4009238}"/>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Use Rs 30 as the default lunch budget.</a:t>
            </a:r>
          </a:p>
        </p:txBody>
      </p:sp>
      <p:sp>
        <p:nvSpPr>
          <p:cNvPr id="4" name="row-label-1">
            <a:extLst xmlns:a="http://schemas.openxmlformats.org/drawingml/2006/main">
              <a:ext uri="{FF2B5EF4-FFF2-40B4-BE49-F238E27FC236}">
                <a16:creationId xmlns:a16="http://schemas.microsoft.com/office/drawing/2014/main" id="{04922B27-9379-4D48-818D-04C87DE3F053}"/>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Normal</a:t>
            </a:r>
          </a:p>
        </p:txBody>
      </p:sp>
      <p:sp>
        <p:nvSpPr>
          <p:cNvPr id="5" name="row-body-1">
            <a:extLst xmlns:a="http://schemas.openxmlformats.org/drawingml/2006/main">
              <a:ext uri="{FF2B5EF4-FFF2-40B4-BE49-F238E27FC236}">
                <a16:creationId xmlns:a16="http://schemas.microsoft.com/office/drawing/2014/main" id="{3E92BBD6-B4DD-454B-B827-BE3408D893AE}"/>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At Rs 80, the sandwich qualifies.</a:t>
            </a:r>
          </a:p>
        </p:txBody>
      </p:sp>
      <p:sp>
        <p:nvSpPr>
          <p:cNvPr id="6" name="row-label-2">
            <a:extLst xmlns:a="http://schemas.openxmlformats.org/drawingml/2006/main">
              <a:ext uri="{FF2B5EF4-FFF2-40B4-BE49-F238E27FC236}">
                <a16:creationId xmlns:a16="http://schemas.microsoft.com/office/drawing/2014/main" id="{43B5ABE7-57AB-42D8-9ACA-39211BF906FB}"/>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Boundary</a:t>
            </a:r>
          </a:p>
        </p:txBody>
      </p:sp>
      <p:sp>
        <p:nvSpPr>
          <p:cNvPr id="7" name="row-body-2">
            <a:extLst xmlns:a="http://schemas.openxmlformats.org/drawingml/2006/main">
              <a:ext uri="{FF2B5EF4-FFF2-40B4-BE49-F238E27FC236}">
                <a16:creationId xmlns:a16="http://schemas.microsoft.com/office/drawing/2014/main" id="{8C9500E3-B536-4477-ACA3-03985B4B8F42}"/>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At Rs 30, no vegetarian dish qualifies.</a:t>
            </a:r>
          </a:p>
        </p:txBody>
      </p:sp>
      <p:sp>
        <p:nvSpPr>
          <p:cNvPr id="8" name="takeaway">
            <a:extLst xmlns:a="http://schemas.openxmlformats.org/drawingml/2006/main">
              <a:ext uri="{FF2B5EF4-FFF2-40B4-BE49-F238E27FC236}">
                <a16:creationId xmlns:a16="http://schemas.microsoft.com/office/drawing/2014/main" id="{4B8905C5-264E-435C-8C15-AED227BCE1C9}"/>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Keep the menu and filtering rules unchanged.</a:t>
            </a:r>
          </a:p>
        </p:txBody>
      </p:sp>
      <p:sp>
        <p:nvSpPr>
          <p:cNvPr id="9" name="footer">
            <a:extLst xmlns:a="http://schemas.openxmlformats.org/drawingml/2006/main">
              <a:ext uri="{FF2B5EF4-FFF2-40B4-BE49-F238E27FC236}">
                <a16:creationId xmlns:a16="http://schemas.microsoft.com/office/drawing/2014/main" id="{2DD4B341-D3A5-4069-ABEF-D345415B7A2C}"/>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A5980CE3-A6F6-47DF-8F01-75B3BCE1EF4A}"/>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10</a:t>
            </a:r>
          </a:p>
        </p:txBody>
      </p:sp>
    </p:spTree>
    <p:extLst>
      <p:ext uri="{BB962C8B-B14F-4D97-AF65-F5344CB8AC3E}">
        <p14:creationId xmlns:p14="http://schemas.microsoft.com/office/powerpoint/2010/main" val="1913027791"/>
      </p:ext>
    </p:extLst>
  </p:cSld>
</p:sld>
</file>

<file path=ppt/slides/slide1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39C054EE-1893-49BE-A3CA-729AB0D42781}"/>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Useful instructions for an AI coder</a:t>
            </a:r>
          </a:p>
        </p:txBody>
      </p:sp>
      <p:sp>
        <p:nvSpPr>
          <p:cNvPr id="2" name="code-example">
            <a:extLst xmlns:a="http://schemas.openxmlformats.org/drawingml/2006/main">
              <a:ext uri="{FF2B5EF4-FFF2-40B4-BE49-F238E27FC236}">
                <a16:creationId xmlns:a16="http://schemas.microsoft.com/office/drawing/2014/main" id="{4B562619-A17F-40E4-AB61-EBF88215346A}"/>
              </a:ext>
            </a:extLst>
          </p:cNvPr>
          <p:cNvSpPr>
            <a:spLocks xmlns:a="http://schemas.openxmlformats.org/drawingml/2006/main" noGrp="1"/>
          </p:cNvSpPr>
          <p:nvPr/>
        </p:nvSpPr>
        <p:spPr>
          <a:xfrm xmlns:a="http://schemas.openxmlformats.org/drawingml/2006/main">
            <a:off x="742950" y="1714500"/>
            <a:ext cx="10763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E3A32"/>
                </a:solidFill>
                <a:latin typeface="Consolas"/>
                <a:ea typeface="Consolas"/>
                <a:cs typeface="Consolas"/>
              </a:defRPr>
            </a:defPPr>
          </a:lstStyle>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Campus Canteen</a:t>
            </a:r>
          </a:p>
          <a:p xmlns:a="http://schemas.openxmlformats.org/drawingml/2006/main">
            <a:r>
              <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Read docs/PROJECT.md before editing.</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Make one focused change.</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Keep menu records unchanged.</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Check the final answer, including failures.</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Report what you ran and what remains untested.</a:t>
            </a:r>
          </a:p>
        </p:txBody>
      </p:sp>
      <p:sp>
        <p:nvSpPr>
          <p:cNvPr id="3" name="takeaway">
            <a:extLst xmlns:a="http://schemas.openxmlformats.org/drawingml/2006/main">
              <a:ext uri="{FF2B5EF4-FFF2-40B4-BE49-F238E27FC236}">
                <a16:creationId xmlns:a16="http://schemas.microsoft.com/office/drawing/2014/main" id="{2E4B1232-ACA4-4E12-BD75-C03EA4484555}"/>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Concrete instructions are easier to review than “be accurate”.</a:t>
            </a:r>
          </a:p>
        </p:txBody>
      </p:sp>
      <p:sp>
        <p:nvSpPr>
          <p:cNvPr id="4" name="footer">
            <a:extLst xmlns:a="http://schemas.openxmlformats.org/drawingml/2006/main">
              <a:ext uri="{FF2B5EF4-FFF2-40B4-BE49-F238E27FC236}">
                <a16:creationId xmlns:a16="http://schemas.microsoft.com/office/drawing/2014/main" id="{26C9B7CC-8795-4A11-A4CE-36391A2F2024}"/>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BC91BA0C-D4C6-46D0-A4F1-29F0AAA52BDC}"/>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11</a:t>
            </a:r>
          </a:p>
        </p:txBody>
      </p:sp>
    </p:spTree>
    <p:extLst>
      <p:ext uri="{BB962C8B-B14F-4D97-AF65-F5344CB8AC3E}">
        <p14:creationId xmlns:p14="http://schemas.microsoft.com/office/powerpoint/2010/main" val="1731224414"/>
      </p:ext>
    </p:extLst>
  </p:cSld>
</p:sld>
</file>

<file path=ppt/slides/slide12.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E4D52ACD-1809-4FFA-B21E-A9393B4B5109}"/>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Checkpoint 1: useful instructions</a:t>
            </a:r>
          </a:p>
        </p:txBody>
      </p:sp>
      <p:sp>
        <p:nvSpPr>
          <p:cNvPr id="2" name="row-label-0">
            <a:extLst xmlns:a="http://schemas.openxmlformats.org/drawingml/2006/main">
              <a:ext uri="{FF2B5EF4-FFF2-40B4-BE49-F238E27FC236}">
                <a16:creationId xmlns:a16="http://schemas.microsoft.com/office/drawing/2014/main" id="{B8AD93B5-A55F-4CA8-A991-17E231A66861}"/>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Purpose</a:t>
            </a:r>
          </a:p>
        </p:txBody>
      </p:sp>
      <p:sp>
        <p:nvSpPr>
          <p:cNvPr id="3" name="row-body-0">
            <a:extLst xmlns:a="http://schemas.openxmlformats.org/drawingml/2006/main">
              <a:ext uri="{FF2B5EF4-FFF2-40B4-BE49-F238E27FC236}">
                <a16:creationId xmlns:a16="http://schemas.microsoft.com/office/drawing/2014/main" id="{65B08D0C-E769-443E-B4E6-1C600F47D528}"/>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What are we building?</a:t>
            </a:r>
          </a:p>
        </p:txBody>
      </p:sp>
      <p:sp>
        <p:nvSpPr>
          <p:cNvPr id="4" name="row-label-1">
            <a:extLst xmlns:a="http://schemas.openxmlformats.org/drawingml/2006/main">
              <a:ext uri="{FF2B5EF4-FFF2-40B4-BE49-F238E27FC236}">
                <a16:creationId xmlns:a16="http://schemas.microsoft.com/office/drawing/2014/main" id="{B5EAB728-CFA7-480C-8F4A-A734FFD4DF6C}"/>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Boundary</a:t>
            </a:r>
          </a:p>
        </p:txBody>
      </p:sp>
      <p:sp>
        <p:nvSpPr>
          <p:cNvPr id="5" name="row-body-1">
            <a:extLst xmlns:a="http://schemas.openxmlformats.org/drawingml/2006/main">
              <a:ext uri="{FF2B5EF4-FFF2-40B4-BE49-F238E27FC236}">
                <a16:creationId xmlns:a16="http://schemas.microsoft.com/office/drawing/2014/main" id="{651F27FB-3E1B-41E4-BE9D-F97528CF3B2C}"/>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What must the coder preserve?</a:t>
            </a:r>
          </a:p>
        </p:txBody>
      </p:sp>
      <p:sp>
        <p:nvSpPr>
          <p:cNvPr id="6" name="row-label-2">
            <a:extLst xmlns:a="http://schemas.openxmlformats.org/drawingml/2006/main">
              <a:ext uri="{FF2B5EF4-FFF2-40B4-BE49-F238E27FC236}">
                <a16:creationId xmlns:a16="http://schemas.microsoft.com/office/drawing/2014/main" id="{9BA1446A-520F-4AAE-9040-AA389D892383}"/>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Evidence</a:t>
            </a:r>
          </a:p>
        </p:txBody>
      </p:sp>
      <p:sp>
        <p:nvSpPr>
          <p:cNvPr id="7" name="row-body-2">
            <a:extLst xmlns:a="http://schemas.openxmlformats.org/drawingml/2006/main">
              <a:ext uri="{FF2B5EF4-FFF2-40B4-BE49-F238E27FC236}">
                <a16:creationId xmlns:a16="http://schemas.microsoft.com/office/drawing/2014/main" id="{8203F330-2D52-4A0F-83E5-AEBE554B37B4}"/>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What must it run and report?</a:t>
            </a:r>
          </a:p>
        </p:txBody>
      </p:sp>
      <p:sp>
        <p:nvSpPr>
          <p:cNvPr id="8" name="takeaway">
            <a:extLst xmlns:a="http://schemas.openxmlformats.org/drawingml/2006/main">
              <a:ext uri="{FF2B5EF4-FFF2-40B4-BE49-F238E27FC236}">
                <a16:creationId xmlns:a16="http://schemas.microsoft.com/office/drawing/2014/main" id="{F99FF36C-9678-4B68-8C76-09BA767DF58F}"/>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Record your own instruction and how someone can check it.</a:t>
            </a:r>
          </a:p>
        </p:txBody>
      </p:sp>
      <p:sp>
        <p:nvSpPr>
          <p:cNvPr id="9" name="footer">
            <a:extLst xmlns:a="http://schemas.openxmlformats.org/drawingml/2006/main">
              <a:ext uri="{FF2B5EF4-FFF2-40B4-BE49-F238E27FC236}">
                <a16:creationId xmlns:a16="http://schemas.microsoft.com/office/drawing/2014/main" id="{43436D57-10DF-447E-8B51-05FE01321834}"/>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DDFA2F8F-6167-4B3F-A91E-C149545C2320}"/>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12</a:t>
            </a:r>
          </a:p>
        </p:txBody>
      </p:sp>
    </p:spTree>
    <p:extLst>
      <p:ext uri="{BB962C8B-B14F-4D97-AF65-F5344CB8AC3E}">
        <p14:creationId xmlns:p14="http://schemas.microsoft.com/office/powerpoint/2010/main" val="1052043094"/>
      </p:ext>
    </p:extLst>
  </p:cSld>
</p:sld>
</file>

<file path=ppt/slides/slide13.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CDB6447F-A104-4157-A668-0ECE19378ECB}"/>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Read one menu record</a:t>
            </a:r>
          </a:p>
        </p:txBody>
      </p:sp>
      <p:sp>
        <p:nvSpPr>
          <p:cNvPr id="2" name="code-example">
            <a:extLst xmlns:a="http://schemas.openxmlformats.org/drawingml/2006/main">
              <a:ext uri="{FF2B5EF4-FFF2-40B4-BE49-F238E27FC236}">
                <a16:creationId xmlns:a16="http://schemas.microsoft.com/office/drawing/2014/main" id="{81BB37AF-81C8-4CC9-8630-A2D330EC7B74}"/>
              </a:ext>
            </a:extLst>
          </p:cNvPr>
          <p:cNvSpPr>
            <a:spLocks xmlns:a="http://schemas.openxmlformats.org/drawingml/2006/main" noGrp="1"/>
          </p:cNvSpPr>
          <p:nvPr/>
        </p:nvSpPr>
        <p:spPr>
          <a:xfrm xmlns:a="http://schemas.openxmlformats.org/drawingml/2006/main">
            <a:off x="742950" y="1714500"/>
            <a:ext cx="10763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E3A32"/>
                </a:solidFill>
                <a:latin typeface="Consolas"/>
                <a:ea typeface="Consolas"/>
                <a:cs typeface="Consolas"/>
              </a:defRPr>
            </a:defPPr>
          </a:lstStyle>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"name": "Veg sandwich",</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"price": 60,</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"vegetarian": true,</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"available": true</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a:t>
            </a:r>
          </a:p>
        </p:txBody>
      </p:sp>
      <p:sp>
        <p:nvSpPr>
          <p:cNvPr id="3" name="takeaway">
            <a:extLst xmlns:a="http://schemas.openxmlformats.org/drawingml/2006/main">
              <a:ext uri="{FF2B5EF4-FFF2-40B4-BE49-F238E27FC236}">
                <a16:creationId xmlns:a16="http://schemas.microsoft.com/office/drawing/2014/main" id="{D722A641-F25E-4776-A819-0E5959F84DA1}"/>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The program checks records. The assistant should not invent them.</a:t>
            </a:r>
          </a:p>
        </p:txBody>
      </p:sp>
      <p:sp>
        <p:nvSpPr>
          <p:cNvPr id="4" name="footer">
            <a:extLst xmlns:a="http://schemas.openxmlformats.org/drawingml/2006/main">
              <a:ext uri="{FF2B5EF4-FFF2-40B4-BE49-F238E27FC236}">
                <a16:creationId xmlns:a16="http://schemas.microsoft.com/office/drawing/2014/main" id="{87F9D949-FDF2-47DB-9DBF-277B21298650}"/>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0DD9F32C-5EE5-4D55-BB1C-D612E07A0C26}"/>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13</a:t>
            </a:r>
          </a:p>
        </p:txBody>
      </p:sp>
    </p:spTree>
    <p:extLst>
      <p:ext uri="{BB962C8B-B14F-4D97-AF65-F5344CB8AC3E}">
        <p14:creationId xmlns:p14="http://schemas.microsoft.com/office/powerpoint/2010/main" val="147136156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63D7DEB-23E0-406D-84A2-05D337922794}"/>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Demo 1: a tool is just a function</a:t>
            </a:r>
            <a:endParaRPr sz="3200"/>
          </a:p>
        </p:txBody>
      </p:sp>
      <p:sp>
        <p:nvSpPr>
          <p:cNvPr id="4" name="Shape 1">
            <a:extLst xmlns:a="http://schemas.openxmlformats.org/drawingml/2006/main">
              <a:ext uri="{FF2B5EF4-FFF2-40B4-BE49-F238E27FC236}">
                <a16:creationId xmlns:a16="http://schemas.microsoft.com/office/drawing/2014/main" id="{D230D137-D6EB-4D06-85BA-8B80486AA280}"/>
              </a:ext>
            </a:extLst>
          </p:cNvPr>
          <p:cNvSpPr>
            <a:spLocks xmlns:a="http://schemas.openxmlformats.org/drawingml/2006/main" noGrp="1"/>
          </p:cNvSpPr>
          <p:nvPr/>
        </p:nvSpPr>
        <p:spPr>
          <a:xfrm xmlns:a="http://schemas.openxmlformats.org/drawingml/2006/main">
            <a:off x="548640" y="1645920"/>
            <a:ext cx="11064240" cy="2926080"/>
          </a:xfrm>
          <a:prstGeom xmlns:a="http://schemas.openxmlformats.org/drawingml/2006/main" prst="roundRect">
            <a:avLst>
              <a:gd name="adj" fmla="val 3125"/>
            </a:avLst>
          </a:prstGeom>
          <a:solidFill xmlns:a="http://schemas.openxmlformats.org/drawingml/2006/main">
            <a:srgbClr val="16302A"/>
          </a:solidFill>
          <a:ln xmlns:a="http://schemas.openxmlformats.org/drawingml/2006/main" w="12700">
            <a:solidFill>
              <a:srgbClr val="16302A"/>
            </a:solidFill>
            <a:prstDash val="solid"/>
          </a:ln>
        </p:spPr>
      </p:sp>
      <p:sp>
        <p:nvSpPr>
          <p:cNvPr id="5" name="Text 2">
            <a:extLst xmlns:a="http://schemas.openxmlformats.org/drawingml/2006/main">
              <a:ext uri="{FF2B5EF4-FFF2-40B4-BE49-F238E27FC236}">
                <a16:creationId xmlns:a16="http://schemas.microsoft.com/office/drawing/2014/main" id="{4126DACB-AFCF-4CDE-8E9F-33E9798FA8CC}"/>
              </a:ext>
            </a:extLst>
          </p:cNvPr>
          <p:cNvSpPr>
            <a:spLocks xmlns:a="http://schemas.openxmlformats.org/drawingml/2006/main" noGrp="1"/>
          </p:cNvSpPr>
          <p:nvPr/>
        </p:nvSpPr>
        <p:spPr>
          <a:xfrm xmlns:a="http://schemas.openxmlformats.org/drawingml/2006/main">
            <a:off x="822960" y="1874520"/>
            <a:ext cx="10515600"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400"/>
              </a:spcAft>
              <a:buNone/>
            </a:pPr>
            <a:r>
              <a:rPr sz="2000" b="1">
                <a:solidFill>
                  <a:srgbClr val="F2B33D"/>
                </a:solidFill>
                <a:latin typeface="Consolas"/>
                <a:ea typeface="Consolas"/>
                <a:cs typeface="Consolas"/>
              </a:rPr>
              <a:t>&gt;&gt;&gt; find_food(max_price=80, vegetarian=True)</a:t>
            </a:r>
            <a:endParaRPr sz="2000"/>
          </a:p>
          <a:p xmlns:a="http://schemas.openxmlformats.org/drawingml/2006/main">
            <a:pPr marL="0" indent="0">
              <a:spcAft>
                <a:spcPts val="400"/>
              </a:spcAft>
              <a:buNone/>
            </a:pPr>
            <a:r>
              <a:rPr sz="2000">
                <a:solidFill>
                  <a:srgbClr val="F4F2EC"/>
                </a:solidFill>
                <a:latin typeface="Consolas"/>
                <a:ea typeface="Consolas"/>
                <a:cs typeface="Consolas"/>
              </a:rPr>
              <a:t>{ "status": "ok",</a:t>
            </a:r>
            <a:endParaRPr sz="2000"/>
          </a:p>
          <a:p xmlns:a="http://schemas.openxmlformats.org/drawingml/2006/main">
            <a:pPr marL="0" indent="0">
              <a:spcAft>
                <a:spcPts val="400"/>
              </a:spcAft>
              <a:buNone/>
            </a:pPr>
            <a:r>
              <a:rPr sz="2000">
                <a:solidFill>
                  <a:srgbClr val="F4F2EC"/>
                </a:solidFill>
                <a:latin typeface="Consolas"/>
                <a:ea typeface="Consolas"/>
                <a:cs typeface="Consolas"/>
              </a:rPr>
              <a:t>  "filters": { "max_price": 80, "vegetarian": true,</a:t>
            </a:r>
            <a:endParaRPr sz="2000"/>
          </a:p>
          <a:p xmlns:a="http://schemas.openxmlformats.org/drawingml/2006/main">
            <a:pPr marL="0" indent="0">
              <a:spcAft>
                <a:spcPts val="400"/>
              </a:spcAft>
              <a:buNone/>
            </a:pPr>
            <a:r>
              <a:rPr sz="2000">
                <a:solidFill>
                  <a:srgbClr val="F4F2EC"/>
                </a:solidFill>
                <a:latin typeface="Consolas"/>
                <a:ea typeface="Consolas"/>
                <a:cs typeface="Consolas"/>
              </a:rPr>
              <a:t>               "in_stock_only": true },</a:t>
            </a:r>
            <a:endParaRPr sz="2000"/>
          </a:p>
          <a:p xmlns:a="http://schemas.openxmlformats.org/drawingml/2006/main">
            <a:pPr marL="0" indent="0">
              <a:spcAft>
                <a:spcPts val="400"/>
              </a:spcAft>
              <a:buNone/>
            </a:pPr>
            <a:r>
              <a:rPr sz="2000" b="1">
                <a:solidFill>
                  <a:srgbClr val="8FD6A3"/>
                </a:solidFill>
                <a:latin typeface="Consolas"/>
                <a:ea typeface="Consolas"/>
                <a:cs typeface="Consolas"/>
              </a:rPr>
              <a:t>  "matches": [ { "name": "Veg sandwich", "price": 60 } ] }</a:t>
            </a:r>
            <a:endParaRPr sz="2000"/>
          </a:p>
        </p:txBody>
      </p:sp>
      <p:sp>
        <p:nvSpPr>
          <p:cNvPr id="6" name="Text 3">
            <a:extLst xmlns:a="http://schemas.openxmlformats.org/drawingml/2006/main">
              <a:ext uri="{FF2B5EF4-FFF2-40B4-BE49-F238E27FC236}">
                <a16:creationId xmlns:a16="http://schemas.microsoft.com/office/drawing/2014/main" id="{669EB8D0-9E96-49B9-A2C2-2D141295BFB2}"/>
              </a:ext>
            </a:extLst>
          </p:cNvPr>
          <p:cNvSpPr>
            <a:spLocks xmlns:a="http://schemas.openxmlformats.org/drawingml/2006/main" noGrp="1"/>
          </p:cNvSpPr>
          <p:nvPr/>
        </p:nvSpPr>
        <p:spPr>
          <a:xfrm xmlns:a="http://schemas.openxmlformats.org/drawingml/2006/main">
            <a:off x="548640" y="4937760"/>
            <a:ext cx="10972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b="1">
                <a:solidFill>
                  <a:srgbClr val="3B9C5A"/>
                </a:solidFill>
                <a:latin typeface="Calibri"/>
                <a:ea typeface="Calibri"/>
                <a:cs typeface="Calibri"/>
              </a:rPr>
              <a:t>Price, veg and stock rules live HERE, in code. Not in the AI.</a:t>
            </a:r>
            <a:endParaRPr sz="2400"/>
          </a:p>
        </p:txBody>
      </p:sp>
      <p:sp>
        <p:nvSpPr>
          <p:cNvPr id="25" name="Slide Number Placeholder 0">
            <a:extLst xmlns:a="http://schemas.openxmlformats.org/drawingml/2006/main">
              <a:ext uri="{FF2B5EF4-FFF2-40B4-BE49-F238E27FC236}">
                <a16:creationId xmlns:a16="http://schemas.microsoft.com/office/drawing/2014/main" id="{ED4288C4-CECB-40DC-A761-37444EF0E2E9}"/>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327921A4-25C4-3DB4-06B1-32693CEE2241}" type="slidenum">
              <a:rPr b="0"/>
              <a:t>14</a:t>
            </a:fld>
            <a:endParaRPr/>
          </a:p>
        </p:txBody>
      </p:sp>
    </p:spTree>
    <p:extLst>
      <p:ext uri="{BB962C8B-B14F-4D97-AF65-F5344CB8AC3E}">
        <p14:creationId xmlns:p14="http://schemas.microsoft.com/office/powerpoint/2010/main" val="340738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23B294-43AE-43A9-A8A7-E5987F2BF175}"/>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ReAct: think, act, look, repeat</a:t>
            </a:r>
            <a:endParaRPr sz="3200"/>
          </a:p>
        </p:txBody>
      </p:sp>
      <p:sp>
        <p:nvSpPr>
          <p:cNvPr id="4" name="Shape 1">
            <a:extLst xmlns:a="http://schemas.openxmlformats.org/drawingml/2006/main">
              <a:ext uri="{FF2B5EF4-FFF2-40B4-BE49-F238E27FC236}">
                <a16:creationId xmlns:a16="http://schemas.microsoft.com/office/drawing/2014/main" id="{A0E3DF55-1322-4AB8-AC06-081AD1B40BD9}"/>
              </a:ext>
            </a:extLst>
          </p:cNvPr>
          <p:cNvSpPr>
            <a:spLocks xmlns:a="http://schemas.openxmlformats.org/drawingml/2006/main" noGrp="1"/>
          </p:cNvSpPr>
          <p:nvPr/>
        </p:nvSpPr>
        <p:spPr>
          <a:xfrm xmlns:a="http://schemas.openxmlformats.org/drawingml/2006/main">
            <a:off x="822960" y="1737360"/>
            <a:ext cx="2103120" cy="2103120"/>
          </a:xfrm>
          <a:prstGeom xmlns:a="http://schemas.openxmlformats.org/drawingml/2006/main" prst="ellipse">
            <a:avLst/>
          </a:prstGeom>
          <a:solidFill xmlns:a="http://schemas.openxmlformats.org/drawingml/2006/main">
            <a:srgbClr val="FFFFFF"/>
          </a:solidFill>
          <a:ln xmlns:a="http://schemas.openxmlformats.org/drawingml/2006/main" w="38100">
            <a:solidFill>
              <a:srgbClr val="3B9C5A"/>
            </a:solidFill>
            <a:prstDash val="solid"/>
          </a:ln>
        </p:spPr>
      </p:sp>
      <p:sp>
        <p:nvSpPr>
          <p:cNvPr id="5" name="Text 2">
            <a:extLst xmlns:a="http://schemas.openxmlformats.org/drawingml/2006/main">
              <a:ext uri="{FF2B5EF4-FFF2-40B4-BE49-F238E27FC236}">
                <a16:creationId xmlns:a16="http://schemas.microsoft.com/office/drawing/2014/main" id="{366E8DB3-2658-4A73-ABA9-F3354BE26E2A}"/>
              </a:ext>
            </a:extLst>
          </p:cNvPr>
          <p:cNvSpPr>
            <a:spLocks xmlns:a="http://schemas.openxmlformats.org/drawingml/2006/main" noGrp="1"/>
          </p:cNvSpPr>
          <p:nvPr/>
        </p:nvSpPr>
        <p:spPr>
          <a:xfrm xmlns:a="http://schemas.openxmlformats.org/drawingml/2006/main">
            <a:off x="822960" y="23317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600" b="1">
                <a:solidFill>
                  <a:srgbClr val="1D2B26"/>
                </a:solidFill>
                <a:latin typeface="Bookman Old Style"/>
                <a:ea typeface="Bookman Old Style"/>
                <a:cs typeface="Bookman Old Style"/>
              </a:rPr>
              <a:t>Think</a:t>
            </a:r>
            <a:endParaRPr sz="2600"/>
          </a:p>
        </p:txBody>
      </p:sp>
      <p:sp>
        <p:nvSpPr>
          <p:cNvPr id="6" name="Text 3">
            <a:extLst xmlns:a="http://schemas.openxmlformats.org/drawingml/2006/main">
              <a:ext uri="{FF2B5EF4-FFF2-40B4-BE49-F238E27FC236}">
                <a16:creationId xmlns:a16="http://schemas.microsoft.com/office/drawing/2014/main" id="{AAF6F5C6-AC33-42F2-8A12-E26777093517}"/>
              </a:ext>
            </a:extLst>
          </p:cNvPr>
          <p:cNvSpPr>
            <a:spLocks xmlns:a="http://schemas.openxmlformats.org/drawingml/2006/main" noGrp="1"/>
          </p:cNvSpPr>
          <p:nvPr/>
        </p:nvSpPr>
        <p:spPr>
          <a:xfrm xmlns:a="http://schemas.openxmlformats.org/drawingml/2006/main">
            <a:off x="822960" y="29260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600">
                <a:solidFill>
                  <a:srgbClr val="5C6B66"/>
                </a:solidFill>
                <a:latin typeface="Calibri"/>
                <a:ea typeface="Calibri"/>
                <a:cs typeface="Calibri"/>
              </a:rPr>
              <a:t>what do I need?</a:t>
            </a:r>
            <a:endParaRPr sz="1600"/>
          </a:p>
        </p:txBody>
      </p:sp>
      <p:sp>
        <p:nvSpPr>
          <p:cNvPr id="7" name="Shape 4">
            <a:extLst xmlns:a="http://schemas.openxmlformats.org/drawingml/2006/main">
              <a:ext uri="{FF2B5EF4-FFF2-40B4-BE49-F238E27FC236}">
                <a16:creationId xmlns:a16="http://schemas.microsoft.com/office/drawing/2014/main" id="{28E2DB84-EC7E-4AAF-B3A9-587D1D5BBE49}"/>
              </a:ext>
            </a:extLst>
          </p:cNvPr>
          <p:cNvSpPr>
            <a:spLocks xmlns:a="http://schemas.openxmlformats.org/drawingml/2006/main" noGrp="1"/>
          </p:cNvSpPr>
          <p:nvPr/>
        </p:nvSpPr>
        <p:spPr>
          <a:xfrm xmlns:a="http://schemas.openxmlformats.org/drawingml/2006/main">
            <a:off x="2971800" y="2788920"/>
            <a:ext cx="548640"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8" name="Shape 5">
            <a:extLst xmlns:a="http://schemas.openxmlformats.org/drawingml/2006/main">
              <a:ext uri="{FF2B5EF4-FFF2-40B4-BE49-F238E27FC236}">
                <a16:creationId xmlns:a16="http://schemas.microsoft.com/office/drawing/2014/main" id="{890628B7-5207-48AC-885B-861AD0710B1E}"/>
              </a:ext>
            </a:extLst>
          </p:cNvPr>
          <p:cNvSpPr>
            <a:spLocks xmlns:a="http://schemas.openxmlformats.org/drawingml/2006/main" noGrp="1"/>
          </p:cNvSpPr>
          <p:nvPr/>
        </p:nvSpPr>
        <p:spPr>
          <a:xfrm xmlns:a="http://schemas.openxmlformats.org/drawingml/2006/main">
            <a:off x="3611880" y="1737360"/>
            <a:ext cx="2103120" cy="2103120"/>
          </a:xfrm>
          <a:prstGeom xmlns:a="http://schemas.openxmlformats.org/drawingml/2006/main" prst="ellipse">
            <a:avLst/>
          </a:prstGeom>
          <a:solidFill xmlns:a="http://schemas.openxmlformats.org/drawingml/2006/main">
            <a:srgbClr val="FFFFFF"/>
          </a:solidFill>
          <a:ln xmlns:a="http://schemas.openxmlformats.org/drawingml/2006/main" w="38100">
            <a:solidFill>
              <a:srgbClr val="3B9C5A"/>
            </a:solidFill>
            <a:prstDash val="solid"/>
          </a:ln>
        </p:spPr>
      </p:sp>
      <p:sp>
        <p:nvSpPr>
          <p:cNvPr id="9" name="Text 6">
            <a:extLst xmlns:a="http://schemas.openxmlformats.org/drawingml/2006/main">
              <a:ext uri="{FF2B5EF4-FFF2-40B4-BE49-F238E27FC236}">
                <a16:creationId xmlns:a16="http://schemas.microsoft.com/office/drawing/2014/main" id="{4A855802-BCDD-4A89-9ADF-3AA155874D86}"/>
              </a:ext>
            </a:extLst>
          </p:cNvPr>
          <p:cNvSpPr>
            <a:spLocks xmlns:a="http://schemas.openxmlformats.org/drawingml/2006/main" noGrp="1"/>
          </p:cNvSpPr>
          <p:nvPr/>
        </p:nvSpPr>
        <p:spPr>
          <a:xfrm xmlns:a="http://schemas.openxmlformats.org/drawingml/2006/main">
            <a:off x="3611880" y="23317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600" b="1">
                <a:solidFill>
                  <a:srgbClr val="1D2B26"/>
                </a:solidFill>
                <a:latin typeface="Bookman Old Style"/>
                <a:ea typeface="Bookman Old Style"/>
                <a:cs typeface="Bookman Old Style"/>
              </a:rPr>
              <a:t>Act</a:t>
            </a:r>
            <a:endParaRPr sz="2600"/>
          </a:p>
        </p:txBody>
      </p:sp>
      <p:sp>
        <p:nvSpPr>
          <p:cNvPr id="10" name="Text 7">
            <a:extLst xmlns:a="http://schemas.openxmlformats.org/drawingml/2006/main">
              <a:ext uri="{FF2B5EF4-FFF2-40B4-BE49-F238E27FC236}">
                <a16:creationId xmlns:a16="http://schemas.microsoft.com/office/drawing/2014/main" id="{E113331E-A635-41BC-BC61-B8DC5A59DD54}"/>
              </a:ext>
            </a:extLst>
          </p:cNvPr>
          <p:cNvSpPr>
            <a:spLocks xmlns:a="http://schemas.openxmlformats.org/drawingml/2006/main" noGrp="1"/>
          </p:cNvSpPr>
          <p:nvPr/>
        </p:nvSpPr>
        <p:spPr>
          <a:xfrm xmlns:a="http://schemas.openxmlformats.org/drawingml/2006/main">
            <a:off x="3611880" y="29260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600">
                <a:solidFill>
                  <a:srgbClr val="5C6B66"/>
                </a:solidFill>
                <a:latin typeface="Calibri"/>
                <a:ea typeface="Calibri"/>
                <a:cs typeface="Calibri"/>
              </a:rPr>
              <a:t>ask for a tool</a:t>
            </a:r>
            <a:endParaRPr sz="1600"/>
          </a:p>
        </p:txBody>
      </p:sp>
      <p:sp>
        <p:nvSpPr>
          <p:cNvPr id="11" name="Shape 8">
            <a:extLst xmlns:a="http://schemas.openxmlformats.org/drawingml/2006/main">
              <a:ext uri="{FF2B5EF4-FFF2-40B4-BE49-F238E27FC236}">
                <a16:creationId xmlns:a16="http://schemas.microsoft.com/office/drawing/2014/main" id="{C7412FE3-8FA2-4C46-B861-EAB88631CFD5}"/>
              </a:ext>
            </a:extLst>
          </p:cNvPr>
          <p:cNvSpPr>
            <a:spLocks xmlns:a="http://schemas.openxmlformats.org/drawingml/2006/main" noGrp="1"/>
          </p:cNvSpPr>
          <p:nvPr/>
        </p:nvSpPr>
        <p:spPr>
          <a:xfrm xmlns:a="http://schemas.openxmlformats.org/drawingml/2006/main">
            <a:off x="5760720" y="2788920"/>
            <a:ext cx="548640"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12" name="Shape 9">
            <a:extLst xmlns:a="http://schemas.openxmlformats.org/drawingml/2006/main">
              <a:ext uri="{FF2B5EF4-FFF2-40B4-BE49-F238E27FC236}">
                <a16:creationId xmlns:a16="http://schemas.microsoft.com/office/drawing/2014/main" id="{D1C6428D-769C-494A-AB84-F7BCA577F02C}"/>
              </a:ext>
            </a:extLst>
          </p:cNvPr>
          <p:cNvSpPr>
            <a:spLocks xmlns:a="http://schemas.openxmlformats.org/drawingml/2006/main" noGrp="1"/>
          </p:cNvSpPr>
          <p:nvPr/>
        </p:nvSpPr>
        <p:spPr>
          <a:xfrm xmlns:a="http://schemas.openxmlformats.org/drawingml/2006/main">
            <a:off x="6400800" y="1737360"/>
            <a:ext cx="2103120" cy="2103120"/>
          </a:xfrm>
          <a:prstGeom xmlns:a="http://schemas.openxmlformats.org/drawingml/2006/main" prst="ellipse">
            <a:avLst/>
          </a:prstGeom>
          <a:solidFill xmlns:a="http://schemas.openxmlformats.org/drawingml/2006/main">
            <a:srgbClr val="FFFFFF"/>
          </a:solidFill>
          <a:ln xmlns:a="http://schemas.openxmlformats.org/drawingml/2006/main" w="38100">
            <a:solidFill>
              <a:srgbClr val="3B9C5A"/>
            </a:solidFill>
            <a:prstDash val="solid"/>
          </a:ln>
        </p:spPr>
      </p:sp>
      <p:sp>
        <p:nvSpPr>
          <p:cNvPr id="13" name="Text 10">
            <a:extLst xmlns:a="http://schemas.openxmlformats.org/drawingml/2006/main">
              <a:ext uri="{FF2B5EF4-FFF2-40B4-BE49-F238E27FC236}">
                <a16:creationId xmlns:a16="http://schemas.microsoft.com/office/drawing/2014/main" id="{614FCC38-6F87-4570-9F26-FD02152448A3}"/>
              </a:ext>
            </a:extLst>
          </p:cNvPr>
          <p:cNvSpPr>
            <a:spLocks xmlns:a="http://schemas.openxmlformats.org/drawingml/2006/main" noGrp="1"/>
          </p:cNvSpPr>
          <p:nvPr/>
        </p:nvSpPr>
        <p:spPr>
          <a:xfrm xmlns:a="http://schemas.openxmlformats.org/drawingml/2006/main">
            <a:off x="6400800" y="23317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600" b="1">
                <a:solidFill>
                  <a:srgbClr val="1D2B26"/>
                </a:solidFill>
                <a:latin typeface="Bookman Old Style"/>
                <a:ea typeface="Bookman Old Style"/>
                <a:cs typeface="Bookman Old Style"/>
              </a:rPr>
              <a:t>Look</a:t>
            </a:r>
            <a:endParaRPr sz="2600"/>
          </a:p>
        </p:txBody>
      </p:sp>
      <p:sp>
        <p:nvSpPr>
          <p:cNvPr id="14" name="Text 11">
            <a:extLst xmlns:a="http://schemas.openxmlformats.org/drawingml/2006/main">
              <a:ext uri="{FF2B5EF4-FFF2-40B4-BE49-F238E27FC236}">
                <a16:creationId xmlns:a16="http://schemas.microsoft.com/office/drawing/2014/main" id="{ACA318DB-0202-402B-B4B5-6291F2A5F035}"/>
              </a:ext>
            </a:extLst>
          </p:cNvPr>
          <p:cNvSpPr>
            <a:spLocks xmlns:a="http://schemas.openxmlformats.org/drawingml/2006/main" noGrp="1"/>
          </p:cNvSpPr>
          <p:nvPr/>
        </p:nvSpPr>
        <p:spPr>
          <a:xfrm xmlns:a="http://schemas.openxmlformats.org/drawingml/2006/main">
            <a:off x="6400800" y="29260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600">
                <a:solidFill>
                  <a:srgbClr val="5C6B66"/>
                </a:solidFill>
                <a:latin typeface="Calibri"/>
                <a:ea typeface="Calibri"/>
                <a:cs typeface="Calibri"/>
              </a:rPr>
              <a:t>read the result</a:t>
            </a:r>
            <a:endParaRPr sz="1600"/>
          </a:p>
        </p:txBody>
      </p:sp>
      <p:sp>
        <p:nvSpPr>
          <p:cNvPr id="15" name="Shape 12">
            <a:extLst xmlns:a="http://schemas.openxmlformats.org/drawingml/2006/main">
              <a:ext uri="{FF2B5EF4-FFF2-40B4-BE49-F238E27FC236}">
                <a16:creationId xmlns:a16="http://schemas.microsoft.com/office/drawing/2014/main" id="{127F9E71-1CC7-4ED7-A42D-26447A10E8B4}"/>
              </a:ext>
            </a:extLst>
          </p:cNvPr>
          <p:cNvSpPr>
            <a:spLocks xmlns:a="http://schemas.openxmlformats.org/drawingml/2006/main" noGrp="1"/>
          </p:cNvSpPr>
          <p:nvPr/>
        </p:nvSpPr>
        <p:spPr>
          <a:xfrm xmlns:a="http://schemas.openxmlformats.org/drawingml/2006/main">
            <a:off x="8549640" y="2788920"/>
            <a:ext cx="548640"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16" name="Shape 13">
            <a:extLst xmlns:a="http://schemas.openxmlformats.org/drawingml/2006/main">
              <a:ext uri="{FF2B5EF4-FFF2-40B4-BE49-F238E27FC236}">
                <a16:creationId xmlns:a16="http://schemas.microsoft.com/office/drawing/2014/main" id="{4B78F980-E495-483E-93F7-6DD9A698BBBE}"/>
              </a:ext>
            </a:extLst>
          </p:cNvPr>
          <p:cNvSpPr>
            <a:spLocks xmlns:a="http://schemas.openxmlformats.org/drawingml/2006/main" noGrp="1"/>
          </p:cNvSpPr>
          <p:nvPr/>
        </p:nvSpPr>
        <p:spPr>
          <a:xfrm xmlns:a="http://schemas.openxmlformats.org/drawingml/2006/main">
            <a:off x="9189720" y="1737360"/>
            <a:ext cx="2103120" cy="2103120"/>
          </a:xfrm>
          <a:prstGeom xmlns:a="http://schemas.openxmlformats.org/drawingml/2006/main" prst="ellipse">
            <a:avLst/>
          </a:prstGeom>
          <a:solidFill xmlns:a="http://schemas.openxmlformats.org/drawingml/2006/main">
            <a:srgbClr val="F2B33D"/>
          </a:solidFill>
          <a:ln xmlns:a="http://schemas.openxmlformats.org/drawingml/2006/main" w="38100">
            <a:solidFill>
              <a:srgbClr val="3B9C5A"/>
            </a:solidFill>
            <a:prstDash val="solid"/>
          </a:ln>
        </p:spPr>
      </p:sp>
      <p:sp>
        <p:nvSpPr>
          <p:cNvPr id="17" name="Text 14">
            <a:extLst xmlns:a="http://schemas.openxmlformats.org/drawingml/2006/main">
              <a:ext uri="{FF2B5EF4-FFF2-40B4-BE49-F238E27FC236}">
                <a16:creationId xmlns:a16="http://schemas.microsoft.com/office/drawing/2014/main" id="{CAE8E3EA-904C-4D68-AC75-DF4FDD07AD27}"/>
              </a:ext>
            </a:extLst>
          </p:cNvPr>
          <p:cNvSpPr>
            <a:spLocks xmlns:a="http://schemas.openxmlformats.org/drawingml/2006/main" noGrp="1"/>
          </p:cNvSpPr>
          <p:nvPr/>
        </p:nvSpPr>
        <p:spPr>
          <a:xfrm xmlns:a="http://schemas.openxmlformats.org/drawingml/2006/main">
            <a:off x="9189720" y="23317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600" b="1">
                <a:solidFill>
                  <a:srgbClr val="1D2B26"/>
                </a:solidFill>
                <a:latin typeface="Bookman Old Style"/>
                <a:ea typeface="Bookman Old Style"/>
                <a:cs typeface="Bookman Old Style"/>
              </a:rPr>
              <a:t>Repeat</a:t>
            </a:r>
            <a:endParaRPr sz="2600"/>
          </a:p>
        </p:txBody>
      </p:sp>
      <p:sp>
        <p:nvSpPr>
          <p:cNvPr id="18" name="Text 15">
            <a:extLst xmlns:a="http://schemas.openxmlformats.org/drawingml/2006/main">
              <a:ext uri="{FF2B5EF4-FFF2-40B4-BE49-F238E27FC236}">
                <a16:creationId xmlns:a16="http://schemas.microsoft.com/office/drawing/2014/main" id="{CE6964D8-8E0B-489C-9E17-C532CF8C4FEB}"/>
              </a:ext>
            </a:extLst>
          </p:cNvPr>
          <p:cNvSpPr>
            <a:spLocks xmlns:a="http://schemas.openxmlformats.org/drawingml/2006/main" noGrp="1"/>
          </p:cNvSpPr>
          <p:nvPr/>
        </p:nvSpPr>
        <p:spPr>
          <a:xfrm xmlns:a="http://schemas.openxmlformats.org/drawingml/2006/main">
            <a:off x="9189720" y="29260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600">
                <a:solidFill>
                  <a:srgbClr val="5C6B66"/>
                </a:solidFill>
                <a:latin typeface="Calibri"/>
                <a:ea typeface="Calibri"/>
                <a:cs typeface="Calibri"/>
              </a:rPr>
              <a:t>or answer</a:t>
            </a:r>
            <a:endParaRPr sz="1600"/>
          </a:p>
        </p:txBody>
      </p:sp>
      <p:sp>
        <p:nvSpPr>
          <p:cNvPr id="19" name="Text 16">
            <a:extLst xmlns:a="http://schemas.openxmlformats.org/drawingml/2006/main">
              <a:ext uri="{FF2B5EF4-FFF2-40B4-BE49-F238E27FC236}">
                <a16:creationId xmlns:a16="http://schemas.microsoft.com/office/drawing/2014/main" id="{714CAEA6-2943-479A-988B-60DC795E3D2D}"/>
              </a:ext>
            </a:extLst>
          </p:cNvPr>
          <p:cNvSpPr>
            <a:spLocks xmlns:a="http://schemas.openxmlformats.org/drawingml/2006/main" noGrp="1"/>
          </p:cNvSpPr>
          <p:nvPr/>
        </p:nvSpPr>
        <p:spPr>
          <a:xfrm xmlns:a="http://schemas.openxmlformats.org/drawingml/2006/main">
            <a:off x="548640" y="4297680"/>
            <a:ext cx="10972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800" b="1">
                <a:solidFill>
                  <a:srgbClr val="1D2B26"/>
                </a:solidFill>
                <a:latin typeface="Bookman Old Style"/>
                <a:ea typeface="Bookman Old Style"/>
                <a:cs typeface="Bookman Old Style"/>
              </a:rPr>
              <a:t>Exactly how you find your lost charger.</a:t>
            </a:r>
            <a:endParaRPr sz="2800"/>
          </a:p>
        </p:txBody>
      </p:sp>
      <p:sp>
        <p:nvSpPr>
          <p:cNvPr id="20" name="Text 17">
            <a:extLst xmlns:a="http://schemas.openxmlformats.org/drawingml/2006/main">
              <a:ext uri="{FF2B5EF4-FFF2-40B4-BE49-F238E27FC236}">
                <a16:creationId xmlns:a16="http://schemas.microsoft.com/office/drawing/2014/main" id="{ABAFC9D3-2182-4A7D-82FB-967EDF50F40A}"/>
              </a:ext>
            </a:extLst>
          </p:cNvPr>
          <p:cNvSpPr>
            <a:spLocks xmlns:a="http://schemas.openxmlformats.org/drawingml/2006/main" noGrp="1"/>
          </p:cNvSpPr>
          <p:nvPr/>
        </p:nvSpPr>
        <p:spPr>
          <a:xfrm xmlns:a="http://schemas.openxmlformats.org/drawingml/2006/main">
            <a:off x="548640" y="498348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a:solidFill>
                  <a:srgbClr val="5C6B66"/>
                </a:solidFill>
                <a:latin typeface="Calibri"/>
                <a:ea typeface="Calibri"/>
                <a:cs typeface="Calibri"/>
              </a:rPr>
              <a:t>We see what it asks for and what comes back. Not its private thoughts.</a:t>
            </a:r>
            <a:endParaRPr sz="1800"/>
          </a:p>
        </p:txBody>
      </p:sp>
      <p:sp>
        <p:nvSpPr>
          <p:cNvPr id="25" name="Slide Number Placeholder 0">
            <a:extLst xmlns:a="http://schemas.openxmlformats.org/drawingml/2006/main">
              <a:ext uri="{FF2B5EF4-FFF2-40B4-BE49-F238E27FC236}">
                <a16:creationId xmlns:a16="http://schemas.microsoft.com/office/drawing/2014/main" id="{B297E129-FB75-4595-B0BE-0BE4445E1B01}"/>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EA83FA91-883A-0168-8075-96CEB9DCA3C2}" type="slidenum">
              <a:rPr b="0"/>
              <a:t>15</a:t>
            </a:fld>
            <a:endParaRPr/>
          </a:p>
        </p:txBody>
      </p:sp>
    </p:spTree>
    <p:extLst>
      <p:ext uri="{BB962C8B-B14F-4D97-AF65-F5344CB8AC3E}">
        <p14:creationId xmlns:p14="http://schemas.microsoft.com/office/powerpoint/2010/main" val="105708953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26BD37A-AB5D-4D4E-93FC-FFD354EC13DF}"/>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Game: predict the next tool</a:t>
            </a:r>
            <a:endParaRPr sz="3200"/>
          </a:p>
        </p:txBody>
      </p:sp>
      <p:sp>
        <p:nvSpPr>
          <p:cNvPr id="4" name="Shape 1">
            <a:extLst xmlns:a="http://schemas.openxmlformats.org/drawingml/2006/main">
              <a:ext uri="{FF2B5EF4-FFF2-40B4-BE49-F238E27FC236}">
                <a16:creationId xmlns:a16="http://schemas.microsoft.com/office/drawing/2014/main" id="{38A8A912-FD4A-41AA-AFE3-A256B3D4BD68}"/>
              </a:ext>
            </a:extLst>
          </p:cNvPr>
          <p:cNvSpPr>
            <a:spLocks xmlns:a="http://schemas.openxmlformats.org/drawingml/2006/main" noGrp="1"/>
          </p:cNvSpPr>
          <p:nvPr/>
        </p:nvSpPr>
        <p:spPr>
          <a:xfrm xmlns:a="http://schemas.openxmlformats.org/drawingml/2006/main">
            <a:off x="548640" y="1645920"/>
            <a:ext cx="11064240" cy="3840480"/>
          </a:xfrm>
          <a:prstGeom xmlns:a="http://schemas.openxmlformats.org/drawingml/2006/main" prst="roundRect">
            <a:avLst>
              <a:gd name="adj" fmla="val 2381"/>
            </a:avLst>
          </a:prstGeom>
          <a:solidFill xmlns:a="http://schemas.openxmlformats.org/drawingml/2006/main">
            <a:srgbClr val="16302A"/>
          </a:solidFill>
          <a:ln xmlns:a="http://schemas.openxmlformats.org/drawingml/2006/main" w="12700">
            <a:solidFill>
              <a:srgbClr val="16302A"/>
            </a:solidFill>
            <a:prstDash val="solid"/>
          </a:ln>
        </p:spPr>
      </p:sp>
      <p:sp>
        <p:nvSpPr>
          <p:cNvPr id="5" name="Text 2">
            <a:extLst xmlns:a="http://schemas.openxmlformats.org/drawingml/2006/main">
              <a:ext uri="{FF2B5EF4-FFF2-40B4-BE49-F238E27FC236}">
                <a16:creationId xmlns:a16="http://schemas.microsoft.com/office/drawing/2014/main" id="{374CC01E-B76F-4BB2-9AF8-027A0B7697DE}"/>
              </a:ext>
            </a:extLst>
          </p:cNvPr>
          <p:cNvSpPr>
            <a:spLocks xmlns:a="http://schemas.openxmlformats.org/drawingml/2006/main" noGrp="1"/>
          </p:cNvSpPr>
          <p:nvPr/>
        </p:nvSpPr>
        <p:spPr>
          <a:xfrm xmlns:a="http://schemas.openxmlformats.org/drawingml/2006/main">
            <a:off x="822960" y="1874520"/>
            <a:ext cx="10515600" cy="3383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400"/>
              </a:spcAft>
              <a:buNone/>
            </a:pPr>
            <a:r>
              <a:rPr sz="1800">
                <a:solidFill>
                  <a:srgbClr val="F4F2EC"/>
                </a:solidFill>
                <a:latin typeface="Consolas"/>
                <a:ea typeface="Consolas"/>
                <a:cs typeface="Consolas"/>
              </a:rPr>
              <a:t>[YOU]          Veg lunch under Rs 80, and is the canteen open?</a:t>
            </a:r>
            <a:endParaRPr sz="1800"/>
          </a:p>
          <a:p xmlns:a="http://schemas.openxmlformats.org/drawingml/2006/main">
            <a:pPr marL="0" indent="0">
              <a:spcAft>
                <a:spcPts val="400"/>
              </a:spcAft>
              <a:buNone/>
            </a:pPr>
            <a:r>
              <a:rPr sz="1800" b="1">
                <a:solidFill>
                  <a:srgbClr val="F2B33D"/>
                </a:solidFill>
                <a:latin typeface="Consolas"/>
                <a:ea typeface="Consolas"/>
                <a:cs typeface="Consolas"/>
              </a:rPr>
              <a:t>[MODEL ASKS]   find_food(max_price=80, vegetarian=true)</a:t>
            </a:r>
            <a:endParaRPr sz="1800"/>
          </a:p>
          <a:p xmlns:a="http://schemas.openxmlformats.org/drawingml/2006/main">
            <a:pPr marL="0" indent="0">
              <a:spcAft>
                <a:spcPts val="400"/>
              </a:spcAft>
              <a:buNone/>
            </a:pPr>
            <a:r>
              <a:rPr sz="1800">
                <a:solidFill>
                  <a:srgbClr val="8FD6A3"/>
                </a:solidFill>
                <a:latin typeface="Consolas"/>
                <a:ea typeface="Consolas"/>
                <a:cs typeface="Consolas"/>
              </a:rPr>
              <a:t>[TOOL RESULT]  matches: [ Veg sandwich, Rs 60 ]</a:t>
            </a:r>
            <a:endParaRPr sz="1800"/>
          </a:p>
          <a:p xmlns:a="http://schemas.openxmlformats.org/drawingml/2006/main">
            <a:pPr marL="0" indent="0">
              <a:spcAft>
                <a:spcPts val="400"/>
              </a:spcAft>
              <a:buNone/>
            </a:pPr>
            <a:r>
              <a:rPr sz="1800" b="1">
                <a:solidFill>
                  <a:srgbClr val="F2B33D"/>
                </a:solidFill>
                <a:latin typeface="Consolas"/>
                <a:ea typeface="Consolas"/>
                <a:cs typeface="Consolas"/>
              </a:rPr>
              <a:t>[MODEL ASKS]   get_canteen_hours()</a:t>
            </a:r>
            <a:endParaRPr sz="1800"/>
          </a:p>
          <a:p xmlns:a="http://schemas.openxmlformats.org/drawingml/2006/main">
            <a:pPr marL="0" indent="0">
              <a:spcAft>
                <a:spcPts val="400"/>
              </a:spcAft>
              <a:buNone/>
            </a:pPr>
            <a:r>
              <a:rPr sz="1800">
                <a:solidFill>
                  <a:srgbClr val="8FD6A3"/>
                </a:solidFill>
                <a:latin typeface="Consolas"/>
                <a:ea typeface="Consolas"/>
                <a:cs typeface="Consolas"/>
              </a:rPr>
              <a:t>[TOOL RESULT]  open_now: true, closes 16:00</a:t>
            </a:r>
            <a:endParaRPr sz="1800"/>
          </a:p>
          <a:p xmlns:a="http://schemas.openxmlformats.org/drawingml/2006/main">
            <a:pPr marL="0" indent="0">
              <a:spcAft>
                <a:spcPts val="400"/>
              </a:spcAft>
              <a:buNone/>
            </a:pPr>
            <a:r>
              <a:rPr sz="1800" b="1">
                <a:solidFill>
                  <a:srgbClr val="F4F2EC"/>
                </a:solidFill>
                <a:latin typeface="Consolas"/>
                <a:ea typeface="Consolas"/>
                <a:cs typeface="Consolas"/>
              </a:rPr>
              <a:t>[ANSWER]       Veg sandwich (Rs 60). Open now, closes at 4 pm.</a:t>
            </a:r>
            <a:endParaRPr sz="1800"/>
          </a:p>
          <a:p xmlns:a="http://schemas.openxmlformats.org/drawingml/2006/main">
            <a:pPr marL="0" indent="0">
              <a:spcAft>
                <a:spcPts val="400"/>
              </a:spcAft>
              <a:buNone/>
            </a:pPr>
            <a:endParaRPr sz="1800"/>
          </a:p>
          <a:p xmlns:a="http://schemas.openxmlformats.org/drawingml/2006/main">
            <a:pPr marL="0" indent="0">
              <a:spcAft>
                <a:spcPts val="400"/>
              </a:spcAft>
              <a:buNone/>
            </a:pPr>
            <a:r>
              <a:rPr sz="1800">
                <a:solidFill>
                  <a:srgbClr val="9FB3AC"/>
                </a:solidFill>
                <a:latin typeface="Consolas"/>
                <a:ea typeface="Consolas"/>
                <a:cs typeface="Consolas"/>
              </a:rPr>
              <a:t>-- 3 model calls, 2 tool calls</a:t>
            </a:r>
            <a:endParaRPr sz="1800"/>
          </a:p>
        </p:txBody>
      </p:sp>
      <p:sp>
        <p:nvSpPr>
          <p:cNvPr id="6" name="Text 3">
            <a:extLst xmlns:a="http://schemas.openxmlformats.org/drawingml/2006/main">
              <a:ext uri="{FF2B5EF4-FFF2-40B4-BE49-F238E27FC236}">
                <a16:creationId xmlns:a16="http://schemas.microsoft.com/office/drawing/2014/main" id="{539CB7E8-703C-4B6A-845A-66F128532849}"/>
              </a:ext>
            </a:extLst>
          </p:cNvPr>
          <p:cNvSpPr>
            <a:spLocks xmlns:a="http://schemas.openxmlformats.org/drawingml/2006/main" noGrp="1"/>
          </p:cNvSpPr>
          <p:nvPr/>
        </p:nvSpPr>
        <p:spPr>
          <a:xfrm xmlns:a="http://schemas.openxmlformats.org/drawingml/2006/main">
            <a:off x="548640" y="571500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rgbClr val="E4572E"/>
                </a:solidFill>
                <a:latin typeface="Calibri"/>
                <a:ea typeface="Calibri"/>
                <a:cs typeface="Calibri"/>
              </a:rPr>
              <a:t>Guess right, win a chocolate. (Real chocolate. Not AI-generated.)</a:t>
            </a:r>
            <a:endParaRPr sz="1800"/>
          </a:p>
        </p:txBody>
      </p:sp>
      <p:sp>
        <p:nvSpPr>
          <p:cNvPr id="25" name="Slide Number Placeholder 0">
            <a:extLst xmlns:a="http://schemas.openxmlformats.org/drawingml/2006/main">
              <a:ext uri="{FF2B5EF4-FFF2-40B4-BE49-F238E27FC236}">
                <a16:creationId xmlns:a16="http://schemas.microsoft.com/office/drawing/2014/main" id="{0D4F3D76-4FF6-4045-8466-A77C80D9E370}"/>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DC9C7607-4BA3-B4DC-A00F-2E67A9FCFF7E}" type="slidenum">
              <a:rPr b="0"/>
              <a:t>16</a:t>
            </a:fld>
            <a:endParaRPr/>
          </a:p>
        </p:txBody>
      </p:sp>
    </p:spTree>
    <p:extLst>
      <p:ext uri="{BB962C8B-B14F-4D97-AF65-F5344CB8AC3E}">
        <p14:creationId xmlns:p14="http://schemas.microsoft.com/office/powerpoint/2010/main" val="1480679750"/>
      </p:ext>
    </p:extLst>
  </p:cSld>
</p:sld>
</file>

<file path=ppt/slides/slide17.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2432BE61-6728-4946-9F15-51D25AC079C7}"/>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Checkpoint 2: change and run</a:t>
            </a:r>
          </a:p>
        </p:txBody>
      </p:sp>
      <p:sp>
        <p:nvSpPr>
          <p:cNvPr id="2" name="row-label-0">
            <a:extLst xmlns:a="http://schemas.openxmlformats.org/drawingml/2006/main">
              <a:ext uri="{FF2B5EF4-FFF2-40B4-BE49-F238E27FC236}">
                <a16:creationId xmlns:a16="http://schemas.microsoft.com/office/drawing/2014/main" id="{3480792F-7EA8-449D-993E-022C7153FF68}"/>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Copy</a:t>
            </a:r>
          </a:p>
        </p:txBody>
      </p:sp>
      <p:sp>
        <p:nvSpPr>
          <p:cNvPr id="3" name="row-body-0">
            <a:extLst xmlns:a="http://schemas.openxmlformats.org/drawingml/2006/main">
              <a:ext uri="{FF2B5EF4-FFF2-40B4-BE49-F238E27FC236}">
                <a16:creationId xmlns:a16="http://schemas.microsoft.com/office/drawing/2014/main" id="{F052FF4C-7420-4473-BC57-9F5C3D8B3927}"/>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Copy starter/agent.py as practice_agent.py beside it.</a:t>
            </a:r>
          </a:p>
        </p:txBody>
      </p:sp>
      <p:sp>
        <p:nvSpPr>
          <p:cNvPr id="4" name="row-label-1">
            <a:extLst xmlns:a="http://schemas.openxmlformats.org/drawingml/2006/main">
              <a:ext uri="{FF2B5EF4-FFF2-40B4-BE49-F238E27FC236}">
                <a16:creationId xmlns:a16="http://schemas.microsoft.com/office/drawing/2014/main" id="{7EEDBA64-ED3F-4987-8F76-8ECF084DA7B9}"/>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Change</a:t>
            </a:r>
          </a:p>
        </p:txBody>
      </p:sp>
      <p:sp>
        <p:nvSpPr>
          <p:cNvPr id="5" name="row-body-1">
            <a:extLst xmlns:a="http://schemas.openxmlformats.org/drawingml/2006/main">
              <a:ext uri="{FF2B5EF4-FFF2-40B4-BE49-F238E27FC236}">
                <a16:creationId xmlns:a16="http://schemas.microsoft.com/office/drawing/2014/main" id="{0E88194B-ABD8-46DC-BC72-3C5E342DFE3E}"/>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Only QUESTION: Rs 80 becomes Rs 30.</a:t>
            </a:r>
          </a:p>
        </p:txBody>
      </p:sp>
      <p:sp>
        <p:nvSpPr>
          <p:cNvPr id="6" name="row-label-2">
            <a:extLst xmlns:a="http://schemas.openxmlformats.org/drawingml/2006/main">
              <a:ext uri="{FF2B5EF4-FFF2-40B4-BE49-F238E27FC236}">
                <a16:creationId xmlns:a16="http://schemas.microsoft.com/office/drawing/2014/main" id="{D396BF1D-6B45-4B04-A9E3-55EEDEBF786D}"/>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Check</a:t>
            </a:r>
          </a:p>
        </p:txBody>
      </p:sp>
      <p:sp>
        <p:nvSpPr>
          <p:cNvPr id="7" name="row-body-2">
            <a:extLst xmlns:a="http://schemas.openxmlformats.org/drawingml/2006/main">
              <a:ext uri="{FF2B5EF4-FFF2-40B4-BE49-F238E27FC236}">
                <a16:creationId xmlns:a16="http://schemas.microsoft.com/office/drawing/2014/main" id="{348209F5-139C-4796-B47E-D78A814C8C08}"/>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Run the copy with --offline. Explain the result.</a:t>
            </a:r>
          </a:p>
        </p:txBody>
      </p:sp>
      <p:sp>
        <p:nvSpPr>
          <p:cNvPr id="8" name="takeaway">
            <a:extLst xmlns:a="http://schemas.openxmlformats.org/drawingml/2006/main">
              <a:ext uri="{FF2B5EF4-FFF2-40B4-BE49-F238E27FC236}">
                <a16:creationId xmlns:a16="http://schemas.microsoft.com/office/drawing/2014/main" id="{271257D9-9BEF-4F70-BB3C-6440B0E701B2}"/>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Record the changed line and the result you actually observed.</a:t>
            </a:r>
          </a:p>
        </p:txBody>
      </p:sp>
      <p:sp>
        <p:nvSpPr>
          <p:cNvPr id="9" name="footer">
            <a:extLst xmlns:a="http://schemas.openxmlformats.org/drawingml/2006/main">
              <a:ext uri="{FF2B5EF4-FFF2-40B4-BE49-F238E27FC236}">
                <a16:creationId xmlns:a16="http://schemas.microsoft.com/office/drawing/2014/main" id="{9DC65A67-67A3-4834-A9F6-70011D7E33B1}"/>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3459DBB1-B755-4FA3-A296-413DAF5C9E7E}"/>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17</a:t>
            </a:r>
          </a:p>
        </p:txBody>
      </p:sp>
    </p:spTree>
    <p:extLst>
      <p:ext uri="{BB962C8B-B14F-4D97-AF65-F5344CB8AC3E}">
        <p14:creationId xmlns:p14="http://schemas.microsoft.com/office/powerpoint/2010/main" val="123207481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747FEB5-03FD-4C11-9573-12D1BD89AF66}"/>
              </a:ext>
            </a:extLst>
          </p:cNvPr>
          <p:cNvSpPr>
            <a:spLocks xmlns:a="http://schemas.openxmlformats.org/drawingml/2006/main" noGrp="1"/>
          </p:cNvSpPr>
          <p:nvPr/>
        </p:nvSpPr>
        <p:spPr>
          <a:xfrm xmlns:a="http://schemas.openxmlformats.org/drawingml/2006/main">
            <a:off x="822960" y="1828800"/>
            <a:ext cx="1051560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1D2B26"/>
                </a:solidFill>
                <a:latin typeface="Bookman Old Style"/>
                <a:ea typeface="Bookman Old Style"/>
                <a:cs typeface="Bookman Old Style"/>
              </a:rPr>
              <a:t>5-minute break</a:t>
            </a:r>
            <a:endParaRPr sz="4400"/>
          </a:p>
        </p:txBody>
      </p:sp>
      <p:sp>
        <p:nvSpPr>
          <p:cNvPr id="3" name="Text 1">
            <a:extLst xmlns:a="http://schemas.openxmlformats.org/drawingml/2006/main">
              <a:ext uri="{FF2B5EF4-FFF2-40B4-BE49-F238E27FC236}">
                <a16:creationId xmlns:a16="http://schemas.microsoft.com/office/drawing/2014/main" id="{3B2C6D77-F10B-43CA-8CEC-DDDAAD64913E}"/>
              </a:ext>
            </a:extLst>
          </p:cNvPr>
          <p:cNvSpPr>
            <a:spLocks xmlns:a="http://schemas.openxmlformats.org/drawingml/2006/main" noGrp="1"/>
          </p:cNvSpPr>
          <p:nvPr/>
        </p:nvSpPr>
        <p:spPr>
          <a:xfrm xmlns:a="http://schemas.openxmlformats.org/drawingml/2006/main">
            <a:off x="822960" y="4389120"/>
            <a:ext cx="105156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D2B26"/>
                </a:solidFill>
                <a:latin typeface="Calibri"/>
                <a:ea typeface="Calibri"/>
                <a:cs typeface="Calibri"/>
              </a:rPr>
              <a:t>Back at 12:05. Keep your practice file open.</a:t>
            </a:r>
            <a:endParaRPr sz="2400"/>
          </a:p>
        </p:txBody>
      </p:sp>
    </p:spTree>
    <p:extLst>
      <p:ext uri="{BB962C8B-B14F-4D97-AF65-F5344CB8AC3E}">
        <p14:creationId xmlns:p14="http://schemas.microsoft.com/office/powerpoint/2010/main" val="1915722540"/>
      </p:ext>
    </p:extLst>
  </p:cSld>
</p:sld>
</file>

<file path=ppt/slides/slide19.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lesson-title">
            <a:extLst xmlns:a="http://schemas.openxmlformats.org/drawingml/2006/main">
              <a:ext uri="{FF2B5EF4-FFF2-40B4-BE49-F238E27FC236}">
                <a16:creationId xmlns:a16="http://schemas.microsoft.com/office/drawing/2014/main" id="{69BA9A89-D97D-46DF-BAD2-2F8FB28E9EF9}"/>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buNone/>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Review the path to the user</a:t>
            </a:r>
          </a:p>
        </p:txBody>
      </p:sp>
      <p:sp>
        <p:nvSpPr>
          <p:cNvPr id="2" name="row-label-0">
            <a:extLst xmlns:a="http://schemas.openxmlformats.org/drawingml/2006/main">
              <a:ext uri="{FF2B5EF4-FFF2-40B4-BE49-F238E27FC236}">
                <a16:creationId xmlns:a16="http://schemas.microsoft.com/office/drawing/2014/main" id="{642F4F05-52CA-4C29-BD0D-9B1F8D3A3BBD}"/>
              </a:ext>
            </a:extLst>
          </p:cNvPr>
          <p:cNvSpPr>
            <a:spLocks xmlns:a="http://schemas.openxmlformats.org/drawingml/2006/main" noGrp="1"/>
          </p:cNvSpPr>
          <p:nvPr/>
        </p:nvSpPr>
        <p:spPr>
          <a:xfrm xmlns:a="http://schemas.openxmlformats.org/drawingml/2006/main">
            <a:off x="666750" y="171450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buNone/>
              <a:defRPr sz="2175" b="1">
                <a:solidFill>
                  <a:srgbClr val="3B9C5A"/>
                </a:solidFill>
                <a:latin typeface="Calibri"/>
                <a:ea typeface="Calibri"/>
                <a:cs typeface="Calibri"/>
              </a:defRPr>
            </a:pPr>
            <a:r>
              <a:rPr sz="2175" b="1">
                <a:solidFill>
                  <a:srgbClr val="3B9C5A"/>
                </a:solidFill>
                <a:latin typeface="Calibri"/>
                <a:ea typeface="Calibri"/>
                <a:cs typeface="Calibri"/>
              </a:rPr>
              <a:t>Requirement</a:t>
            </a:r>
          </a:p>
        </p:txBody>
      </p:sp>
      <p:sp>
        <p:nvSpPr>
          <p:cNvPr id="3" name="row-body-0">
            <a:extLst xmlns:a="http://schemas.openxmlformats.org/drawingml/2006/main">
              <a:ext uri="{FF2B5EF4-FFF2-40B4-BE49-F238E27FC236}">
                <a16:creationId xmlns:a16="http://schemas.microsoft.com/office/drawing/2014/main" id="{BA301DFD-6668-4508-BB20-6B482640DAC8}"/>
              </a:ext>
            </a:extLst>
          </p:cNvPr>
          <p:cNvSpPr>
            <a:spLocks xmlns:a="http://schemas.openxmlformats.org/drawingml/2006/main" noGrp="1"/>
          </p:cNvSpPr>
          <p:nvPr/>
        </p:nvSpPr>
        <p:spPr>
          <a:xfrm xmlns:a="http://schemas.openxmlformats.org/drawingml/2006/main">
            <a:off x="3143250" y="1714500"/>
            <a:ext cx="8210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buNone/>
              <a:defRPr sz="2175" b="0">
                <a:solidFill>
                  <a:srgbClr val="1D2B26"/>
                </a:solidFill>
                <a:latin typeface="Calibri"/>
                <a:ea typeface="Calibri"/>
                <a:cs typeface="Calibri"/>
              </a:defRPr>
            </a:pPr>
            <a:r>
              <a:rPr sz="2175" b="0">
                <a:solidFill>
                  <a:srgbClr val="1D2B26"/>
                </a:solidFill>
                <a:latin typeface="Calibri"/>
                <a:ea typeface="Calibri"/>
                <a:cs typeface="Calibri"/>
              </a:rPr>
              <a:t>What must this change do?</a:t>
            </a:r>
          </a:p>
        </p:txBody>
      </p:sp>
      <p:sp>
        <p:nvSpPr>
          <p:cNvPr id="4" name="row-label-1">
            <a:extLst xmlns:a="http://schemas.openxmlformats.org/drawingml/2006/main">
              <a:ext uri="{FF2B5EF4-FFF2-40B4-BE49-F238E27FC236}">
                <a16:creationId xmlns:a16="http://schemas.microsoft.com/office/drawing/2014/main" id="{7561702C-DE2A-4FED-B7D4-5D7B795BDCA1}"/>
              </a:ext>
            </a:extLst>
          </p:cNvPr>
          <p:cNvSpPr>
            <a:spLocks xmlns:a="http://schemas.openxmlformats.org/drawingml/2006/main" noGrp="1"/>
          </p:cNvSpPr>
          <p:nvPr/>
        </p:nvSpPr>
        <p:spPr>
          <a:xfrm xmlns:a="http://schemas.openxmlformats.org/drawingml/2006/main">
            <a:off x="666750" y="27241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buNone/>
              <a:defRPr sz="2175" b="1">
                <a:solidFill>
                  <a:srgbClr val="3B9C5A"/>
                </a:solidFill>
                <a:latin typeface="Calibri"/>
                <a:ea typeface="Calibri"/>
                <a:cs typeface="Calibri"/>
              </a:defRPr>
            </a:pPr>
            <a:r>
              <a:rPr sz="2175" b="1">
                <a:solidFill>
                  <a:srgbClr val="3B9C5A"/>
                </a:solidFill>
                <a:latin typeface="Calibri"/>
                <a:ea typeface="Calibri"/>
                <a:cs typeface="Calibri"/>
              </a:rPr>
              <a:t>Diff</a:t>
            </a:r>
          </a:p>
        </p:txBody>
      </p:sp>
      <p:sp>
        <p:nvSpPr>
          <p:cNvPr id="5" name="row-body-1">
            <a:extLst xmlns:a="http://schemas.openxmlformats.org/drawingml/2006/main">
              <a:ext uri="{FF2B5EF4-FFF2-40B4-BE49-F238E27FC236}">
                <a16:creationId xmlns:a16="http://schemas.microsoft.com/office/drawing/2014/main" id="{D185139E-6683-460F-9B68-2523F33384B9}"/>
              </a:ext>
            </a:extLst>
          </p:cNvPr>
          <p:cNvSpPr>
            <a:spLocks xmlns:a="http://schemas.openxmlformats.org/drawingml/2006/main" noGrp="1"/>
          </p:cNvSpPr>
          <p:nvPr/>
        </p:nvSpPr>
        <p:spPr>
          <a:xfrm xmlns:a="http://schemas.openxmlformats.org/drawingml/2006/main">
            <a:off x="3143250" y="2724150"/>
            <a:ext cx="8210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buNone/>
              <a:defRPr sz="2175" b="0">
                <a:solidFill>
                  <a:srgbClr val="1D2B26"/>
                </a:solidFill>
                <a:latin typeface="Calibri"/>
                <a:ea typeface="Calibri"/>
                <a:cs typeface="Calibri"/>
              </a:defRPr>
            </a:pPr>
            <a:r>
              <a:rPr sz="2175" b="0">
                <a:solidFill>
                  <a:srgbClr val="1D2B26"/>
                </a:solidFill>
                <a:latin typeface="Calibri"/>
                <a:ea typeface="Calibri"/>
                <a:cs typeface="Calibri"/>
              </a:rPr>
              <a:t>What changed, including removed lines?</a:t>
            </a:r>
          </a:p>
        </p:txBody>
      </p:sp>
      <p:sp>
        <p:nvSpPr>
          <p:cNvPr id="6" name="row-label-2">
            <a:extLst xmlns:a="http://schemas.openxmlformats.org/drawingml/2006/main">
              <a:ext uri="{FF2B5EF4-FFF2-40B4-BE49-F238E27FC236}">
                <a16:creationId xmlns:a16="http://schemas.microsoft.com/office/drawing/2014/main" id="{AC82BBD0-8847-451E-8831-1FD6284E27BB}"/>
              </a:ext>
            </a:extLst>
          </p:cNvPr>
          <p:cNvSpPr>
            <a:spLocks xmlns:a="http://schemas.openxmlformats.org/drawingml/2006/main" noGrp="1"/>
          </p:cNvSpPr>
          <p:nvPr/>
        </p:nvSpPr>
        <p:spPr>
          <a:xfrm xmlns:a="http://schemas.openxmlformats.org/drawingml/2006/main">
            <a:off x="666750" y="373380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buNone/>
              <a:defRPr sz="2175" b="1">
                <a:solidFill>
                  <a:srgbClr val="3B9C5A"/>
                </a:solidFill>
                <a:latin typeface="Calibri"/>
                <a:ea typeface="Calibri"/>
                <a:cs typeface="Calibri"/>
              </a:defRPr>
            </a:pPr>
            <a:r>
              <a:rPr sz="2175" b="1">
                <a:solidFill>
                  <a:srgbClr val="3B9C5A"/>
                </a:solidFill>
                <a:latin typeface="Calibri"/>
                <a:ea typeface="Calibri"/>
                <a:cs typeface="Calibri"/>
              </a:rPr>
              <a:t>Flow</a:t>
            </a:r>
          </a:p>
        </p:txBody>
      </p:sp>
      <p:sp>
        <p:nvSpPr>
          <p:cNvPr id="7" name="row-body-2">
            <a:extLst xmlns:a="http://schemas.openxmlformats.org/drawingml/2006/main">
              <a:ext uri="{FF2B5EF4-FFF2-40B4-BE49-F238E27FC236}">
                <a16:creationId xmlns:a16="http://schemas.microsoft.com/office/drawing/2014/main" id="{A5E8AE89-693B-490F-B1F9-85C94F960CF2}"/>
              </a:ext>
            </a:extLst>
          </p:cNvPr>
          <p:cNvSpPr>
            <a:spLocks xmlns:a="http://schemas.openxmlformats.org/drawingml/2006/main" noGrp="1"/>
          </p:cNvSpPr>
          <p:nvPr/>
        </p:nvSpPr>
        <p:spPr>
          <a:xfrm xmlns:a="http://schemas.openxmlformats.org/drawingml/2006/main">
            <a:off x="3143250" y="3733800"/>
            <a:ext cx="8210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buNone/>
              <a:defRPr sz="2175" b="0">
                <a:solidFill>
                  <a:srgbClr val="1D2B26"/>
                </a:solidFill>
                <a:latin typeface="Calibri"/>
                <a:ea typeface="Calibri"/>
                <a:cs typeface="Calibri"/>
              </a:defRPr>
            </a:pPr>
            <a:r>
              <a:rPr sz="2175" b="0">
                <a:solidFill>
                  <a:srgbClr val="1D2B26"/>
                </a:solidFill>
                <a:latin typeface="Calibri"/>
                <a:ea typeface="Calibri"/>
                <a:cs typeface="Calibri"/>
              </a:rPr>
              <a:t>Input → validation → tool → result → answer</a:t>
            </a:r>
          </a:p>
        </p:txBody>
      </p:sp>
      <p:sp>
        <p:nvSpPr>
          <p:cNvPr id="8" name="row-label-3">
            <a:extLst xmlns:a="http://schemas.openxmlformats.org/drawingml/2006/main">
              <a:ext uri="{FF2B5EF4-FFF2-40B4-BE49-F238E27FC236}">
                <a16:creationId xmlns:a16="http://schemas.microsoft.com/office/drawing/2014/main" id="{174E6344-9AAA-4EA0-B3E7-D2F8171BB3F1}"/>
              </a:ext>
            </a:extLst>
          </p:cNvPr>
          <p:cNvSpPr>
            <a:spLocks xmlns:a="http://schemas.openxmlformats.org/drawingml/2006/main" noGrp="1"/>
          </p:cNvSpPr>
          <p:nvPr/>
        </p:nvSpPr>
        <p:spPr>
          <a:xfrm xmlns:a="http://schemas.openxmlformats.org/drawingml/2006/main">
            <a:off x="666750" y="47434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buNone/>
              <a:defRPr sz="2175" b="1">
                <a:solidFill>
                  <a:srgbClr val="3B9C5A"/>
                </a:solidFill>
                <a:latin typeface="Calibri"/>
                <a:ea typeface="Calibri"/>
                <a:cs typeface="Calibri"/>
              </a:defRPr>
            </a:pPr>
            <a:r>
              <a:rPr sz="2175" b="1">
                <a:solidFill>
                  <a:srgbClr val="3B9C5A"/>
                </a:solidFill>
                <a:latin typeface="Calibri"/>
                <a:ea typeface="Calibri"/>
                <a:cs typeface="Calibri"/>
              </a:rPr>
              <a:t>Evidence</a:t>
            </a:r>
          </a:p>
        </p:txBody>
      </p:sp>
      <p:sp>
        <p:nvSpPr>
          <p:cNvPr id="9" name="row-body-3">
            <a:extLst xmlns:a="http://schemas.openxmlformats.org/drawingml/2006/main">
              <a:ext uri="{FF2B5EF4-FFF2-40B4-BE49-F238E27FC236}">
                <a16:creationId xmlns:a16="http://schemas.microsoft.com/office/drawing/2014/main" id="{61494945-ABC6-42B9-A27D-533FAB058611}"/>
              </a:ext>
            </a:extLst>
          </p:cNvPr>
          <p:cNvSpPr>
            <a:spLocks xmlns:a="http://schemas.openxmlformats.org/drawingml/2006/main" noGrp="1"/>
          </p:cNvSpPr>
          <p:nvPr/>
        </p:nvSpPr>
        <p:spPr>
          <a:xfrm xmlns:a="http://schemas.openxmlformats.org/drawingml/2006/main">
            <a:off x="3143250" y="4743450"/>
            <a:ext cx="8210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buNone/>
              <a:defRPr sz="2175" b="0">
                <a:solidFill>
                  <a:srgbClr val="1D2B26"/>
                </a:solidFill>
                <a:latin typeface="Calibri"/>
                <a:ea typeface="Calibri"/>
                <a:cs typeface="Calibri"/>
              </a:defRPr>
            </a:pPr>
            <a:r>
              <a:rPr sz="2175" b="0">
                <a:solidFill>
                  <a:srgbClr val="1D2B26"/>
                </a:solidFill>
                <a:latin typeface="Calibri"/>
                <a:ea typeface="Calibri"/>
                <a:cs typeface="Calibri"/>
              </a:rPr>
              <a:t>Normal, boundary and failed-source checks</a:t>
            </a:r>
          </a:p>
        </p:txBody>
      </p:sp>
      <p:sp>
        <p:nvSpPr>
          <p:cNvPr id="10" name="lesson-takeaway">
            <a:extLst xmlns:a="http://schemas.openxmlformats.org/drawingml/2006/main">
              <a:ext uri="{FF2B5EF4-FFF2-40B4-BE49-F238E27FC236}">
                <a16:creationId xmlns:a16="http://schemas.microsoft.com/office/drawing/2014/main" id="{9193D63B-2E54-477F-9537-85189C5BA074}"/>
              </a:ext>
            </a:extLst>
          </p:cNvPr>
          <p:cNvSpPr>
            <a:spLocks xmlns:a="http://schemas.openxmlformats.org/drawingml/2006/main" noGrp="1"/>
          </p:cNvSpPr>
          <p:nvPr/>
        </p:nvSpPr>
        <p:spPr>
          <a:xfrm xmlns:a="http://schemas.openxmlformats.org/drawingml/2006/main">
            <a:off x="666750" y="581025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buNone/>
              <a:defRPr sz="1800" b="1">
                <a:solidFill>
                  <a:srgbClr val="1E3A32"/>
                </a:solidFill>
                <a:latin typeface="Calibri"/>
                <a:ea typeface="Calibri"/>
                <a:cs typeface="Calibri"/>
              </a:defRPr>
            </a:pPr>
            <a:r>
              <a:rPr sz="1800" b="1">
                <a:solidFill>
                  <a:srgbClr val="1E3A32"/>
                </a:solidFill>
                <a:latin typeface="Calibri"/>
                <a:ea typeface="Calibri"/>
                <a:cs typeface="Calibri"/>
              </a:rPr>
              <a:t>Use the editor's diff view; in a Git project, inspect git diff.</a:t>
            </a:r>
          </a:p>
        </p:txBody>
      </p:sp>
      <p:sp>
        <p:nvSpPr>
          <p:cNvPr id="11" name="footer">
            <a:extLst xmlns:a="http://schemas.openxmlformats.org/drawingml/2006/main">
              <a:ext uri="{FF2B5EF4-FFF2-40B4-BE49-F238E27FC236}">
                <a16:creationId xmlns:a16="http://schemas.microsoft.com/office/drawing/2014/main" id="{51F7DE5B-D95A-46DD-A887-86D511F14486}"/>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buNone/>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2" name="slide-number">
            <a:extLst xmlns:a="http://schemas.openxmlformats.org/drawingml/2006/main">
              <a:ext uri="{FF2B5EF4-FFF2-40B4-BE49-F238E27FC236}">
                <a16:creationId xmlns:a16="http://schemas.microsoft.com/office/drawing/2014/main" id="{02EE37BA-9E23-4862-9394-3A7E1BA35F21}"/>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buNone/>
              <a:defRPr sz="1050" b="0">
                <a:solidFill>
                  <a:srgbClr val="5C6B66"/>
                </a:solidFill>
                <a:latin typeface="Calibri"/>
                <a:ea typeface="Calibri"/>
                <a:cs typeface="Calibri"/>
              </a:defRPr>
            </a:pPr>
            <a:r>
              <a:rPr sz="1050" b="0">
                <a:solidFill>
                  <a:srgbClr val="5C6B66"/>
                </a:solidFill>
                <a:latin typeface="Calibri"/>
                <a:ea typeface="Calibri"/>
                <a:cs typeface="Calibri"/>
              </a:rPr>
              <a:t>19</a:t>
            </a:r>
          </a:p>
        </p:txBody>
      </p:sp>
    </p:spTree>
    <p:extLst>
      <p:ext uri="{BB962C8B-B14F-4D97-AF65-F5344CB8AC3E}">
        <p14:creationId xmlns:p14="http://schemas.microsoft.com/office/powerpoint/2010/main" val="2142211984"/>
      </p:ext>
    </p:extLst>
  </p:cSld>
</p:sld>
</file>

<file path=ppt/slides/slide20.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7C1232DE-2C76-476F-859A-D8FD8BE90D25}"/>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buNone/>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24 tests passed. The answer was still wrong.</a:t>
            </a:r>
          </a:p>
        </p:txBody>
      </p:sp>
      <p:sp>
        <p:nvSpPr>
          <p:cNvPr id="2" name="lesson-example">
            <a:extLst xmlns:a="http://schemas.openxmlformats.org/drawingml/2006/main">
              <a:ext uri="{FF2B5EF4-FFF2-40B4-BE49-F238E27FC236}">
                <a16:creationId xmlns:a16="http://schemas.microsoft.com/office/drawing/2014/main" id="{B3D7033B-5F5D-4520-A6D9-AB5B6B5359F7}"/>
              </a:ext>
            </a:extLst>
          </p:cNvPr>
          <p:cNvSpPr>
            <a:spLocks xmlns:a="http://schemas.openxmlformats.org/drawingml/2006/main" noGrp="1"/>
          </p:cNvSpPr>
          <p:nvPr/>
        </p:nvSpPr>
        <p:spPr>
          <a:xfrm xmlns:a="http://schemas.openxmlformats.org/drawingml/2006/main">
            <a:off x="647700" y="1714500"/>
            <a:ext cx="5905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E3A32"/>
                </a:solidFill>
                <a:latin typeface="Consolas"/>
                <a:ea typeface="Consolas"/>
                <a:cs typeface="Consolas"/>
              </a:defRPr>
            </a:defPPr>
          </a:lstStyle>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recommended_dishes: ["Veg sandwich"]</a:t>
            </a:r>
          </a:p>
          <a:p xmlns:a="http://schemas.openxmlformats.org/drawingml/2006/main">
            <a:r>
              <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message:</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"Try the Paneer Tikka Wrap.</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Open until 22:00."</a:t>
            </a:r>
          </a:p>
          <a:p xmlns:a="http://schemas.openxmlformats.org/drawingml/2006/main">
            <a:r>
              <a:t/>
            </a:r>
          </a:p>
          <a:p xmlns:a="http://schemas.openxmlformats.org/drawingml/2006/main">
            <a:pPr>
              <a:buNone/>
              <a:defRPr sz="1875" b="0">
                <a:solidFill>
                  <a:srgbClr val="1E3A32"/>
                </a:solidFill>
                <a:latin typeface="Consolas"/>
                <a:ea typeface="Consolas"/>
                <a:cs typeface="Consolas"/>
              </a:defRPr>
            </a:pPr>
            <a:r>
              <a:rPr sz="1875" b="0">
                <a:solidFill>
                  <a:srgbClr val="1E3A32"/>
                </a:solidFill>
                <a:latin typeface="Consolas"/>
                <a:ea typeface="Consolas"/>
                <a:cs typeface="Consolas"/>
              </a:rPr>
              <a:t>The checked list was valid.</a:t>
            </a:r>
          </a:p>
        </p:txBody>
      </p:sp>
      <p:sp>
        <p:nvSpPr>
          <p:cNvPr id="3" name="lesson-explanation">
            <a:extLst xmlns:a="http://schemas.openxmlformats.org/drawingml/2006/main">
              <a:ext uri="{FF2B5EF4-FFF2-40B4-BE49-F238E27FC236}">
                <a16:creationId xmlns:a16="http://schemas.microsoft.com/office/drawing/2014/main" id="{F02EC2FD-1E31-469D-B781-75A19D6EE6AB}"/>
              </a:ext>
            </a:extLst>
          </p:cNvPr>
          <p:cNvSpPr>
            <a:spLocks xmlns:a="http://schemas.openxmlformats.org/drawingml/2006/main" noGrp="1"/>
          </p:cNvSpPr>
          <p:nvPr/>
        </p:nvSpPr>
        <p:spPr>
          <a:xfrm xmlns:a="http://schemas.openxmlformats.org/drawingml/2006/main">
            <a:off x="7067550" y="1714500"/>
            <a:ext cx="4381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D2B26"/>
                </a:solidFill>
                <a:latin typeface="Calibri"/>
                <a:ea typeface="Calibri"/>
                <a:cs typeface="Calibri"/>
              </a:defRPr>
            </a:defPPr>
          </a:lstStyle>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check(reply["recommended_dishes"])</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return reply["message"]</a:t>
            </a:r>
          </a:p>
          <a:p xmlns:a="http://schemas.openxmlformats.org/drawingml/2006/main">
            <a:r>
              <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Which value reaches the user?</a:t>
            </a:r>
          </a:p>
          <a:p xmlns:a="http://schemas.openxmlformats.org/drawingml/2006/main">
            <a:pPr>
              <a:buNone/>
              <a:defRPr sz="2100" b="0">
                <a:solidFill>
                  <a:srgbClr val="1D2B26"/>
                </a:solidFill>
                <a:latin typeface="Calibri"/>
                <a:ea typeface="Calibri"/>
                <a:cs typeface="Calibri"/>
              </a:defRPr>
            </a:pPr>
            <a:r>
              <a:rPr sz="2100" b="0">
                <a:solidFill>
                  <a:srgbClr val="1D2B26"/>
                </a:solidFill>
                <a:latin typeface="Calibri"/>
                <a:ea typeface="Calibri"/>
                <a:cs typeface="Calibri"/>
              </a:rPr>
              <a:t>What test did we miss?</a:t>
            </a:r>
          </a:p>
        </p:txBody>
      </p:sp>
      <p:sp>
        <p:nvSpPr>
          <p:cNvPr id="4" name="footer">
            <a:extLst xmlns:a="http://schemas.openxmlformats.org/drawingml/2006/main">
              <a:ext uri="{FF2B5EF4-FFF2-40B4-BE49-F238E27FC236}">
                <a16:creationId xmlns:a16="http://schemas.microsoft.com/office/drawing/2014/main" id="{B442305E-20AE-4976-BB27-392233E70FD8}"/>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buNone/>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B009AF04-44D0-42DC-B6F2-8B4BD474E597}"/>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buNone/>
              <a:defRPr sz="1050" b="0">
                <a:solidFill>
                  <a:srgbClr val="5C6B66"/>
                </a:solidFill>
                <a:latin typeface="Calibri"/>
                <a:ea typeface="Calibri"/>
                <a:cs typeface="Calibri"/>
              </a:defRPr>
            </a:pPr>
            <a:r>
              <a:rPr sz="1050" b="0">
                <a:solidFill>
                  <a:srgbClr val="5C6B66"/>
                </a:solidFill>
                <a:latin typeface="Calibri"/>
                <a:ea typeface="Calibri"/>
                <a:cs typeface="Calibri"/>
              </a:rPr>
              <a:t>20</a:t>
            </a:r>
          </a:p>
        </p:txBody>
      </p:sp>
    </p:spTree>
    <p:extLst>
      <p:ext uri="{BB962C8B-B14F-4D97-AF65-F5344CB8AC3E}">
        <p14:creationId xmlns:p14="http://schemas.microsoft.com/office/powerpoint/2010/main" val="1291730871"/>
      </p:ext>
    </p:extLst>
  </p:cSld>
</p:sld>
</file>

<file path=ppt/slides/slide2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6" name="lesson-title">
            <a:extLst xmlns:a="http://schemas.openxmlformats.org/drawingml/2006/main">
              <a:ext uri="{FF2B5EF4-FFF2-40B4-BE49-F238E27FC236}">
                <a16:creationId xmlns:a16="http://schemas.microsoft.com/office/drawing/2014/main" id="{27171098-1B57-4DBA-9BB1-AD28AEF54849}"/>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Checkpoint 3: review the answer</a:t>
            </a:r>
          </a:p>
        </p:txBody>
      </p:sp>
      <p:sp>
        <p:nvSpPr>
          <p:cNvPr id="2" name="code-example">
            <a:extLst xmlns:a="http://schemas.openxmlformats.org/drawingml/2006/main">
              <a:ext uri="{FF2B5EF4-FFF2-40B4-BE49-F238E27FC236}">
                <a16:creationId xmlns:a16="http://schemas.microsoft.com/office/drawing/2014/main" id="{E9D5A54A-E082-44F5-A5A4-E865CF522D2C}"/>
              </a:ext>
            </a:extLst>
          </p:cNvPr>
          <p:cNvSpPr>
            <a:spLocks xmlns:a="http://schemas.openxmlformats.org/drawingml/2006/main" noGrp="1"/>
          </p:cNvSpPr>
          <p:nvPr/>
        </p:nvSpPr>
        <p:spPr>
          <a:xfrm xmlns:a="http://schemas.openxmlformats.org/drawingml/2006/main">
            <a:off x="742950" y="1714500"/>
            <a:ext cx="10763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E3A32"/>
                </a:solidFill>
                <a:latin typeface="Consolas"/>
                <a:ea typeface="Consolas"/>
                <a:cs typeface="Consolas"/>
              </a:defRPr>
            </a:defPPr>
          </a:lstStyle>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check(reply["recommended_dishes"])</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return reply["message"]</a:t>
            </a:r>
          </a:p>
          <a:p xmlns:a="http://schemas.openxmlformats.org/drawingml/2006/main">
            <a:r>
              <a:t/>
            </a:r>
          </a:p>
          <a:p xmlns:a="http://schemas.openxmlformats.org/drawingml/2006/main">
            <a:pPr>
              <a:defRPr sz="1950" b="0">
                <a:solidFill>
                  <a:srgbClr val="1E3A32"/>
                </a:solidFill>
                <a:latin typeface="Consolas"/>
                <a:ea typeface="Consolas"/>
                <a:cs typeface="Consolas"/>
              </a:defRPr>
            </a:pPr>
            <a:r>
              <a:rPr sz="1950" b="0">
                <a:solidFill>
                  <a:srgbClr val="1E3A32"/>
                </a:solidFill>
                <a:latin typeface="Consolas"/>
                <a:ea typeface="Consolas"/>
                <a:cs typeface="Consolas"/>
              </a:rPr>
              <a:t># The list can be valid while the message is wrong.</a:t>
            </a:r>
          </a:p>
        </p:txBody>
      </p:sp>
      <p:sp>
        <p:nvSpPr>
          <p:cNvPr id="3" name="takeaway">
            <a:extLst xmlns:a="http://schemas.openxmlformats.org/drawingml/2006/main">
              <a:ext uri="{FF2B5EF4-FFF2-40B4-BE49-F238E27FC236}">
                <a16:creationId xmlns:a16="http://schemas.microsoft.com/office/drawing/2014/main" id="{8F375127-F6E3-4A81-9E03-C3E9B3CE9E1E}"/>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Record the unchecked value and one check that catches it.</a:t>
            </a:r>
          </a:p>
        </p:txBody>
      </p:sp>
      <p:sp>
        <p:nvSpPr>
          <p:cNvPr id="4" name="footer">
            <a:extLst xmlns:a="http://schemas.openxmlformats.org/drawingml/2006/main">
              <a:ext uri="{FF2B5EF4-FFF2-40B4-BE49-F238E27FC236}">
                <a16:creationId xmlns:a16="http://schemas.microsoft.com/office/drawing/2014/main" id="{4E7AC003-4B4B-45FD-9202-E5E45414FACF}"/>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5" name="slide-number">
            <a:extLst xmlns:a="http://schemas.openxmlformats.org/drawingml/2006/main">
              <a:ext uri="{FF2B5EF4-FFF2-40B4-BE49-F238E27FC236}">
                <a16:creationId xmlns:a16="http://schemas.microsoft.com/office/drawing/2014/main" id="{1EFD88BB-F70E-49F2-BA69-517B2B2D3908}"/>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21</a:t>
            </a:r>
          </a:p>
        </p:txBody>
      </p:sp>
    </p:spTree>
    <p:extLst>
      <p:ext uri="{BB962C8B-B14F-4D97-AF65-F5344CB8AC3E}">
        <p14:creationId xmlns:p14="http://schemas.microsoft.com/office/powerpoint/2010/main" val="94467310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BE27B58-A6A0-44CE-BA4D-702006F8C647}"/>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Overconfident AI strikes again</a:t>
            </a:r>
            <a:endParaRPr sz="3200"/>
          </a:p>
        </p:txBody>
      </p:sp>
      <p:sp>
        <p:nvSpPr>
          <p:cNvPr id="4" name="Shape 1">
            <a:extLst xmlns:a="http://schemas.openxmlformats.org/drawingml/2006/main">
              <a:ext uri="{FF2B5EF4-FFF2-40B4-BE49-F238E27FC236}">
                <a16:creationId xmlns:a16="http://schemas.microsoft.com/office/drawing/2014/main" id="{A406EBA1-0D8D-44A4-8682-3959EC41855A}"/>
              </a:ext>
            </a:extLst>
          </p:cNvPr>
          <p:cNvSpPr>
            <a:spLocks xmlns:a="http://schemas.openxmlformats.org/drawingml/2006/main" noGrp="1"/>
          </p:cNvSpPr>
          <p:nvPr/>
        </p:nvSpPr>
        <p:spPr>
          <a:xfrm xmlns:a="http://schemas.openxmlformats.org/drawingml/2006/main">
            <a:off x="548640" y="1554480"/>
            <a:ext cx="249174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3B9C5A"/>
            </a:solidFill>
            <a:prstDash val="solid"/>
          </a:ln>
        </p:spPr>
      </p:sp>
      <p:sp>
        <p:nvSpPr>
          <p:cNvPr id="5" name="Text 2">
            <a:extLst xmlns:a="http://schemas.openxmlformats.org/drawingml/2006/main">
              <a:ext uri="{FF2B5EF4-FFF2-40B4-BE49-F238E27FC236}">
                <a16:creationId xmlns:a16="http://schemas.microsoft.com/office/drawing/2014/main" id="{5B8C0BF9-C9D1-4832-9F9E-769FF5E007D0}"/>
              </a:ext>
            </a:extLst>
          </p:cNvPr>
          <p:cNvSpPr>
            <a:spLocks xmlns:a="http://schemas.openxmlformats.org/drawingml/2006/main" noGrp="1"/>
          </p:cNvSpPr>
          <p:nvPr/>
        </p:nvSpPr>
        <p:spPr>
          <a:xfrm xmlns:a="http://schemas.openxmlformats.org/drawingml/2006/main">
            <a:off x="658368" y="1691640"/>
            <a:ext cx="22722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Read request</a:t>
            </a:r>
            <a:endParaRPr sz="1800"/>
          </a:p>
        </p:txBody>
      </p:sp>
      <p:sp>
        <p:nvSpPr>
          <p:cNvPr id="6" name="Text 3">
            <a:extLst xmlns:a="http://schemas.openxmlformats.org/drawingml/2006/main">
              <a:ext uri="{FF2B5EF4-FFF2-40B4-BE49-F238E27FC236}">
                <a16:creationId xmlns:a16="http://schemas.microsoft.com/office/drawing/2014/main" id="{147B1C2E-6AB5-4216-9C27-392D1269FD99}"/>
              </a:ext>
            </a:extLst>
          </p:cNvPr>
          <p:cNvSpPr>
            <a:spLocks xmlns:a="http://schemas.openxmlformats.org/drawingml/2006/main" noGrp="1"/>
          </p:cNvSpPr>
          <p:nvPr/>
        </p:nvSpPr>
        <p:spPr>
          <a:xfrm xmlns:a="http://schemas.openxmlformats.org/drawingml/2006/main">
            <a:off x="658368" y="2423160"/>
            <a:ext cx="227228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code</a:t>
            </a:r>
            <a:endParaRPr sz="1500"/>
          </a:p>
        </p:txBody>
      </p:sp>
      <p:sp>
        <p:nvSpPr>
          <p:cNvPr id="7" name="Shape 4">
            <a:extLst xmlns:a="http://schemas.openxmlformats.org/drawingml/2006/main">
              <a:ext uri="{FF2B5EF4-FFF2-40B4-BE49-F238E27FC236}">
                <a16:creationId xmlns:a16="http://schemas.microsoft.com/office/drawing/2014/main" id="{4FC12573-DD8E-415D-8761-5D0F6B936FE7}"/>
              </a:ext>
            </a:extLst>
          </p:cNvPr>
          <p:cNvSpPr>
            <a:spLocks xmlns:a="http://schemas.openxmlformats.org/drawingml/2006/main" noGrp="1"/>
          </p:cNvSpPr>
          <p:nvPr/>
        </p:nvSpPr>
        <p:spPr>
          <a:xfrm xmlns:a="http://schemas.openxmlformats.org/drawingml/2006/main">
            <a:off x="3076956" y="221742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8" name="Shape 5">
            <a:extLst xmlns:a="http://schemas.openxmlformats.org/drawingml/2006/main">
              <a:ext uri="{FF2B5EF4-FFF2-40B4-BE49-F238E27FC236}">
                <a16:creationId xmlns:a16="http://schemas.microsoft.com/office/drawing/2014/main" id="{DE1F9F1A-CE38-4542-A89B-3F6336B39826}"/>
              </a:ext>
            </a:extLst>
          </p:cNvPr>
          <p:cNvSpPr>
            <a:spLocks xmlns:a="http://schemas.openxmlformats.org/drawingml/2006/main" noGrp="1"/>
          </p:cNvSpPr>
          <p:nvPr/>
        </p:nvSpPr>
        <p:spPr>
          <a:xfrm xmlns:a="http://schemas.openxmlformats.org/drawingml/2006/main">
            <a:off x="3406140" y="1554480"/>
            <a:ext cx="249174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3B9C5A"/>
            </a:solidFill>
            <a:prstDash val="solid"/>
          </a:ln>
        </p:spPr>
      </p:sp>
      <p:sp>
        <p:nvSpPr>
          <p:cNvPr id="9" name="Text 6">
            <a:extLst xmlns:a="http://schemas.openxmlformats.org/drawingml/2006/main">
              <a:ext uri="{FF2B5EF4-FFF2-40B4-BE49-F238E27FC236}">
                <a16:creationId xmlns:a16="http://schemas.microsoft.com/office/drawing/2014/main" id="{5AD7166F-06B6-47E5-81C2-F9A68F141510}"/>
              </a:ext>
            </a:extLst>
          </p:cNvPr>
          <p:cNvSpPr>
            <a:spLocks xmlns:a="http://schemas.openxmlformats.org/drawingml/2006/main" noGrp="1"/>
          </p:cNvSpPr>
          <p:nvPr/>
        </p:nvSpPr>
        <p:spPr>
          <a:xfrm xmlns:a="http://schemas.openxmlformats.org/drawingml/2006/main">
            <a:off x="3515868" y="1691640"/>
            <a:ext cx="22722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ReAct agent</a:t>
            </a:r>
            <a:endParaRPr sz="1800"/>
          </a:p>
        </p:txBody>
      </p:sp>
      <p:sp>
        <p:nvSpPr>
          <p:cNvPr id="10" name="Text 7">
            <a:extLst xmlns:a="http://schemas.openxmlformats.org/drawingml/2006/main">
              <a:ext uri="{FF2B5EF4-FFF2-40B4-BE49-F238E27FC236}">
                <a16:creationId xmlns:a16="http://schemas.microsoft.com/office/drawing/2014/main" id="{BF8C91F0-869B-4382-A967-A78CA6E75BA9}"/>
              </a:ext>
            </a:extLst>
          </p:cNvPr>
          <p:cNvSpPr>
            <a:spLocks xmlns:a="http://schemas.openxmlformats.org/drawingml/2006/main" noGrp="1"/>
          </p:cNvSpPr>
          <p:nvPr/>
        </p:nvSpPr>
        <p:spPr>
          <a:xfrm xmlns:a="http://schemas.openxmlformats.org/drawingml/2006/main">
            <a:off x="3515868" y="2423160"/>
            <a:ext cx="227228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AI picks tools</a:t>
            </a:r>
            <a:endParaRPr sz="1500"/>
          </a:p>
        </p:txBody>
      </p:sp>
      <p:sp>
        <p:nvSpPr>
          <p:cNvPr id="11" name="Shape 8">
            <a:extLst xmlns:a="http://schemas.openxmlformats.org/drawingml/2006/main">
              <a:ext uri="{FF2B5EF4-FFF2-40B4-BE49-F238E27FC236}">
                <a16:creationId xmlns:a16="http://schemas.microsoft.com/office/drawing/2014/main" id="{33EA9CD0-66B4-4EF8-BD51-BE4C1FADA65D}"/>
              </a:ext>
            </a:extLst>
          </p:cNvPr>
          <p:cNvSpPr>
            <a:spLocks xmlns:a="http://schemas.openxmlformats.org/drawingml/2006/main" noGrp="1"/>
          </p:cNvSpPr>
          <p:nvPr/>
        </p:nvSpPr>
        <p:spPr>
          <a:xfrm xmlns:a="http://schemas.openxmlformats.org/drawingml/2006/main">
            <a:off x="5934456" y="221742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12" name="Shape 9">
            <a:extLst xmlns:a="http://schemas.openxmlformats.org/drawingml/2006/main">
              <a:ext uri="{FF2B5EF4-FFF2-40B4-BE49-F238E27FC236}">
                <a16:creationId xmlns:a16="http://schemas.microsoft.com/office/drawing/2014/main" id="{913D4A39-50DE-461E-B412-F72982D12AA6}"/>
              </a:ext>
            </a:extLst>
          </p:cNvPr>
          <p:cNvSpPr>
            <a:spLocks xmlns:a="http://schemas.openxmlformats.org/drawingml/2006/main" noGrp="1"/>
          </p:cNvSpPr>
          <p:nvPr/>
        </p:nvSpPr>
        <p:spPr>
          <a:xfrm xmlns:a="http://schemas.openxmlformats.org/drawingml/2006/main">
            <a:off x="6263640" y="1554480"/>
            <a:ext cx="249174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3B9C5A"/>
            </a:solidFill>
            <a:prstDash val="solid"/>
          </a:ln>
        </p:spPr>
      </p:sp>
      <p:sp>
        <p:nvSpPr>
          <p:cNvPr id="13" name="Text 10">
            <a:extLst xmlns:a="http://schemas.openxmlformats.org/drawingml/2006/main">
              <a:ext uri="{FF2B5EF4-FFF2-40B4-BE49-F238E27FC236}">
                <a16:creationId xmlns:a16="http://schemas.microsoft.com/office/drawing/2014/main" id="{B2D919A9-E0A0-420E-BC08-6AA3FDC2ED51}"/>
              </a:ext>
            </a:extLst>
          </p:cNvPr>
          <p:cNvSpPr>
            <a:spLocks xmlns:a="http://schemas.openxmlformats.org/drawingml/2006/main" noGrp="1"/>
          </p:cNvSpPr>
          <p:nvPr/>
        </p:nvSpPr>
        <p:spPr>
          <a:xfrm xmlns:a="http://schemas.openxmlformats.org/drawingml/2006/main">
            <a:off x="6373368" y="1691640"/>
            <a:ext cx="22722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Verify</a:t>
            </a:r>
            <a:endParaRPr sz="1800"/>
          </a:p>
        </p:txBody>
      </p:sp>
      <p:sp>
        <p:nvSpPr>
          <p:cNvPr id="14" name="Text 11">
            <a:extLst xmlns:a="http://schemas.openxmlformats.org/drawingml/2006/main">
              <a:ext uri="{FF2B5EF4-FFF2-40B4-BE49-F238E27FC236}">
                <a16:creationId xmlns:a16="http://schemas.microsoft.com/office/drawing/2014/main" id="{18F91E16-158F-4C4C-BA29-608C9011F407}"/>
              </a:ext>
            </a:extLst>
          </p:cNvPr>
          <p:cNvSpPr>
            <a:spLocks xmlns:a="http://schemas.openxmlformats.org/drawingml/2006/main" noGrp="1"/>
          </p:cNvSpPr>
          <p:nvPr/>
        </p:nvSpPr>
        <p:spPr>
          <a:xfrm xmlns:a="http://schemas.openxmlformats.org/drawingml/2006/main">
            <a:off x="6373368" y="2423160"/>
            <a:ext cx="227228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code checks every dish</a:t>
            </a:r>
            <a:endParaRPr sz="1500"/>
          </a:p>
        </p:txBody>
      </p:sp>
      <p:sp>
        <p:nvSpPr>
          <p:cNvPr id="15" name="Shape 12">
            <a:extLst xmlns:a="http://schemas.openxmlformats.org/drawingml/2006/main">
              <a:ext uri="{FF2B5EF4-FFF2-40B4-BE49-F238E27FC236}">
                <a16:creationId xmlns:a16="http://schemas.microsoft.com/office/drawing/2014/main" id="{A84C8630-84F1-4674-AEEB-08E4270B36E2}"/>
              </a:ext>
            </a:extLst>
          </p:cNvPr>
          <p:cNvSpPr>
            <a:spLocks xmlns:a="http://schemas.openxmlformats.org/drawingml/2006/main" noGrp="1"/>
          </p:cNvSpPr>
          <p:nvPr/>
        </p:nvSpPr>
        <p:spPr>
          <a:xfrm xmlns:a="http://schemas.openxmlformats.org/drawingml/2006/main">
            <a:off x="8791956" y="2217420"/>
            <a:ext cx="292608" cy="0"/>
          </a:xfrm>
          <a:prstGeom xmlns:a="http://schemas.openxmlformats.org/drawingml/2006/main" prst="line">
            <a:avLst/>
          </a:prstGeom>
          <a:noFill xmlns:a="http://schemas.openxmlformats.org/drawingml/2006/main"/>
          <a:ln xmlns:a="http://schemas.openxmlformats.org/drawingml/2006/main" w="28575">
            <a:solidFill>
              <a:srgbClr val="3B9C5A"/>
            </a:solidFill>
            <a:prstDash val="solid"/>
            <a:tailEnd type="triangle"/>
          </a:ln>
        </p:spPr>
      </p:sp>
      <p:sp>
        <p:nvSpPr>
          <p:cNvPr id="16" name="Shape 13">
            <a:extLst xmlns:a="http://schemas.openxmlformats.org/drawingml/2006/main">
              <a:ext uri="{FF2B5EF4-FFF2-40B4-BE49-F238E27FC236}">
                <a16:creationId xmlns:a16="http://schemas.microsoft.com/office/drawing/2014/main" id="{9F72E33C-AC6D-4D4E-8955-5360DEA43FC7}"/>
              </a:ext>
            </a:extLst>
          </p:cNvPr>
          <p:cNvSpPr>
            <a:spLocks xmlns:a="http://schemas.openxmlformats.org/drawingml/2006/main" noGrp="1"/>
          </p:cNvSpPr>
          <p:nvPr/>
        </p:nvSpPr>
        <p:spPr>
          <a:xfrm xmlns:a="http://schemas.openxmlformats.org/drawingml/2006/main">
            <a:off x="9121140" y="1554480"/>
            <a:ext cx="2491740" cy="1325880"/>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12700">
            <a:solidFill>
              <a:srgbClr val="3B9C5A"/>
            </a:solidFill>
            <a:prstDash val="solid"/>
          </a:ln>
        </p:spPr>
      </p:sp>
      <p:sp>
        <p:nvSpPr>
          <p:cNvPr id="17" name="Text 14">
            <a:extLst xmlns:a="http://schemas.openxmlformats.org/drawingml/2006/main">
              <a:ext uri="{FF2B5EF4-FFF2-40B4-BE49-F238E27FC236}">
                <a16:creationId xmlns:a16="http://schemas.microsoft.com/office/drawing/2014/main" id="{233312FA-1E4A-4101-BDAF-B1A36E2B7DCE}"/>
              </a:ext>
            </a:extLst>
          </p:cNvPr>
          <p:cNvSpPr>
            <a:spLocks xmlns:a="http://schemas.openxmlformats.org/drawingml/2006/main" noGrp="1"/>
          </p:cNvSpPr>
          <p:nvPr/>
        </p:nvSpPr>
        <p:spPr>
          <a:xfrm xmlns:a="http://schemas.openxmlformats.org/drawingml/2006/main">
            <a:off x="9230868" y="1691640"/>
            <a:ext cx="2272284"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Answer</a:t>
            </a:r>
            <a:endParaRPr sz="1800"/>
          </a:p>
        </p:txBody>
      </p:sp>
      <p:sp>
        <p:nvSpPr>
          <p:cNvPr id="18" name="Text 15">
            <a:extLst xmlns:a="http://schemas.openxmlformats.org/drawingml/2006/main">
              <a:ext uri="{FF2B5EF4-FFF2-40B4-BE49-F238E27FC236}">
                <a16:creationId xmlns:a16="http://schemas.microsoft.com/office/drawing/2014/main" id="{CE0B77F5-E73C-46E6-9897-7C7218CC71BE}"/>
              </a:ext>
            </a:extLst>
          </p:cNvPr>
          <p:cNvSpPr>
            <a:spLocks xmlns:a="http://schemas.openxmlformats.org/drawingml/2006/main" noGrp="1"/>
          </p:cNvSpPr>
          <p:nvPr/>
        </p:nvSpPr>
        <p:spPr>
          <a:xfrm xmlns:a="http://schemas.openxmlformats.org/drawingml/2006/main">
            <a:off x="9230868" y="2423160"/>
            <a:ext cx="227228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a:solidFill>
                  <a:srgbClr val="5C6B66"/>
                </a:solidFill>
                <a:latin typeface="Calibri"/>
                <a:ea typeface="Calibri"/>
                <a:cs typeface="Calibri"/>
              </a:rPr>
              <a:t>only safe picks</a:t>
            </a:r>
            <a:endParaRPr sz="1500"/>
          </a:p>
        </p:txBody>
      </p:sp>
      <p:sp>
        <p:nvSpPr>
          <p:cNvPr id="19" name="Shape 16">
            <a:extLst xmlns:a="http://schemas.openxmlformats.org/drawingml/2006/main">
              <a:ext uri="{FF2B5EF4-FFF2-40B4-BE49-F238E27FC236}">
                <a16:creationId xmlns:a16="http://schemas.microsoft.com/office/drawing/2014/main" id="{EE498140-D19F-4BDF-9467-49B7566047DF}"/>
              </a:ext>
            </a:extLst>
          </p:cNvPr>
          <p:cNvSpPr>
            <a:spLocks xmlns:a="http://schemas.openxmlformats.org/drawingml/2006/main" noGrp="1"/>
          </p:cNvSpPr>
          <p:nvPr/>
        </p:nvSpPr>
        <p:spPr>
          <a:xfrm xmlns:a="http://schemas.openxmlformats.org/drawingml/2006/main">
            <a:off x="548640" y="3154680"/>
            <a:ext cx="11064240" cy="2103120"/>
          </a:xfrm>
          <a:prstGeom xmlns:a="http://schemas.openxmlformats.org/drawingml/2006/main" prst="roundRect">
            <a:avLst>
              <a:gd name="adj" fmla="val 4348"/>
            </a:avLst>
          </a:prstGeom>
          <a:solidFill xmlns:a="http://schemas.openxmlformats.org/drawingml/2006/main">
            <a:srgbClr val="16302A"/>
          </a:solidFill>
          <a:ln xmlns:a="http://schemas.openxmlformats.org/drawingml/2006/main" w="12700">
            <a:solidFill>
              <a:srgbClr val="16302A"/>
            </a:solidFill>
            <a:prstDash val="solid"/>
          </a:ln>
        </p:spPr>
      </p:sp>
      <p:sp>
        <p:nvSpPr>
          <p:cNvPr id="20" name="Text 17">
            <a:extLst xmlns:a="http://schemas.openxmlformats.org/drawingml/2006/main">
              <a:ext uri="{FF2B5EF4-FFF2-40B4-BE49-F238E27FC236}">
                <a16:creationId xmlns:a16="http://schemas.microsoft.com/office/drawing/2014/main" id="{86820D98-C157-4F84-A31E-E7FEFCE8F050}"/>
              </a:ext>
            </a:extLst>
          </p:cNvPr>
          <p:cNvSpPr>
            <a:spLocks xmlns:a="http://schemas.openxmlformats.org/drawingml/2006/main" noGrp="1"/>
          </p:cNvSpPr>
          <p:nvPr/>
        </p:nvSpPr>
        <p:spPr>
          <a:xfrm xmlns:a="http://schemas.openxmlformats.org/drawingml/2006/main">
            <a:off x="822960" y="3383280"/>
            <a:ext cx="1051560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400"/>
              </a:spcAft>
              <a:buNone/>
            </a:pPr>
            <a:r>
              <a:rPr sz="1800">
                <a:solidFill>
                  <a:srgbClr val="F4F2EC"/>
                </a:solidFill>
                <a:latin typeface="Consolas"/>
                <a:ea typeface="Consolas"/>
                <a:cs typeface="Consolas"/>
              </a:rPr>
              <a:t>AGENT SAID:   ['Veg sandwich', 'Paneer Tikka Wrap']</a:t>
            </a:r>
            <a:endParaRPr sz="1800"/>
          </a:p>
          <a:p xmlns:a="http://schemas.openxmlformats.org/drawingml/2006/main">
            <a:pPr marL="0" indent="0">
              <a:spcAft>
                <a:spcPts val="400"/>
              </a:spcAft>
              <a:buNone/>
            </a:pPr>
            <a:r>
              <a:rPr sz="1800" b="1">
                <a:solidFill>
                  <a:srgbClr val="F7A58A"/>
                </a:solidFill>
                <a:latin typeface="Consolas"/>
                <a:ea typeface="Consolas"/>
                <a:cs typeface="Consolas"/>
              </a:rPr>
              <a:t>CODE CAUGHT:  'Paneer Tikka Wrap' is not on the menu</a:t>
            </a:r>
            <a:endParaRPr sz="1800"/>
          </a:p>
          <a:p xmlns:a="http://schemas.openxmlformats.org/drawingml/2006/main">
            <a:pPr marL="0" indent="0">
              <a:spcAft>
                <a:spcPts val="400"/>
              </a:spcAft>
              <a:buNone/>
            </a:pPr>
            <a:r>
              <a:rPr sz="1800">
                <a:solidFill>
                  <a:srgbClr val="F4F2EC"/>
                </a:solidFill>
                <a:latin typeface="Consolas"/>
                <a:ea typeface="Consolas"/>
                <a:cs typeface="Consolas"/>
              </a:rPr>
              <a:t>ANSWER:       I double-checked the recommendation.</a:t>
            </a:r>
            <a:endParaRPr sz="1800"/>
          </a:p>
          <a:p xmlns:a="http://schemas.openxmlformats.org/drawingml/2006/main">
            <a:pPr marL="0" indent="0">
              <a:spcAft>
                <a:spcPts val="400"/>
              </a:spcAft>
              <a:buNone/>
            </a:pPr>
            <a:r>
              <a:rPr sz="1800" b="1">
                <a:solidFill>
                  <a:srgbClr val="8FD6A3"/>
                </a:solidFill>
                <a:latin typeface="Consolas"/>
                <a:ea typeface="Consolas"/>
                <a:cs typeface="Consolas"/>
              </a:rPr>
              <a:t>              Veg sandwich (Rs 60). Open; closes 16:00.</a:t>
            </a:r>
            <a:endParaRPr sz="1800"/>
          </a:p>
        </p:txBody>
      </p:sp>
      <p:sp>
        <p:nvSpPr>
          <p:cNvPr id="21" name="Text 18">
            <a:extLst xmlns:a="http://schemas.openxmlformats.org/drawingml/2006/main">
              <a:ext uri="{FF2B5EF4-FFF2-40B4-BE49-F238E27FC236}">
                <a16:creationId xmlns:a16="http://schemas.microsoft.com/office/drawing/2014/main" id="{ACCC9164-1FEC-4B05-B5D1-59F84FEE723B}"/>
              </a:ext>
            </a:extLst>
          </p:cNvPr>
          <p:cNvSpPr>
            <a:spLocks xmlns:a="http://schemas.openxmlformats.org/drawingml/2006/main" noGrp="1"/>
          </p:cNvSpPr>
          <p:nvPr/>
        </p:nvSpPr>
        <p:spPr>
          <a:xfrm xmlns:a="http://schemas.openxmlformats.org/drawingml/2006/main">
            <a:off x="548640" y="544068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000" b="1">
                <a:solidFill>
                  <a:srgbClr val="3B9C5A"/>
                </a:solidFill>
                <a:latin typeface="Calibri"/>
                <a:ea typeface="Calibri"/>
                <a:cs typeface="Calibri"/>
              </a:rPr>
              <a:t>Canteen Bhaiya 1, Overconfident AI 0.   (Mistake simulated for teaching.)</a:t>
            </a:r>
            <a:endParaRPr sz="2000"/>
          </a:p>
        </p:txBody>
      </p:sp>
      <p:sp>
        <p:nvSpPr>
          <p:cNvPr id="25" name="Slide Number Placeholder 0">
            <a:extLst xmlns:a="http://schemas.openxmlformats.org/drawingml/2006/main">
              <a:ext uri="{FF2B5EF4-FFF2-40B4-BE49-F238E27FC236}">
                <a16:creationId xmlns:a16="http://schemas.microsoft.com/office/drawing/2014/main" id="{DC0C6024-1BF3-41B1-86A5-C2E9796E7FD1}"/>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0BB18BA8-60F4-C50D-CD9B-1BB87D3E8506}" type="slidenum">
              <a:rPr b="0"/>
              <a:t>22</a:t>
            </a:fld>
            <a:endParaRPr/>
          </a:p>
        </p:txBody>
      </p:sp>
    </p:spTree>
    <p:extLst>
      <p:ext uri="{BB962C8B-B14F-4D97-AF65-F5344CB8AC3E}">
        <p14:creationId xmlns:p14="http://schemas.microsoft.com/office/powerpoint/2010/main" val="899122013"/>
      </p:ext>
    </p:extLst>
  </p:cSld>
</p:sld>
</file>

<file path=ppt/slides/slide23.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36F5FD22-1911-4BCF-A620-806ADF84DE4C}"/>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A check must match the claim</a:t>
            </a:r>
          </a:p>
        </p:txBody>
      </p:sp>
      <p:sp>
        <p:nvSpPr>
          <p:cNvPr id="2" name="row-label-0">
            <a:extLst xmlns:a="http://schemas.openxmlformats.org/drawingml/2006/main">
              <a:ext uri="{FF2B5EF4-FFF2-40B4-BE49-F238E27FC236}">
                <a16:creationId xmlns:a16="http://schemas.microsoft.com/office/drawing/2014/main" id="{490661DA-F801-4D6E-87A3-A13FDF4C3ACC}"/>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Valid result</a:t>
            </a:r>
          </a:p>
        </p:txBody>
      </p:sp>
      <p:sp>
        <p:nvSpPr>
          <p:cNvPr id="3" name="row-body-0">
            <a:extLst xmlns:a="http://schemas.openxmlformats.org/drawingml/2006/main">
              <a:ext uri="{FF2B5EF4-FFF2-40B4-BE49-F238E27FC236}">
                <a16:creationId xmlns:a16="http://schemas.microsoft.com/office/drawing/2014/main" id="{33BB9924-8771-4FC0-BF61-5B1CA513887D}"/>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Check the student’s budget, diet and stock.</a:t>
            </a:r>
          </a:p>
        </p:txBody>
      </p:sp>
      <p:sp>
        <p:nvSpPr>
          <p:cNvPr id="4" name="row-label-1">
            <a:extLst xmlns:a="http://schemas.openxmlformats.org/drawingml/2006/main">
              <a:ext uri="{FF2B5EF4-FFF2-40B4-BE49-F238E27FC236}">
                <a16:creationId xmlns:a16="http://schemas.microsoft.com/office/drawing/2014/main" id="{A51E1C7B-F987-40E4-A178-6BC56841F876}"/>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Empty result</a:t>
            </a:r>
          </a:p>
        </p:txBody>
      </p:sp>
      <p:sp>
        <p:nvSpPr>
          <p:cNvPr id="5" name="row-body-1">
            <a:extLst xmlns:a="http://schemas.openxmlformats.org/drawingml/2006/main">
              <a:ext uri="{FF2B5EF4-FFF2-40B4-BE49-F238E27FC236}">
                <a16:creationId xmlns:a16="http://schemas.microsoft.com/office/drawing/2014/main" id="{81D2C271-F5E4-48A3-8B6B-1E64B6B045F7}"/>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Say which request was actually checked.</a:t>
            </a:r>
          </a:p>
        </p:txBody>
      </p:sp>
      <p:sp>
        <p:nvSpPr>
          <p:cNvPr id="6" name="row-label-2">
            <a:extLst xmlns:a="http://schemas.openxmlformats.org/drawingml/2006/main">
              <a:ext uri="{FF2B5EF4-FFF2-40B4-BE49-F238E27FC236}">
                <a16:creationId xmlns:a16="http://schemas.microsoft.com/office/drawing/2014/main" id="{4F013229-2481-4F33-AAA6-449212017F3D}"/>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Failed lookup</a:t>
            </a:r>
          </a:p>
        </p:txBody>
      </p:sp>
      <p:sp>
        <p:nvSpPr>
          <p:cNvPr id="7" name="row-body-2">
            <a:extLst xmlns:a="http://schemas.openxmlformats.org/drawingml/2006/main">
              <a:ext uri="{FF2B5EF4-FFF2-40B4-BE49-F238E27FC236}">
                <a16:creationId xmlns:a16="http://schemas.microsoft.com/office/drawing/2014/main" id="{6C93B813-F18B-4808-B713-6264EE91BCED}"/>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Report unavailable information.</a:t>
            </a:r>
          </a:p>
        </p:txBody>
      </p:sp>
      <p:sp>
        <p:nvSpPr>
          <p:cNvPr id="8" name="takeaway">
            <a:extLst xmlns:a="http://schemas.openxmlformats.org/drawingml/2006/main">
              <a:ext uri="{FF2B5EF4-FFF2-40B4-BE49-F238E27FC236}">
                <a16:creationId xmlns:a16="http://schemas.microsoft.com/office/drawing/2014/main" id="{49F15355-399D-486C-99FC-18EBD5B8E12A}"/>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A confident paragraph is not evidence.</a:t>
            </a:r>
          </a:p>
        </p:txBody>
      </p:sp>
      <p:sp>
        <p:nvSpPr>
          <p:cNvPr id="9" name="footer">
            <a:extLst xmlns:a="http://schemas.openxmlformats.org/drawingml/2006/main">
              <a:ext uri="{FF2B5EF4-FFF2-40B4-BE49-F238E27FC236}">
                <a16:creationId xmlns:a16="http://schemas.microsoft.com/office/drawing/2014/main" id="{FC336ACF-4A93-40B8-B842-64FA15EF69A0}"/>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7B4B5A1A-C41B-48AE-B909-FD4BCFBEB754}"/>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23</a:t>
            </a:r>
          </a:p>
        </p:txBody>
      </p:sp>
    </p:spTree>
    <p:extLst>
      <p:ext uri="{BB962C8B-B14F-4D97-AF65-F5344CB8AC3E}">
        <p14:creationId xmlns:p14="http://schemas.microsoft.com/office/powerpoint/2010/main" val="103443112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9FC491E-97C9-45FD-8184-AAD6C9CB16FD}"/>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LangGraph is Google Maps for your agent</a:t>
            </a:r>
            <a:endParaRPr sz="3200"/>
          </a:p>
        </p:txBody>
      </p:sp>
      <p:sp>
        <p:nvSpPr>
          <p:cNvPr id="4" name="Shape 1">
            <a:extLst xmlns:a="http://schemas.openxmlformats.org/drawingml/2006/main">
              <a:ext uri="{FF2B5EF4-FFF2-40B4-BE49-F238E27FC236}">
                <a16:creationId xmlns:a16="http://schemas.microsoft.com/office/drawing/2014/main" id="{B1D745A9-BC52-42D6-B0EE-2003E0CDFAFB}"/>
              </a:ext>
            </a:extLst>
          </p:cNvPr>
          <p:cNvSpPr>
            <a:spLocks xmlns:a="http://schemas.openxmlformats.org/drawingml/2006/main" noGrp="1"/>
          </p:cNvSpPr>
          <p:nvPr/>
        </p:nvSpPr>
        <p:spPr>
          <a:xfrm xmlns:a="http://schemas.openxmlformats.org/drawingml/2006/main">
            <a:off x="548640" y="1600200"/>
            <a:ext cx="2560320" cy="3291840"/>
          </a:xfrm>
          <a:prstGeom xmlns:a="http://schemas.openxmlformats.org/drawingml/2006/main" prst="roundRect">
            <a:avLst>
              <a:gd name="adj" fmla="val 4286"/>
            </a:avLst>
          </a:prstGeom>
          <a:solidFill xmlns:a="http://schemas.openxmlformats.org/drawingml/2006/main">
            <a:srgbClr val="FFFFFF"/>
          </a:solidFill>
          <a:ln xmlns:a="http://schemas.openxmlformats.org/drawingml/2006/main" w="12700">
            <a:solidFill>
              <a:srgbClr val="D9DED8"/>
            </a:solidFill>
            <a:prstDash val="solid"/>
          </a:ln>
        </p:spPr>
      </p:sp>
      <p:pic>
        <p:nvPicPr>
          <p:cNvPr id="5" name="Image 0">
            <a:extLst xmlns:a="http://schemas.openxmlformats.org/drawingml/2006/main">
              <a:ext uri="{FF2B5EF4-FFF2-40B4-BE49-F238E27FC236}">
                <a16:creationId xmlns:a16="http://schemas.microsoft.com/office/drawing/2014/main" id="{A0D6D5EF-BBA0-4A44-99FD-4520B1F332B8}"/>
              </a:ext>
            </a:extLst>
          </p:cNvPr>
          <p:cNvPicPr>
            <a:picLocks xmlns:a="http://schemas.openxmlformats.org/drawingml/2006/main" noChangeAspect="1"/>
          </p:cNvPicPr>
          <p:nvPr/>
        </p:nvPicPr>
        <p:blipFill>
          <a:blip xmlns:r="http://schemas.openxmlformats.org/officeDocument/2006/relationships" xmlns:a="http://schemas.openxmlformats.org/drawingml/2006/main" r:embed="Ra01a1c3a6c7141c2"/>
          <a:stretch xmlns:a="http://schemas.openxmlformats.org/drawingml/2006/main">
            <a:fillRect l="0" t="0" r="0" b="0"/>
          </a:stretch>
        </p:blipFill>
        <p:spPr>
          <a:xfrm xmlns:a="http://schemas.openxmlformats.org/drawingml/2006/main">
            <a:off x="868680" y="1920240"/>
            <a:ext cx="640080" cy="640080"/>
          </a:xfrm>
          <a:prstGeom xmlns:a="http://schemas.openxmlformats.org/drawingml/2006/main" prst="rect">
            <a:avLst/>
          </a:prstGeom>
        </p:spPr>
      </p:pic>
      <p:sp>
        <p:nvSpPr>
          <p:cNvPr id="6" name="Text 2">
            <a:extLst xmlns:a="http://schemas.openxmlformats.org/drawingml/2006/main">
              <a:ext uri="{FF2B5EF4-FFF2-40B4-BE49-F238E27FC236}">
                <a16:creationId xmlns:a16="http://schemas.microsoft.com/office/drawing/2014/main" id="{C9E43FAF-91A2-46C5-AF2C-23CBC43BA99F}"/>
              </a:ext>
            </a:extLst>
          </p:cNvPr>
          <p:cNvSpPr>
            <a:spLocks xmlns:a="http://schemas.openxmlformats.org/drawingml/2006/main" noGrp="1"/>
          </p:cNvSpPr>
          <p:nvPr/>
        </p:nvSpPr>
        <p:spPr>
          <a:xfrm xmlns:a="http://schemas.openxmlformats.org/drawingml/2006/main">
            <a:off x="868680" y="274320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State</a:t>
            </a:r>
            <a:endParaRPr sz="2200"/>
          </a:p>
        </p:txBody>
      </p:sp>
      <p:sp>
        <p:nvSpPr>
          <p:cNvPr id="7" name="Text 3">
            <a:extLst xmlns:a="http://schemas.openxmlformats.org/drawingml/2006/main">
              <a:ext uri="{FF2B5EF4-FFF2-40B4-BE49-F238E27FC236}">
                <a16:creationId xmlns:a16="http://schemas.microsoft.com/office/drawing/2014/main" id="{712CBCC1-DAB2-4617-AC9F-703D53D75289}"/>
              </a:ext>
            </a:extLst>
          </p:cNvPr>
          <p:cNvSpPr>
            <a:spLocks xmlns:a="http://schemas.openxmlformats.org/drawingml/2006/main" noGrp="1"/>
          </p:cNvSpPr>
          <p:nvPr/>
        </p:nvSpPr>
        <p:spPr>
          <a:xfrm xmlns:a="http://schemas.openxmlformats.org/drawingml/2006/main">
            <a:off x="868680" y="3566160"/>
            <a:ext cx="19202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Where you are + what's in your bag: question, budget, results.</a:t>
            </a:r>
            <a:endParaRPr sz="1900"/>
          </a:p>
        </p:txBody>
      </p:sp>
      <p:sp>
        <p:nvSpPr>
          <p:cNvPr id="8" name="Shape 4">
            <a:extLst xmlns:a="http://schemas.openxmlformats.org/drawingml/2006/main">
              <a:ext uri="{FF2B5EF4-FFF2-40B4-BE49-F238E27FC236}">
                <a16:creationId xmlns:a16="http://schemas.microsoft.com/office/drawing/2014/main" id="{4EE4A627-8E98-4072-8D94-012338FFD8F7}"/>
              </a:ext>
            </a:extLst>
          </p:cNvPr>
          <p:cNvSpPr>
            <a:spLocks xmlns:a="http://schemas.openxmlformats.org/drawingml/2006/main" noGrp="1"/>
          </p:cNvSpPr>
          <p:nvPr/>
        </p:nvSpPr>
        <p:spPr>
          <a:xfrm xmlns:a="http://schemas.openxmlformats.org/drawingml/2006/main">
            <a:off x="3383280" y="1600200"/>
            <a:ext cx="2560320" cy="3291840"/>
          </a:xfrm>
          <a:prstGeom xmlns:a="http://schemas.openxmlformats.org/drawingml/2006/main" prst="roundRect">
            <a:avLst>
              <a:gd name="adj" fmla="val 4286"/>
            </a:avLst>
          </a:prstGeom>
          <a:solidFill xmlns:a="http://schemas.openxmlformats.org/drawingml/2006/main">
            <a:srgbClr val="FFFFFF"/>
          </a:solidFill>
          <a:ln xmlns:a="http://schemas.openxmlformats.org/drawingml/2006/main" w="12700">
            <a:solidFill>
              <a:srgbClr val="D9DED8"/>
            </a:solidFill>
            <a:prstDash val="solid"/>
          </a:ln>
        </p:spPr>
      </p:sp>
      <p:pic>
        <p:nvPicPr>
          <p:cNvPr id="9" name="Image 1">
            <a:extLst xmlns:a="http://schemas.openxmlformats.org/drawingml/2006/main">
              <a:ext uri="{FF2B5EF4-FFF2-40B4-BE49-F238E27FC236}">
                <a16:creationId xmlns:a16="http://schemas.microsoft.com/office/drawing/2014/main" id="{173DBD80-901F-42FA-ACB2-CF9244070598}"/>
              </a:ext>
            </a:extLst>
          </p:cNvPr>
          <p:cNvPicPr>
            <a:picLocks xmlns:a="http://schemas.openxmlformats.org/drawingml/2006/main" noChangeAspect="1"/>
          </p:cNvPicPr>
          <p:nvPr/>
        </p:nvPicPr>
        <p:blipFill>
          <a:blip xmlns:r="http://schemas.openxmlformats.org/officeDocument/2006/relationships" xmlns:a="http://schemas.openxmlformats.org/drawingml/2006/main" r:embed="Rd21b78cd46684684"/>
          <a:stretch xmlns:a="http://schemas.openxmlformats.org/drawingml/2006/main">
            <a:fillRect l="0" t="0" r="0" b="0"/>
          </a:stretch>
        </p:blipFill>
        <p:spPr>
          <a:xfrm xmlns:a="http://schemas.openxmlformats.org/drawingml/2006/main">
            <a:off x="3703320" y="1920240"/>
            <a:ext cx="640080" cy="640080"/>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D1A710FE-C577-42C5-8B4F-94AA3E77C4A7}"/>
              </a:ext>
            </a:extLst>
          </p:cNvPr>
          <p:cNvSpPr>
            <a:spLocks xmlns:a="http://schemas.openxmlformats.org/drawingml/2006/main" noGrp="1"/>
          </p:cNvSpPr>
          <p:nvPr/>
        </p:nvSpPr>
        <p:spPr>
          <a:xfrm xmlns:a="http://schemas.openxmlformats.org/drawingml/2006/main">
            <a:off x="3703320" y="274320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Nodes</a:t>
            </a:r>
            <a:endParaRPr sz="2200"/>
          </a:p>
        </p:txBody>
      </p:sp>
      <p:sp>
        <p:nvSpPr>
          <p:cNvPr id="11" name="Text 6">
            <a:extLst xmlns:a="http://schemas.openxmlformats.org/drawingml/2006/main">
              <a:ext uri="{FF2B5EF4-FFF2-40B4-BE49-F238E27FC236}">
                <a16:creationId xmlns:a16="http://schemas.microsoft.com/office/drawing/2014/main" id="{049DE6F1-4C7C-498C-B543-820B836B6880}"/>
              </a:ext>
            </a:extLst>
          </p:cNvPr>
          <p:cNvSpPr>
            <a:spLocks xmlns:a="http://schemas.openxmlformats.org/drawingml/2006/main" noGrp="1"/>
          </p:cNvSpPr>
          <p:nvPr/>
        </p:nvSpPr>
        <p:spPr>
          <a:xfrm xmlns:a="http://schemas.openxmlformats.org/drawingml/2006/main">
            <a:off x="3703320" y="3566160"/>
            <a:ext cx="19202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The stops. Each does one step: plain code, or an AI step.</a:t>
            </a:r>
            <a:endParaRPr sz="1900"/>
          </a:p>
        </p:txBody>
      </p:sp>
      <p:sp>
        <p:nvSpPr>
          <p:cNvPr id="12" name="Shape 7">
            <a:extLst xmlns:a="http://schemas.openxmlformats.org/drawingml/2006/main">
              <a:ext uri="{FF2B5EF4-FFF2-40B4-BE49-F238E27FC236}">
                <a16:creationId xmlns:a16="http://schemas.microsoft.com/office/drawing/2014/main" id="{5B74A321-0B0C-4BA2-918B-0DFFEB1EDE04}"/>
              </a:ext>
            </a:extLst>
          </p:cNvPr>
          <p:cNvSpPr>
            <a:spLocks xmlns:a="http://schemas.openxmlformats.org/drawingml/2006/main" noGrp="1"/>
          </p:cNvSpPr>
          <p:nvPr/>
        </p:nvSpPr>
        <p:spPr>
          <a:xfrm xmlns:a="http://schemas.openxmlformats.org/drawingml/2006/main">
            <a:off x="6217920" y="1600200"/>
            <a:ext cx="2560320" cy="3291840"/>
          </a:xfrm>
          <a:prstGeom xmlns:a="http://schemas.openxmlformats.org/drawingml/2006/main" prst="roundRect">
            <a:avLst>
              <a:gd name="adj" fmla="val 4286"/>
            </a:avLst>
          </a:prstGeom>
          <a:solidFill xmlns:a="http://schemas.openxmlformats.org/drawingml/2006/main">
            <a:srgbClr val="FFFFFF"/>
          </a:solidFill>
          <a:ln xmlns:a="http://schemas.openxmlformats.org/drawingml/2006/main" w="12700">
            <a:solidFill>
              <a:srgbClr val="D9DED8"/>
            </a:solidFill>
            <a:prstDash val="solid"/>
          </a:ln>
        </p:spPr>
      </p:sp>
      <p:pic>
        <p:nvPicPr>
          <p:cNvPr id="13" name="Image 2">
            <a:extLst xmlns:a="http://schemas.openxmlformats.org/drawingml/2006/main">
              <a:ext uri="{FF2B5EF4-FFF2-40B4-BE49-F238E27FC236}">
                <a16:creationId xmlns:a16="http://schemas.microsoft.com/office/drawing/2014/main" id="{A404CC57-CC2D-41E9-A683-D491FC04EC7F}"/>
              </a:ext>
            </a:extLst>
          </p:cNvPr>
          <p:cNvPicPr>
            <a:picLocks xmlns:a="http://schemas.openxmlformats.org/drawingml/2006/main" noChangeAspect="1"/>
          </p:cNvPicPr>
          <p:nvPr/>
        </p:nvPicPr>
        <p:blipFill>
          <a:blip xmlns:r="http://schemas.openxmlformats.org/officeDocument/2006/relationships" xmlns:a="http://schemas.openxmlformats.org/drawingml/2006/main" r:embed="Re37424e4d3b74525"/>
          <a:stretch xmlns:a="http://schemas.openxmlformats.org/drawingml/2006/main">
            <a:fillRect l="0" t="0" r="0" b="0"/>
          </a:stretch>
        </p:blipFill>
        <p:spPr>
          <a:xfrm xmlns:a="http://schemas.openxmlformats.org/drawingml/2006/main">
            <a:off x="6537960" y="1920240"/>
            <a:ext cx="640080" cy="640080"/>
          </a:xfrm>
          <a:prstGeom xmlns:a="http://schemas.openxmlformats.org/drawingml/2006/main" prst="rect">
            <a:avLst/>
          </a:prstGeom>
        </p:spPr>
      </p:pic>
      <p:sp>
        <p:nvSpPr>
          <p:cNvPr id="14" name="Text 8">
            <a:extLst xmlns:a="http://schemas.openxmlformats.org/drawingml/2006/main">
              <a:ext uri="{FF2B5EF4-FFF2-40B4-BE49-F238E27FC236}">
                <a16:creationId xmlns:a16="http://schemas.microsoft.com/office/drawing/2014/main" id="{07A772E9-567C-45B1-BAC8-9E3CA4CBEEDF}"/>
              </a:ext>
            </a:extLst>
          </p:cNvPr>
          <p:cNvSpPr>
            <a:spLocks xmlns:a="http://schemas.openxmlformats.org/drawingml/2006/main" noGrp="1"/>
          </p:cNvSpPr>
          <p:nvPr/>
        </p:nvSpPr>
        <p:spPr>
          <a:xfrm xmlns:a="http://schemas.openxmlformats.org/drawingml/2006/main">
            <a:off x="6537960" y="274320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Edges</a:t>
            </a:r>
            <a:endParaRPr sz="2200"/>
          </a:p>
        </p:txBody>
      </p:sp>
      <p:sp>
        <p:nvSpPr>
          <p:cNvPr id="15" name="Text 9">
            <a:extLst xmlns:a="http://schemas.openxmlformats.org/drawingml/2006/main">
              <a:ext uri="{FF2B5EF4-FFF2-40B4-BE49-F238E27FC236}">
                <a16:creationId xmlns:a16="http://schemas.microsoft.com/office/drawing/2014/main" id="{27E2732C-B272-41E9-AD10-B32A404B7986}"/>
              </a:ext>
            </a:extLst>
          </p:cNvPr>
          <p:cNvSpPr>
            <a:spLocks xmlns:a="http://schemas.openxmlformats.org/drawingml/2006/main" noGrp="1"/>
          </p:cNvSpPr>
          <p:nvPr/>
        </p:nvSpPr>
        <p:spPr>
          <a:xfrm xmlns:a="http://schemas.openxmlformats.org/drawingml/2006/main">
            <a:off x="6537960" y="3566160"/>
            <a:ext cx="19202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Routes between steps. Conditions choose where to go next.</a:t>
            </a:r>
            <a:endParaRPr sz="1900"/>
          </a:p>
        </p:txBody>
      </p:sp>
      <p:sp>
        <p:nvSpPr>
          <p:cNvPr id="16" name="Shape 10">
            <a:extLst xmlns:a="http://schemas.openxmlformats.org/drawingml/2006/main">
              <a:ext uri="{FF2B5EF4-FFF2-40B4-BE49-F238E27FC236}">
                <a16:creationId xmlns:a16="http://schemas.microsoft.com/office/drawing/2014/main" id="{D9588A8E-378F-465C-94EE-A78773887C9A}"/>
              </a:ext>
            </a:extLst>
          </p:cNvPr>
          <p:cNvSpPr>
            <a:spLocks xmlns:a="http://schemas.openxmlformats.org/drawingml/2006/main" noGrp="1"/>
          </p:cNvSpPr>
          <p:nvPr/>
        </p:nvSpPr>
        <p:spPr>
          <a:xfrm xmlns:a="http://schemas.openxmlformats.org/drawingml/2006/main">
            <a:off x="9052560" y="1600200"/>
            <a:ext cx="2560320" cy="3291840"/>
          </a:xfrm>
          <a:prstGeom xmlns:a="http://schemas.openxmlformats.org/drawingml/2006/main" prst="roundRect">
            <a:avLst>
              <a:gd name="adj" fmla="val 4286"/>
            </a:avLst>
          </a:prstGeom>
          <a:solidFill xmlns:a="http://schemas.openxmlformats.org/drawingml/2006/main">
            <a:srgbClr val="FFFFFF"/>
          </a:solidFill>
          <a:ln xmlns:a="http://schemas.openxmlformats.org/drawingml/2006/main" w="12700">
            <a:solidFill>
              <a:srgbClr val="D9DED8"/>
            </a:solidFill>
            <a:prstDash val="solid"/>
          </a:ln>
        </p:spPr>
      </p:sp>
      <p:pic>
        <p:nvPicPr>
          <p:cNvPr id="17" name="Image 3">
            <a:extLst xmlns:a="http://schemas.openxmlformats.org/drawingml/2006/main">
              <a:ext uri="{FF2B5EF4-FFF2-40B4-BE49-F238E27FC236}">
                <a16:creationId xmlns:a16="http://schemas.microsoft.com/office/drawing/2014/main" id="{C3DED7CA-8B25-4AB5-B02D-8E76ED1E1064}"/>
              </a:ext>
            </a:extLst>
          </p:cNvPr>
          <p:cNvPicPr>
            <a:picLocks xmlns:a="http://schemas.openxmlformats.org/drawingml/2006/main" noChangeAspect="1"/>
          </p:cNvPicPr>
          <p:nvPr/>
        </p:nvPicPr>
        <p:blipFill>
          <a:blip xmlns:r="http://schemas.openxmlformats.org/officeDocument/2006/relationships" xmlns:a="http://schemas.openxmlformats.org/drawingml/2006/main" r:embed="Rcb98634d68864c86"/>
          <a:stretch xmlns:a="http://schemas.openxmlformats.org/drawingml/2006/main">
            <a:fillRect l="0" t="0" r="0" b="0"/>
          </a:stretch>
        </p:blipFill>
        <p:spPr>
          <a:xfrm xmlns:a="http://schemas.openxmlformats.org/drawingml/2006/main">
            <a:off x="9372600" y="1920240"/>
            <a:ext cx="640080" cy="640080"/>
          </a:xfrm>
          <a:prstGeom xmlns:a="http://schemas.openxmlformats.org/drawingml/2006/main" prst="rect">
            <a:avLst/>
          </a:prstGeom>
        </p:spPr>
      </p:pic>
      <p:sp>
        <p:nvSpPr>
          <p:cNvPr id="18" name="Text 11">
            <a:extLst xmlns:a="http://schemas.openxmlformats.org/drawingml/2006/main">
              <a:ext uri="{FF2B5EF4-FFF2-40B4-BE49-F238E27FC236}">
                <a16:creationId xmlns:a16="http://schemas.microsoft.com/office/drawing/2014/main" id="{1D6267A4-367D-4F9D-8F59-17E9D4991D67}"/>
              </a:ext>
            </a:extLst>
          </p:cNvPr>
          <p:cNvSpPr>
            <a:spLocks xmlns:a="http://schemas.openxmlformats.org/drawingml/2006/main" noGrp="1"/>
          </p:cNvSpPr>
          <p:nvPr/>
        </p:nvSpPr>
        <p:spPr>
          <a:xfrm xmlns:a="http://schemas.openxmlformats.org/drawingml/2006/main">
            <a:off x="9372600" y="2743200"/>
            <a:ext cx="1920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Blocked?</a:t>
            </a:r>
            <a:endParaRPr sz="2200"/>
          </a:p>
        </p:txBody>
      </p:sp>
      <p:sp>
        <p:nvSpPr>
          <p:cNvPr id="19" name="Text 12">
            <a:extLst xmlns:a="http://schemas.openxmlformats.org/drawingml/2006/main">
              <a:ext uri="{FF2B5EF4-FFF2-40B4-BE49-F238E27FC236}">
                <a16:creationId xmlns:a16="http://schemas.microsoft.com/office/drawing/2014/main" id="{F8452413-3F6B-46BB-89EF-D2BB5A788A8F}"/>
              </a:ext>
            </a:extLst>
          </p:cNvPr>
          <p:cNvSpPr>
            <a:spLocks xmlns:a="http://schemas.openxmlformats.org/drawingml/2006/main" noGrp="1"/>
          </p:cNvSpPr>
          <p:nvPr/>
        </p:nvSpPr>
        <p:spPr>
          <a:xfrm xmlns:a="http://schemas.openxmlformats.org/drawingml/2006/main">
            <a:off x="9372600" y="3566160"/>
            <a:ext cx="19202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“Route blocked, recalculating.” That's your retry and failure path.</a:t>
            </a:r>
            <a:endParaRPr sz="1900"/>
          </a:p>
        </p:txBody>
      </p:sp>
      <p:sp>
        <p:nvSpPr>
          <p:cNvPr id="25" name="Slide Number Placeholder 0">
            <a:extLst xmlns:a="http://schemas.openxmlformats.org/drawingml/2006/main">
              <a:ext uri="{FF2B5EF4-FFF2-40B4-BE49-F238E27FC236}">
                <a16:creationId xmlns:a16="http://schemas.microsoft.com/office/drawing/2014/main" id="{76456E2B-5E83-438E-9237-6B1B1036926B}"/>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4A59AF09-D197-0193-A7DE-FAAF0B691058}" type="slidenum">
              <a:rPr b="0"/>
              <a:t>24</a:t>
            </a:fld>
            <a:endParaRPr/>
          </a:p>
        </p:txBody>
      </p:sp>
    </p:spTree>
    <p:extLst>
      <p:ext uri="{BB962C8B-B14F-4D97-AF65-F5344CB8AC3E}">
        <p14:creationId xmlns:p14="http://schemas.microsoft.com/office/powerpoint/2010/main" val="140972342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7249CDE-AFB1-49E5-A5BC-6096C493B366}"/>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Our canteen graph</a:t>
            </a:r>
            <a:endParaRPr sz="3200"/>
          </a:p>
        </p:txBody>
      </p:sp>
      <p:sp>
        <p:nvSpPr>
          <p:cNvPr id="4" name="Shape 1">
            <a:extLst xmlns:a="http://schemas.openxmlformats.org/drawingml/2006/main">
              <a:ext uri="{FF2B5EF4-FFF2-40B4-BE49-F238E27FC236}">
                <a16:creationId xmlns:a16="http://schemas.microsoft.com/office/drawing/2014/main" id="{73E35038-6701-4557-92C9-6C831F769495}"/>
              </a:ext>
            </a:extLst>
          </p:cNvPr>
          <p:cNvSpPr>
            <a:spLocks xmlns:a="http://schemas.openxmlformats.org/drawingml/2006/main" noGrp="1"/>
          </p:cNvSpPr>
          <p:nvPr/>
        </p:nvSpPr>
        <p:spPr>
          <a:xfrm xmlns:a="http://schemas.openxmlformats.org/drawingml/2006/main">
            <a:off x="548640" y="3017520"/>
            <a:ext cx="1828800" cy="82296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2700">
            <a:solidFill>
              <a:srgbClr val="1D2B26"/>
            </a:solidFill>
            <a:prstDash val="solid"/>
          </a:ln>
        </p:spPr>
      </p:sp>
      <p:sp>
        <p:nvSpPr>
          <p:cNvPr id="5" name="Text 2">
            <a:extLst xmlns:a="http://schemas.openxmlformats.org/drawingml/2006/main">
              <a:ext uri="{FF2B5EF4-FFF2-40B4-BE49-F238E27FC236}">
                <a16:creationId xmlns:a16="http://schemas.microsoft.com/office/drawing/2014/main" id="{3D62171F-13D1-48CE-A6BD-F3F7AFB39058}"/>
              </a:ext>
            </a:extLst>
          </p:cNvPr>
          <p:cNvSpPr>
            <a:spLocks xmlns:a="http://schemas.openxmlformats.org/drawingml/2006/main" noGrp="1"/>
          </p:cNvSpPr>
          <p:nvPr/>
        </p:nvSpPr>
        <p:spPr>
          <a:xfrm xmlns:a="http://schemas.openxmlformats.org/drawingml/2006/main">
            <a:off x="548640" y="3218688"/>
            <a:ext cx="1828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Read request</a:t>
            </a:r>
            <a:endParaRPr sz="1800"/>
          </a:p>
        </p:txBody>
      </p:sp>
      <p:sp>
        <p:nvSpPr>
          <p:cNvPr id="6" name="Shape 3">
            <a:extLst xmlns:a="http://schemas.openxmlformats.org/drawingml/2006/main">
              <a:ext uri="{FF2B5EF4-FFF2-40B4-BE49-F238E27FC236}">
                <a16:creationId xmlns:a16="http://schemas.microsoft.com/office/drawing/2014/main" id="{32FD4B96-1DDD-4134-AC08-A7FEB4A719DE}"/>
              </a:ext>
            </a:extLst>
          </p:cNvPr>
          <p:cNvSpPr>
            <a:spLocks xmlns:a="http://schemas.openxmlformats.org/drawingml/2006/main" noGrp="1"/>
          </p:cNvSpPr>
          <p:nvPr/>
        </p:nvSpPr>
        <p:spPr>
          <a:xfrm xmlns:a="http://schemas.openxmlformats.org/drawingml/2006/main">
            <a:off x="2926080" y="1554480"/>
            <a:ext cx="2194560" cy="82296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2700">
            <a:solidFill>
              <a:srgbClr val="F2B33D"/>
            </a:solidFill>
            <a:prstDash val="solid"/>
          </a:ln>
        </p:spPr>
      </p:sp>
      <p:sp>
        <p:nvSpPr>
          <p:cNvPr id="7" name="Text 4">
            <a:extLst xmlns:a="http://schemas.openxmlformats.org/drawingml/2006/main">
              <a:ext uri="{FF2B5EF4-FFF2-40B4-BE49-F238E27FC236}">
                <a16:creationId xmlns:a16="http://schemas.microsoft.com/office/drawing/2014/main" id="{66D47FD8-00AF-4E45-AB63-067D45370409}"/>
              </a:ext>
            </a:extLst>
          </p:cNvPr>
          <p:cNvSpPr>
            <a:spLocks xmlns:a="http://schemas.openxmlformats.org/drawingml/2006/main" noGrp="1"/>
          </p:cNvSpPr>
          <p:nvPr/>
        </p:nvSpPr>
        <p:spPr>
          <a:xfrm xmlns:a="http://schemas.openxmlformats.org/drawingml/2006/main">
            <a:off x="2926080" y="1755648"/>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Ask for budget</a:t>
            </a:r>
            <a:endParaRPr sz="1800"/>
          </a:p>
        </p:txBody>
      </p:sp>
      <p:sp>
        <p:nvSpPr>
          <p:cNvPr id="8" name="Shape 5">
            <a:extLst xmlns:a="http://schemas.openxmlformats.org/drawingml/2006/main">
              <a:ext uri="{FF2B5EF4-FFF2-40B4-BE49-F238E27FC236}">
                <a16:creationId xmlns:a16="http://schemas.microsoft.com/office/drawing/2014/main" id="{19D6381F-CE69-4E41-9B98-4593131F877F}"/>
              </a:ext>
            </a:extLst>
          </p:cNvPr>
          <p:cNvSpPr>
            <a:spLocks xmlns:a="http://schemas.openxmlformats.org/drawingml/2006/main" noGrp="1"/>
          </p:cNvSpPr>
          <p:nvPr/>
        </p:nvSpPr>
        <p:spPr>
          <a:xfrm xmlns:a="http://schemas.openxmlformats.org/drawingml/2006/main">
            <a:off x="2926080" y="3017520"/>
            <a:ext cx="1828800" cy="82296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2700">
            <a:solidFill>
              <a:srgbClr val="3B9C5A"/>
            </a:solidFill>
            <a:prstDash val="solid"/>
          </a:ln>
        </p:spPr>
      </p:sp>
      <p:sp>
        <p:nvSpPr>
          <p:cNvPr id="9" name="Text 6">
            <a:extLst xmlns:a="http://schemas.openxmlformats.org/drawingml/2006/main">
              <a:ext uri="{FF2B5EF4-FFF2-40B4-BE49-F238E27FC236}">
                <a16:creationId xmlns:a16="http://schemas.microsoft.com/office/drawing/2014/main" id="{5EC454F0-9318-4A71-AE65-A976916F4418}"/>
              </a:ext>
            </a:extLst>
          </p:cNvPr>
          <p:cNvSpPr>
            <a:spLocks xmlns:a="http://schemas.openxmlformats.org/drawingml/2006/main" noGrp="1"/>
          </p:cNvSpPr>
          <p:nvPr/>
        </p:nvSpPr>
        <p:spPr>
          <a:xfrm xmlns:a="http://schemas.openxmlformats.org/drawingml/2006/main">
            <a:off x="2926080" y="3218688"/>
            <a:ext cx="1828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Search menu</a:t>
            </a:r>
            <a:endParaRPr sz="1800"/>
          </a:p>
        </p:txBody>
      </p:sp>
      <p:sp>
        <p:nvSpPr>
          <p:cNvPr id="10" name="Shape 7">
            <a:extLst xmlns:a="http://schemas.openxmlformats.org/drawingml/2006/main">
              <a:ext uri="{FF2B5EF4-FFF2-40B4-BE49-F238E27FC236}">
                <a16:creationId xmlns:a16="http://schemas.microsoft.com/office/drawing/2014/main" id="{86905B89-AED0-4F35-B884-9A06BF578AD7}"/>
              </a:ext>
            </a:extLst>
          </p:cNvPr>
          <p:cNvSpPr>
            <a:spLocks xmlns:a="http://schemas.openxmlformats.org/drawingml/2006/main" noGrp="1"/>
          </p:cNvSpPr>
          <p:nvPr/>
        </p:nvSpPr>
        <p:spPr>
          <a:xfrm xmlns:a="http://schemas.openxmlformats.org/drawingml/2006/main">
            <a:off x="5303520" y="3017520"/>
            <a:ext cx="1828800" cy="82296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2700">
            <a:solidFill>
              <a:srgbClr val="3B9C5A"/>
            </a:solidFill>
            <a:prstDash val="solid"/>
          </a:ln>
        </p:spPr>
      </p:sp>
      <p:sp>
        <p:nvSpPr>
          <p:cNvPr id="11" name="Text 8">
            <a:extLst xmlns:a="http://schemas.openxmlformats.org/drawingml/2006/main">
              <a:ext uri="{FF2B5EF4-FFF2-40B4-BE49-F238E27FC236}">
                <a16:creationId xmlns:a16="http://schemas.microsoft.com/office/drawing/2014/main" id="{2FFEE209-A7F7-4FD3-B104-A2283BDCDD3C}"/>
              </a:ext>
            </a:extLst>
          </p:cNvPr>
          <p:cNvSpPr>
            <a:spLocks xmlns:a="http://schemas.openxmlformats.org/drawingml/2006/main" noGrp="1"/>
          </p:cNvSpPr>
          <p:nvPr/>
        </p:nvSpPr>
        <p:spPr>
          <a:xfrm xmlns:a="http://schemas.openxmlformats.org/drawingml/2006/main">
            <a:off x="5303520" y="3218688"/>
            <a:ext cx="1828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Check hours</a:t>
            </a:r>
            <a:endParaRPr sz="1800"/>
          </a:p>
        </p:txBody>
      </p:sp>
      <p:sp>
        <p:nvSpPr>
          <p:cNvPr id="12" name="Shape 9">
            <a:extLst xmlns:a="http://schemas.openxmlformats.org/drawingml/2006/main">
              <a:ext uri="{FF2B5EF4-FFF2-40B4-BE49-F238E27FC236}">
                <a16:creationId xmlns:a16="http://schemas.microsoft.com/office/drawing/2014/main" id="{4BA7B446-FE5E-4A88-97FD-9F10F860BBF2}"/>
              </a:ext>
            </a:extLst>
          </p:cNvPr>
          <p:cNvSpPr>
            <a:spLocks xmlns:a="http://schemas.openxmlformats.org/drawingml/2006/main" noGrp="1"/>
          </p:cNvSpPr>
          <p:nvPr/>
        </p:nvSpPr>
        <p:spPr>
          <a:xfrm xmlns:a="http://schemas.openxmlformats.org/drawingml/2006/main">
            <a:off x="7680960" y="3017520"/>
            <a:ext cx="1554480" cy="82296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2700">
            <a:solidFill>
              <a:srgbClr val="1D2B26"/>
            </a:solidFill>
            <a:prstDash val="solid"/>
          </a:ln>
        </p:spPr>
      </p:sp>
      <p:sp>
        <p:nvSpPr>
          <p:cNvPr id="13" name="Text 10">
            <a:extLst xmlns:a="http://schemas.openxmlformats.org/drawingml/2006/main">
              <a:ext uri="{FF2B5EF4-FFF2-40B4-BE49-F238E27FC236}">
                <a16:creationId xmlns:a16="http://schemas.microsoft.com/office/drawing/2014/main" id="{6F383049-7B5A-4D1F-B95C-09C59B2479AD}"/>
              </a:ext>
            </a:extLst>
          </p:cNvPr>
          <p:cNvSpPr>
            <a:spLocks xmlns:a="http://schemas.openxmlformats.org/drawingml/2006/main" noGrp="1"/>
          </p:cNvSpPr>
          <p:nvPr/>
        </p:nvSpPr>
        <p:spPr>
          <a:xfrm xmlns:a="http://schemas.openxmlformats.org/drawingml/2006/main">
            <a:off x="7680960" y="3218688"/>
            <a:ext cx="1554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Verify</a:t>
            </a:r>
            <a:endParaRPr sz="1800"/>
          </a:p>
        </p:txBody>
      </p:sp>
      <p:sp>
        <p:nvSpPr>
          <p:cNvPr id="14" name="Shape 11">
            <a:extLst xmlns:a="http://schemas.openxmlformats.org/drawingml/2006/main">
              <a:ext uri="{FF2B5EF4-FFF2-40B4-BE49-F238E27FC236}">
                <a16:creationId xmlns:a16="http://schemas.microsoft.com/office/drawing/2014/main" id="{6D9B1DC5-1C54-4D36-8205-8D2B37F0FD22}"/>
              </a:ext>
            </a:extLst>
          </p:cNvPr>
          <p:cNvSpPr>
            <a:spLocks xmlns:a="http://schemas.openxmlformats.org/drawingml/2006/main" noGrp="1"/>
          </p:cNvSpPr>
          <p:nvPr/>
        </p:nvSpPr>
        <p:spPr>
          <a:xfrm xmlns:a="http://schemas.openxmlformats.org/drawingml/2006/main">
            <a:off x="9784080" y="3017520"/>
            <a:ext cx="1828800" cy="82296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2700">
            <a:solidFill>
              <a:srgbClr val="3B9C5A"/>
            </a:solidFill>
            <a:prstDash val="solid"/>
          </a:ln>
        </p:spPr>
      </p:sp>
      <p:sp>
        <p:nvSpPr>
          <p:cNvPr id="15" name="Text 12">
            <a:extLst xmlns:a="http://schemas.openxmlformats.org/drawingml/2006/main">
              <a:ext uri="{FF2B5EF4-FFF2-40B4-BE49-F238E27FC236}">
                <a16:creationId xmlns:a16="http://schemas.microsoft.com/office/drawing/2014/main" id="{49460632-29D8-43F6-A067-11A535C67BF1}"/>
              </a:ext>
            </a:extLst>
          </p:cNvPr>
          <p:cNvSpPr>
            <a:spLocks xmlns:a="http://schemas.openxmlformats.org/drawingml/2006/main" noGrp="1"/>
          </p:cNvSpPr>
          <p:nvPr/>
        </p:nvSpPr>
        <p:spPr>
          <a:xfrm xmlns:a="http://schemas.openxmlformats.org/drawingml/2006/main">
            <a:off x="9784080" y="3218688"/>
            <a:ext cx="1828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800" b="1">
                <a:solidFill>
                  <a:srgbClr val="1D2B26"/>
                </a:solidFill>
                <a:latin typeface="Calibri"/>
                <a:ea typeface="Calibri"/>
                <a:cs typeface="Calibri"/>
              </a:rPr>
              <a:t>Answer</a:t>
            </a:r>
            <a:endParaRPr sz="1800"/>
          </a:p>
        </p:txBody>
      </p:sp>
      <p:sp>
        <p:nvSpPr>
          <p:cNvPr id="16" name="Shape 13">
            <a:extLst xmlns:a="http://schemas.openxmlformats.org/drawingml/2006/main">
              <a:ext uri="{FF2B5EF4-FFF2-40B4-BE49-F238E27FC236}">
                <a16:creationId xmlns:a16="http://schemas.microsoft.com/office/drawing/2014/main" id="{4FE9678E-E001-4874-B200-FB28430A4DF9}"/>
              </a:ext>
            </a:extLst>
          </p:cNvPr>
          <p:cNvSpPr>
            <a:spLocks xmlns:a="http://schemas.openxmlformats.org/drawingml/2006/main" noGrp="1"/>
          </p:cNvSpPr>
          <p:nvPr/>
        </p:nvSpPr>
        <p:spPr>
          <a:xfrm xmlns:a="http://schemas.openxmlformats.org/drawingml/2006/main">
            <a:off x="2423160" y="3429000"/>
            <a:ext cx="457200" cy="0"/>
          </a:xfrm>
          <a:prstGeom xmlns:a="http://schemas.openxmlformats.org/drawingml/2006/main" prst="line">
            <a:avLst/>
          </a:prstGeom>
          <a:noFill xmlns:a="http://schemas.openxmlformats.org/drawingml/2006/main"/>
          <a:ln xmlns:a="http://schemas.openxmlformats.org/drawingml/2006/main" w="28575">
            <a:solidFill>
              <a:srgbClr val="5C6B66"/>
            </a:solidFill>
            <a:prstDash val="solid"/>
            <a:tailEnd type="triangle"/>
          </a:ln>
        </p:spPr>
      </p:sp>
      <p:sp>
        <p:nvSpPr>
          <p:cNvPr id="17" name="Shape 14">
            <a:extLst xmlns:a="http://schemas.openxmlformats.org/drawingml/2006/main">
              <a:ext uri="{FF2B5EF4-FFF2-40B4-BE49-F238E27FC236}">
                <a16:creationId xmlns:a16="http://schemas.microsoft.com/office/drawing/2014/main" id="{221EF905-B338-4529-8F5C-5BCF0807BA8D}"/>
              </a:ext>
            </a:extLst>
          </p:cNvPr>
          <p:cNvSpPr>
            <a:spLocks xmlns:a="http://schemas.openxmlformats.org/drawingml/2006/main" noGrp="1"/>
          </p:cNvSpPr>
          <p:nvPr/>
        </p:nvSpPr>
        <p:spPr>
          <a:xfrm xmlns:a="http://schemas.openxmlformats.org/drawingml/2006/main">
            <a:off x="4800600" y="3429000"/>
            <a:ext cx="457200" cy="0"/>
          </a:xfrm>
          <a:prstGeom xmlns:a="http://schemas.openxmlformats.org/drawingml/2006/main" prst="line">
            <a:avLst/>
          </a:prstGeom>
          <a:noFill xmlns:a="http://schemas.openxmlformats.org/drawingml/2006/main"/>
          <a:ln xmlns:a="http://schemas.openxmlformats.org/drawingml/2006/main" w="28575">
            <a:solidFill>
              <a:srgbClr val="5C6B66"/>
            </a:solidFill>
            <a:prstDash val="solid"/>
            <a:tailEnd type="triangle"/>
          </a:ln>
        </p:spPr>
      </p:sp>
      <p:sp>
        <p:nvSpPr>
          <p:cNvPr id="18" name="Shape 15">
            <a:extLst xmlns:a="http://schemas.openxmlformats.org/drawingml/2006/main">
              <a:ext uri="{FF2B5EF4-FFF2-40B4-BE49-F238E27FC236}">
                <a16:creationId xmlns:a16="http://schemas.microsoft.com/office/drawing/2014/main" id="{25A35E60-6962-470F-9833-29413FCD8EDB}"/>
              </a:ext>
            </a:extLst>
          </p:cNvPr>
          <p:cNvSpPr>
            <a:spLocks xmlns:a="http://schemas.openxmlformats.org/drawingml/2006/main" noGrp="1"/>
          </p:cNvSpPr>
          <p:nvPr/>
        </p:nvSpPr>
        <p:spPr>
          <a:xfrm xmlns:a="http://schemas.openxmlformats.org/drawingml/2006/main">
            <a:off x="7178040" y="3429000"/>
            <a:ext cx="457200" cy="0"/>
          </a:xfrm>
          <a:prstGeom xmlns:a="http://schemas.openxmlformats.org/drawingml/2006/main" prst="line">
            <a:avLst/>
          </a:prstGeom>
          <a:noFill xmlns:a="http://schemas.openxmlformats.org/drawingml/2006/main"/>
          <a:ln xmlns:a="http://schemas.openxmlformats.org/drawingml/2006/main" w="28575">
            <a:solidFill>
              <a:srgbClr val="5C6B66"/>
            </a:solidFill>
            <a:prstDash val="solid"/>
            <a:tailEnd type="triangle"/>
          </a:ln>
        </p:spPr>
      </p:sp>
      <p:sp>
        <p:nvSpPr>
          <p:cNvPr id="19" name="Shape 16">
            <a:extLst xmlns:a="http://schemas.openxmlformats.org/drawingml/2006/main">
              <a:ext uri="{FF2B5EF4-FFF2-40B4-BE49-F238E27FC236}">
                <a16:creationId xmlns:a16="http://schemas.microsoft.com/office/drawing/2014/main" id="{15E68160-530A-4D72-9141-F23505466EDB}"/>
              </a:ext>
            </a:extLst>
          </p:cNvPr>
          <p:cNvSpPr>
            <a:spLocks xmlns:a="http://schemas.openxmlformats.org/drawingml/2006/main" noGrp="1"/>
          </p:cNvSpPr>
          <p:nvPr/>
        </p:nvSpPr>
        <p:spPr>
          <a:xfrm xmlns:a="http://schemas.openxmlformats.org/drawingml/2006/main">
            <a:off x="9281160" y="3429000"/>
            <a:ext cx="457200" cy="0"/>
          </a:xfrm>
          <a:prstGeom xmlns:a="http://schemas.openxmlformats.org/drawingml/2006/main" prst="line">
            <a:avLst/>
          </a:prstGeom>
          <a:noFill xmlns:a="http://schemas.openxmlformats.org/drawingml/2006/main"/>
          <a:ln xmlns:a="http://schemas.openxmlformats.org/drawingml/2006/main" w="28575">
            <a:solidFill>
              <a:srgbClr val="5C6B66"/>
            </a:solidFill>
            <a:prstDash val="solid"/>
            <a:tailEnd type="triangle"/>
          </a:ln>
        </p:spPr>
      </p:sp>
      <p:sp>
        <p:nvSpPr>
          <p:cNvPr id="20" name="Shape 17">
            <a:extLst xmlns:a="http://schemas.openxmlformats.org/drawingml/2006/main">
              <a:ext uri="{FF2B5EF4-FFF2-40B4-BE49-F238E27FC236}">
                <a16:creationId xmlns:a16="http://schemas.microsoft.com/office/drawing/2014/main" id="{4616DBD4-99BD-4E78-A390-B719220F686B}"/>
              </a:ext>
            </a:extLst>
          </p:cNvPr>
          <p:cNvSpPr>
            <a:spLocks xmlns:a="http://schemas.openxmlformats.org/drawingml/2006/main" noGrp="1"/>
          </p:cNvSpPr>
          <p:nvPr/>
        </p:nvSpPr>
        <p:spPr>
          <a:xfrm xmlns:a="http://schemas.openxmlformats.org/drawingml/2006/main">
            <a:off x="1463040" y="1965960"/>
            <a:ext cx="0" cy="1051560"/>
          </a:xfrm>
          <a:prstGeom xmlns:a="http://schemas.openxmlformats.org/drawingml/2006/main" prst="line">
            <a:avLst/>
          </a:prstGeom>
          <a:noFill xmlns:a="http://schemas.openxmlformats.org/drawingml/2006/main"/>
          <a:ln xmlns:a="http://schemas.openxmlformats.org/drawingml/2006/main" w="28575">
            <a:solidFill>
              <a:srgbClr val="F2B33D"/>
            </a:solidFill>
            <a:prstDash val="solid"/>
          </a:ln>
        </p:spPr>
      </p:sp>
      <p:sp>
        <p:nvSpPr>
          <p:cNvPr id="21" name="Shape 18">
            <a:extLst xmlns:a="http://schemas.openxmlformats.org/drawingml/2006/main">
              <a:ext uri="{FF2B5EF4-FFF2-40B4-BE49-F238E27FC236}">
                <a16:creationId xmlns:a16="http://schemas.microsoft.com/office/drawing/2014/main" id="{54A1BEE9-580C-4A72-AF85-6B56BD69693B}"/>
              </a:ext>
            </a:extLst>
          </p:cNvPr>
          <p:cNvSpPr>
            <a:spLocks xmlns:a="http://schemas.openxmlformats.org/drawingml/2006/main" noGrp="1"/>
          </p:cNvSpPr>
          <p:nvPr/>
        </p:nvSpPr>
        <p:spPr>
          <a:xfrm xmlns:a="http://schemas.openxmlformats.org/drawingml/2006/main">
            <a:off x="1463040" y="1965960"/>
            <a:ext cx="1417320" cy="0"/>
          </a:xfrm>
          <a:prstGeom xmlns:a="http://schemas.openxmlformats.org/drawingml/2006/main" prst="line">
            <a:avLst/>
          </a:prstGeom>
          <a:noFill xmlns:a="http://schemas.openxmlformats.org/drawingml/2006/main"/>
          <a:ln xmlns:a="http://schemas.openxmlformats.org/drawingml/2006/main" w="28575">
            <a:solidFill>
              <a:srgbClr val="F2B33D"/>
            </a:solidFill>
            <a:prstDash val="solid"/>
            <a:tailEnd type="triangle"/>
          </a:ln>
        </p:spPr>
      </p:sp>
      <p:sp>
        <p:nvSpPr>
          <p:cNvPr id="22" name="Text 19">
            <a:extLst xmlns:a="http://schemas.openxmlformats.org/drawingml/2006/main">
              <a:ext uri="{FF2B5EF4-FFF2-40B4-BE49-F238E27FC236}">
                <a16:creationId xmlns:a16="http://schemas.microsoft.com/office/drawing/2014/main" id="{7B7FE53C-D0DF-477D-B361-7440E8B50FA5}"/>
              </a:ext>
            </a:extLst>
          </p:cNvPr>
          <p:cNvSpPr>
            <a:spLocks xmlns:a="http://schemas.openxmlformats.org/drawingml/2006/main" noGrp="1"/>
          </p:cNvSpPr>
          <p:nvPr/>
        </p:nvSpPr>
        <p:spPr>
          <a:xfrm xmlns:a="http://schemas.openxmlformats.org/drawingml/2006/main">
            <a:off x="1554480" y="1417320"/>
            <a:ext cx="1463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i="1">
                <a:solidFill>
                  <a:srgbClr val="5C6B66"/>
                </a:solidFill>
                <a:latin typeface="Calibri"/>
                <a:ea typeface="Calibri"/>
                <a:cs typeface="Calibri"/>
              </a:rPr>
              <a:t>no budget?</a:t>
            </a:r>
            <a:endParaRPr sz="1400"/>
          </a:p>
        </p:txBody>
      </p:sp>
      <p:sp>
        <p:nvSpPr>
          <p:cNvPr id="23" name="Text 20">
            <a:extLst xmlns:a="http://schemas.openxmlformats.org/drawingml/2006/main">
              <a:ext uri="{FF2B5EF4-FFF2-40B4-BE49-F238E27FC236}">
                <a16:creationId xmlns:a16="http://schemas.microsoft.com/office/drawing/2014/main" id="{58E9C97C-9378-4F6E-9872-948D048F4110}"/>
              </a:ext>
            </a:extLst>
          </p:cNvPr>
          <p:cNvSpPr>
            <a:spLocks xmlns:a="http://schemas.openxmlformats.org/drawingml/2006/main" noGrp="1"/>
          </p:cNvSpPr>
          <p:nvPr/>
        </p:nvSpPr>
        <p:spPr>
          <a:xfrm xmlns:a="http://schemas.openxmlformats.org/drawingml/2006/main">
            <a:off x="5212080" y="1783080"/>
            <a:ext cx="2377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i="1">
                <a:solidFill>
                  <a:srgbClr val="5C6B66"/>
                </a:solidFill>
                <a:latin typeface="Calibri"/>
                <a:ea typeface="Calibri"/>
                <a:cs typeface="Calibri"/>
              </a:rPr>
              <a:t>→ ask, then end this run</a:t>
            </a:r>
            <a:endParaRPr sz="1400"/>
          </a:p>
        </p:txBody>
      </p:sp>
      <p:pic>
        <p:nvPicPr>
          <p:cNvPr id="24" name="Image 0">
            <a:extLst xmlns:a="http://schemas.openxmlformats.org/drawingml/2006/main">
              <a:ext uri="{FF2B5EF4-FFF2-40B4-BE49-F238E27FC236}">
                <a16:creationId xmlns:a16="http://schemas.microsoft.com/office/drawing/2014/main" id="{870ECE73-FF66-494E-9501-218AC9BEFD5C}"/>
              </a:ext>
            </a:extLst>
          </p:cNvPr>
          <p:cNvPicPr>
            <a:picLocks xmlns:a="http://schemas.openxmlformats.org/drawingml/2006/main" noChangeAspect="1"/>
          </p:cNvPicPr>
          <p:nvPr/>
        </p:nvPicPr>
        <p:blipFill>
          <a:blip xmlns:r="http://schemas.openxmlformats.org/officeDocument/2006/relationships" xmlns:a="http://schemas.openxmlformats.org/drawingml/2006/main" r:embed="R8d56302afeb8404d"/>
          <a:stretch xmlns:a="http://schemas.openxmlformats.org/drawingml/2006/main">
            <a:fillRect l="0" t="0" r="0" b="0"/>
          </a:stretch>
        </p:blipFill>
        <p:spPr>
          <a:xfrm xmlns:a="http://schemas.openxmlformats.org/drawingml/2006/main">
            <a:off x="3611880" y="3977640"/>
            <a:ext cx="457200" cy="457200"/>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A6004B26-9959-4410-B559-F9B2D71C3C56}"/>
              </a:ext>
            </a:extLst>
          </p:cNvPr>
          <p:cNvSpPr>
            <a:spLocks xmlns:a="http://schemas.openxmlformats.org/drawingml/2006/main" noGrp="1"/>
          </p:cNvSpPr>
          <p:nvPr/>
        </p:nvSpPr>
        <p:spPr>
          <a:xfrm xmlns:a="http://schemas.openxmlformats.org/drawingml/2006/main">
            <a:off x="2468880" y="4526280"/>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500" i="1">
                <a:solidFill>
                  <a:srgbClr val="E4572E"/>
                </a:solidFill>
                <a:latin typeface="Calibri"/>
                <a:ea typeface="Calibri"/>
                <a:cs typeface="Calibri"/>
              </a:rPr>
              <a:t>failed? retry once (2 attempts)</a:t>
            </a:r>
            <a:endParaRPr sz="1500"/>
          </a:p>
        </p:txBody>
      </p:sp>
      <p:sp>
        <p:nvSpPr>
          <p:cNvPr id="26" name="Text 22">
            <a:extLst xmlns:a="http://schemas.openxmlformats.org/drawingml/2006/main">
              <a:ext uri="{FF2B5EF4-FFF2-40B4-BE49-F238E27FC236}">
                <a16:creationId xmlns:a16="http://schemas.microsoft.com/office/drawing/2014/main" id="{F2A482DA-9117-486D-A36D-4F4C83E1B3E3}"/>
              </a:ext>
            </a:extLst>
          </p:cNvPr>
          <p:cNvSpPr>
            <a:spLocks xmlns:a="http://schemas.openxmlformats.org/drawingml/2006/main" noGrp="1"/>
          </p:cNvSpPr>
          <p:nvPr/>
        </p:nvSpPr>
        <p:spPr>
          <a:xfrm xmlns:a="http://schemas.openxmlformats.org/drawingml/2006/main">
            <a:off x="548640" y="539496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400" b="1">
                <a:solidFill>
                  <a:srgbClr val="1D2B26"/>
                </a:solidFill>
                <a:latin typeface="Bookman Old Style"/>
                <a:ea typeface="Bookman Old Style"/>
                <a:cs typeface="Bookman Old Style"/>
              </a:rPr>
              <a:t>Every arrow is a decision made by OUR code.</a:t>
            </a:r>
            <a:endParaRPr sz="2400"/>
          </a:p>
        </p:txBody>
      </p:sp>
      <p:sp>
        <p:nvSpPr>
          <p:cNvPr id="27" name="Slide Number Placeholder 0">
            <a:extLst xmlns:a="http://schemas.openxmlformats.org/drawingml/2006/main">
              <a:ext uri="{FF2B5EF4-FFF2-40B4-BE49-F238E27FC236}">
                <a16:creationId xmlns:a16="http://schemas.microsoft.com/office/drawing/2014/main" id="{EE7705A3-9622-4AD6-A6F1-EEE404E13A78}"/>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F3AE1AE4-D79E-94D6-E825-3FC6C21A77D2}" type="slidenum">
              <a:rPr b="0"/>
              <a:t>25</a:t>
            </a:fld>
            <a:endParaRPr/>
          </a:p>
        </p:txBody>
      </p:sp>
    </p:spTree>
    <p:extLst>
      <p:ext uri="{BB962C8B-B14F-4D97-AF65-F5344CB8AC3E}">
        <p14:creationId xmlns:p14="http://schemas.microsoft.com/office/powerpoint/2010/main" val="80067275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19A515-97B5-4B41-85D5-AEB1ECBDF7FF}"/>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Demo 3: one graph, four routes</a:t>
            </a:r>
            <a:endParaRPr sz="3200"/>
          </a:p>
        </p:txBody>
      </p:sp>
      <p:sp>
        <p:nvSpPr>
          <p:cNvPr id="4" name="Shape 1">
            <a:extLst xmlns:a="http://schemas.openxmlformats.org/drawingml/2006/main">
              <a:ext uri="{FF2B5EF4-FFF2-40B4-BE49-F238E27FC236}">
                <a16:creationId xmlns:a16="http://schemas.microsoft.com/office/drawing/2014/main" id="{6F57CFCE-0CF9-48D6-985E-471D4095674C}"/>
              </a:ext>
            </a:extLst>
          </p:cNvPr>
          <p:cNvSpPr>
            <a:spLocks xmlns:a="http://schemas.openxmlformats.org/drawingml/2006/main" noGrp="1"/>
          </p:cNvSpPr>
          <p:nvPr/>
        </p:nvSpPr>
        <p:spPr>
          <a:xfrm xmlns:a="http://schemas.openxmlformats.org/drawingml/2006/main">
            <a:off x="548640" y="1645920"/>
            <a:ext cx="11064240" cy="4114800"/>
          </a:xfrm>
          <a:prstGeom xmlns:a="http://schemas.openxmlformats.org/drawingml/2006/main" prst="roundRect">
            <a:avLst>
              <a:gd name="adj" fmla="val 2222"/>
            </a:avLst>
          </a:prstGeom>
          <a:solidFill xmlns:a="http://schemas.openxmlformats.org/drawingml/2006/main">
            <a:srgbClr val="16302A"/>
          </a:solidFill>
          <a:ln xmlns:a="http://schemas.openxmlformats.org/drawingml/2006/main" w="12700">
            <a:solidFill>
              <a:srgbClr val="16302A"/>
            </a:solidFill>
            <a:prstDash val="solid"/>
          </a:ln>
        </p:spPr>
      </p:sp>
      <p:sp>
        <p:nvSpPr>
          <p:cNvPr id="5" name="Text 2">
            <a:extLst xmlns:a="http://schemas.openxmlformats.org/drawingml/2006/main">
              <a:ext uri="{FF2B5EF4-FFF2-40B4-BE49-F238E27FC236}">
                <a16:creationId xmlns:a16="http://schemas.microsoft.com/office/drawing/2014/main" id="{D9164804-EB59-48D1-9955-15B887D32F8B}"/>
              </a:ext>
            </a:extLst>
          </p:cNvPr>
          <p:cNvSpPr>
            <a:spLocks xmlns:a="http://schemas.openxmlformats.org/drawingml/2006/main" noGrp="1"/>
          </p:cNvSpPr>
          <p:nvPr/>
        </p:nvSpPr>
        <p:spPr>
          <a:xfrm xmlns:a="http://schemas.openxmlformats.org/drawingml/2006/main">
            <a:off x="822960" y="1874520"/>
            <a:ext cx="105156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400"/>
              </a:spcAft>
              <a:buNone/>
            </a:pPr>
            <a:r>
              <a:rPr sz="1800">
                <a:solidFill>
                  <a:srgbClr val="8FD6A3"/>
                </a:solidFill>
                <a:latin typeface="Consolas"/>
                <a:ea typeface="Consolas"/>
                <a:cs typeface="Consolas"/>
              </a:rPr>
              <a:t>normal          read -&gt; search -&gt; hours -&gt; verify -&gt; answer</a:t>
            </a:r>
            <a:endParaRPr sz="1800"/>
          </a:p>
          <a:p xmlns:a="http://schemas.openxmlformats.org/drawingml/2006/main">
            <a:pPr marL="0" indent="0">
              <a:spcAft>
                <a:spcPts val="400"/>
              </a:spcAft>
              <a:buNone/>
            </a:pPr>
            <a:endParaRPr sz="1800"/>
          </a:p>
          <a:p xmlns:a="http://schemas.openxmlformats.org/drawingml/2006/main">
            <a:pPr marL="0" indent="0">
              <a:spcAft>
                <a:spcPts val="400"/>
              </a:spcAft>
              <a:buNone/>
            </a:pPr>
            <a:r>
              <a:rPr sz="1800">
                <a:solidFill>
                  <a:srgbClr val="F2B33D"/>
                </a:solidFill>
                <a:latin typeface="Consolas"/>
                <a:ea typeface="Consolas"/>
                <a:cs typeface="Consolas"/>
              </a:rPr>
              <a:t>no budget       read -&gt; ask_for_budget        </a:t>
            </a:r>
            <a:r>
              <a:rPr sz="1800">
                <a:solidFill>
                  <a:srgbClr val="F2B33D"/>
                </a:solidFill>
                <a:latin typeface="Consolas"/>
                <a:ea typeface="Consolas"/>
                <a:cs typeface="Consolas"/>
              </a:rPr>
              <a:t>(ends this run)</a:t>
            </a:r>
            <a:endParaRPr sz="1800"/>
          </a:p>
          <a:p xmlns:a="http://schemas.openxmlformats.org/drawingml/2006/main">
            <a:pPr marL="0" indent="0">
              <a:spcAft>
                <a:spcPts val="400"/>
              </a:spcAft>
              <a:buNone/>
            </a:pPr>
            <a:endParaRPr sz="1800"/>
          </a:p>
          <a:p xmlns:a="http://schemas.openxmlformats.org/drawingml/2006/main">
            <a:pPr marL="0" indent="0">
              <a:spcAft>
                <a:spcPts val="400"/>
              </a:spcAft>
              <a:buNone/>
            </a:pPr>
            <a:r>
              <a:rPr sz="1800">
                <a:solidFill>
                  <a:srgbClr val="8FD6A3"/>
                </a:solidFill>
                <a:latin typeface="Consolas"/>
                <a:ea typeface="Consolas"/>
                <a:cs typeface="Consolas"/>
              </a:rPr>
              <a:t>menu flaky      read -&gt; search ✗ -&gt; search ✓ -&gt; hours -&gt; verify -&gt; answer</a:t>
            </a:r>
            <a:endParaRPr sz="1800"/>
          </a:p>
          <a:p xmlns:a="http://schemas.openxmlformats.org/drawingml/2006/main">
            <a:pPr marL="0" indent="0">
              <a:spcAft>
                <a:spcPts val="400"/>
              </a:spcAft>
              <a:buNone/>
            </a:pPr>
            <a:endParaRPr sz="1800"/>
          </a:p>
          <a:p xmlns:a="http://schemas.openxmlformats.org/drawingml/2006/main">
            <a:pPr marL="0" indent="0">
              <a:spcAft>
                <a:spcPts val="400"/>
              </a:spcAft>
              <a:buNone/>
            </a:pPr>
            <a:r>
              <a:rPr sz="1800">
                <a:solidFill>
                  <a:srgbClr val="F7A58A"/>
                </a:solidFill>
                <a:latin typeface="Consolas"/>
                <a:ea typeface="Consolas"/>
                <a:cs typeface="Consolas"/>
              </a:rPr>
              <a:t>menu down       read -&gt; search ✗ -&gt; search ✗ -&gt; hours -&gt; verify -&gt; answer</a:t>
            </a:r>
            <a:endParaRPr sz="1800"/>
          </a:p>
          <a:p xmlns:a="http://schemas.openxmlformats.org/drawingml/2006/main">
            <a:pPr marL="0" indent="0">
              <a:spcAft>
                <a:spcPts val="400"/>
              </a:spcAft>
              <a:buNone/>
            </a:pPr>
            <a:r>
              <a:rPr sz="1800" b="1">
                <a:solidFill>
                  <a:srgbClr val="F7A58A"/>
                </a:solidFill>
                <a:latin typeface="Consolas"/>
                <a:ea typeface="Consolas"/>
                <a:cs typeface="Consolas"/>
              </a:rPr>
              <a:t>                “Sorry, I couldn't reach the menu right now.”</a:t>
            </a:r>
            <a:endParaRPr sz="1800"/>
          </a:p>
        </p:txBody>
      </p:sp>
      <p:sp>
        <p:nvSpPr>
          <p:cNvPr id="25" name="Slide Number Placeholder 0">
            <a:extLst xmlns:a="http://schemas.openxmlformats.org/drawingml/2006/main">
              <a:ext uri="{FF2B5EF4-FFF2-40B4-BE49-F238E27FC236}">
                <a16:creationId xmlns:a16="http://schemas.microsoft.com/office/drawing/2014/main" id="{4F7C3663-39BE-4C47-BA4E-164CBF27C450}"/>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5AB55966-FA28-BC73-EA9E-53DF014DF033}" type="slidenum">
              <a:rPr b="0"/>
              <a:t>26</a:t>
            </a:fld>
            <a:endParaRPr/>
          </a:p>
        </p:txBody>
      </p:sp>
    </p:spTree>
    <p:extLst>
      <p:ext uri="{BB962C8B-B14F-4D97-AF65-F5344CB8AC3E}">
        <p14:creationId xmlns:p14="http://schemas.microsoft.com/office/powerpoint/2010/main" val="881993629"/>
      </p:ext>
    </p:extLst>
  </p:cSld>
</p:sld>
</file>

<file path=ppt/slides/slide27.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BD7ACD31-DFC4-4DEC-A129-C41FD527163B}"/>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Choose control before choosing a framework</a:t>
            </a:r>
          </a:p>
        </p:txBody>
      </p:sp>
      <p:sp>
        <p:nvSpPr>
          <p:cNvPr id="2" name="row-label-0">
            <a:extLst xmlns:a="http://schemas.openxmlformats.org/drawingml/2006/main">
              <a:ext uri="{FF2B5EF4-FFF2-40B4-BE49-F238E27FC236}">
                <a16:creationId xmlns:a16="http://schemas.microsoft.com/office/drawing/2014/main" id="{DF08DDD0-B92E-40E5-BF3C-D9CACDF98470}"/>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Fixed route</a:t>
            </a:r>
          </a:p>
        </p:txBody>
      </p:sp>
      <p:sp>
        <p:nvSpPr>
          <p:cNvPr id="3" name="row-body-0">
            <a:extLst xmlns:a="http://schemas.openxmlformats.org/drawingml/2006/main">
              <a:ext uri="{FF2B5EF4-FFF2-40B4-BE49-F238E27FC236}">
                <a16:creationId xmlns:a16="http://schemas.microsoft.com/office/drawing/2014/main" id="{F6F62EBB-80EC-45D3-B5FB-5301D9E9FDD9}"/>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Code chooses the next step.</a:t>
            </a:r>
          </a:p>
        </p:txBody>
      </p:sp>
      <p:sp>
        <p:nvSpPr>
          <p:cNvPr id="4" name="row-label-1">
            <a:extLst xmlns:a="http://schemas.openxmlformats.org/drawingml/2006/main">
              <a:ext uri="{FF2B5EF4-FFF2-40B4-BE49-F238E27FC236}">
                <a16:creationId xmlns:a16="http://schemas.microsoft.com/office/drawing/2014/main" id="{B63165D7-E046-42F8-AAFB-11C1FC226B10}"/>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Agent loop</a:t>
            </a:r>
          </a:p>
        </p:txBody>
      </p:sp>
      <p:sp>
        <p:nvSpPr>
          <p:cNvPr id="5" name="row-body-1">
            <a:extLst xmlns:a="http://schemas.openxmlformats.org/drawingml/2006/main">
              <a:ext uri="{FF2B5EF4-FFF2-40B4-BE49-F238E27FC236}">
                <a16:creationId xmlns:a16="http://schemas.microsoft.com/office/drawing/2014/main" id="{62D49F66-2A95-4C8B-B5EE-826E511D60D2}"/>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A model chooses allowed tool requests.</a:t>
            </a:r>
          </a:p>
        </p:txBody>
      </p:sp>
      <p:sp>
        <p:nvSpPr>
          <p:cNvPr id="6" name="row-label-2">
            <a:extLst xmlns:a="http://schemas.openxmlformats.org/drawingml/2006/main">
              <a:ext uri="{FF2B5EF4-FFF2-40B4-BE49-F238E27FC236}">
                <a16:creationId xmlns:a16="http://schemas.microsoft.com/office/drawing/2014/main" id="{7019C03C-EC0A-4FD1-A4BB-8FD0ADBC6597}"/>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Orchestration</a:t>
            </a:r>
          </a:p>
        </p:txBody>
      </p:sp>
      <p:sp>
        <p:nvSpPr>
          <p:cNvPr id="7" name="row-body-2">
            <a:extLst xmlns:a="http://schemas.openxmlformats.org/drawingml/2006/main">
              <a:ext uri="{FF2B5EF4-FFF2-40B4-BE49-F238E27FC236}">
                <a16:creationId xmlns:a16="http://schemas.microsoft.com/office/drawing/2014/main" id="{8CB48831-7A7B-4AF6-9357-605FBEEF5759}"/>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Coordinate steps and enforce boundaries.</a:t>
            </a:r>
          </a:p>
        </p:txBody>
      </p:sp>
      <p:sp>
        <p:nvSpPr>
          <p:cNvPr id="8" name="takeaway">
            <a:extLst xmlns:a="http://schemas.openxmlformats.org/drawingml/2006/main">
              <a:ext uri="{FF2B5EF4-FFF2-40B4-BE49-F238E27FC236}">
                <a16:creationId xmlns:a16="http://schemas.microsoft.com/office/drawing/2014/main" id="{AD062456-7945-401E-8DF9-E434B4455AD2}"/>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LangGraph can contain agents. A team needs a reason.</a:t>
            </a:r>
          </a:p>
        </p:txBody>
      </p:sp>
      <p:sp>
        <p:nvSpPr>
          <p:cNvPr id="9" name="footer">
            <a:extLst xmlns:a="http://schemas.openxmlformats.org/drawingml/2006/main">
              <a:ext uri="{FF2B5EF4-FFF2-40B4-BE49-F238E27FC236}">
                <a16:creationId xmlns:a16="http://schemas.microsoft.com/office/drawing/2014/main" id="{682045FD-FBD3-479D-B231-E018AD33BFC9}"/>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1C273CC3-7595-41D8-BC3A-BCA76BEB16B4}"/>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27</a:t>
            </a:r>
          </a:p>
        </p:txBody>
      </p:sp>
    </p:spTree>
    <p:extLst>
      <p:ext uri="{BB962C8B-B14F-4D97-AF65-F5344CB8AC3E}">
        <p14:creationId xmlns:p14="http://schemas.microsoft.com/office/powerpoint/2010/main" val="19399298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2944846-3F15-4E74-AAC3-67E36B462A71}"/>
              </a:ext>
            </a:extLst>
          </p:cNvPr>
          <p:cNvSpPr>
            <a:spLocks xmlns:a="http://schemas.openxmlformats.org/drawingml/2006/main" noGrp="1"/>
          </p:cNvSpPr>
          <p:nvPr/>
        </p:nvSpPr>
        <p:spPr>
          <a:xfrm xmlns:a="http://schemas.openxmlformats.org/drawingml/2006/main">
            <a:off x="548640" y="411480"/>
            <a:ext cx="11064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D2B26"/>
                </a:solidFill>
                <a:latin typeface="Bookman Old Style"/>
                <a:ea typeface="Bookman Old Style"/>
                <a:cs typeface="Bookman Old Style"/>
              </a:rPr>
              <a:t>Where would YOU give the AI freedom?</a:t>
            </a:r>
            <a:endParaRPr sz="3200"/>
          </a:p>
        </p:txBody>
      </p:sp>
      <p:sp>
        <p:nvSpPr>
          <p:cNvPr id="4" name="Shape 1">
            <a:extLst xmlns:a="http://schemas.openxmlformats.org/drawingml/2006/main">
              <a:ext uri="{FF2B5EF4-FFF2-40B4-BE49-F238E27FC236}">
                <a16:creationId xmlns:a16="http://schemas.microsoft.com/office/drawing/2014/main" id="{A11ED215-6014-4A31-864D-7C5FEB97D315}"/>
              </a:ext>
            </a:extLst>
          </p:cNvPr>
          <p:cNvSpPr>
            <a:spLocks xmlns:a="http://schemas.openxmlformats.org/drawingml/2006/main" noGrp="1"/>
          </p:cNvSpPr>
          <p:nvPr/>
        </p:nvSpPr>
        <p:spPr>
          <a:xfrm xmlns:a="http://schemas.openxmlformats.org/drawingml/2006/main">
            <a:off x="548640" y="1600200"/>
            <a:ext cx="3505200" cy="3291840"/>
          </a:xfrm>
          <a:prstGeom xmlns:a="http://schemas.openxmlformats.org/drawingml/2006/main" prst="roundRect">
            <a:avLst>
              <a:gd name="adj" fmla="val 3333"/>
            </a:avLst>
          </a:prstGeom>
          <a:solidFill xmlns:a="http://schemas.openxmlformats.org/drawingml/2006/main">
            <a:srgbClr val="FFFFFF"/>
          </a:solidFill>
          <a:ln xmlns:a="http://schemas.openxmlformats.org/drawingml/2006/main" w="12700">
            <a:solidFill>
              <a:srgbClr val="D9DED8"/>
            </a:solidFill>
            <a:prstDash val="solid"/>
          </a:ln>
        </p:spPr>
      </p:sp>
      <p:pic>
        <p:nvPicPr>
          <p:cNvPr id="5" name="Image 0">
            <a:extLst xmlns:a="http://schemas.openxmlformats.org/drawingml/2006/main">
              <a:ext uri="{FF2B5EF4-FFF2-40B4-BE49-F238E27FC236}">
                <a16:creationId xmlns:a16="http://schemas.microsoft.com/office/drawing/2014/main" id="{60F0A44A-1C83-4471-920E-913FAB74FCF0}"/>
              </a:ext>
            </a:extLst>
          </p:cNvPr>
          <p:cNvPicPr>
            <a:picLocks xmlns:a="http://schemas.openxmlformats.org/drawingml/2006/main" noChangeAspect="1"/>
          </p:cNvPicPr>
          <p:nvPr/>
        </p:nvPicPr>
        <p:blipFill>
          <a:blip xmlns:r="http://schemas.openxmlformats.org/officeDocument/2006/relationships" xmlns:a="http://schemas.openxmlformats.org/drawingml/2006/main" r:embed="R51b8371d0f084703"/>
          <a:stretch xmlns:a="http://schemas.openxmlformats.org/drawingml/2006/main">
            <a:fillRect l="0" t="0" r="0" b="0"/>
          </a:stretch>
        </p:blipFill>
        <p:spPr>
          <a:xfrm xmlns:a="http://schemas.openxmlformats.org/drawingml/2006/main">
            <a:off x="868680" y="1920240"/>
            <a:ext cx="640080" cy="640080"/>
          </a:xfrm>
          <a:prstGeom xmlns:a="http://schemas.openxmlformats.org/drawingml/2006/main" prst="rect">
            <a:avLst/>
          </a:prstGeom>
        </p:spPr>
      </p:pic>
      <p:sp>
        <p:nvSpPr>
          <p:cNvPr id="6" name="Text 2">
            <a:extLst xmlns:a="http://schemas.openxmlformats.org/drawingml/2006/main">
              <a:ext uri="{FF2B5EF4-FFF2-40B4-BE49-F238E27FC236}">
                <a16:creationId xmlns:a16="http://schemas.microsoft.com/office/drawing/2014/main" id="{1C143778-5E7C-4374-9F8B-1BAAB2A98DA9}"/>
              </a:ext>
            </a:extLst>
          </p:cNvPr>
          <p:cNvSpPr>
            <a:spLocks xmlns:a="http://schemas.openxmlformats.org/drawingml/2006/main" noGrp="1"/>
          </p:cNvSpPr>
          <p:nvPr/>
        </p:nvSpPr>
        <p:spPr>
          <a:xfrm xmlns:a="http://schemas.openxmlformats.org/drawingml/2006/main">
            <a:off x="868680" y="2743200"/>
            <a:ext cx="286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A fixed menu filter</a:t>
            </a:r>
            <a:endParaRPr sz="2200"/>
          </a:p>
        </p:txBody>
      </p:sp>
      <p:sp>
        <p:nvSpPr>
          <p:cNvPr id="7" name="Text 3">
            <a:extLst xmlns:a="http://schemas.openxmlformats.org/drawingml/2006/main">
              <a:ext uri="{FF2B5EF4-FFF2-40B4-BE49-F238E27FC236}">
                <a16:creationId xmlns:a16="http://schemas.microsoft.com/office/drawing/2014/main" id="{3E0796A9-8ACF-4100-9B0D-F8F9EDEE6BBE}"/>
              </a:ext>
            </a:extLst>
          </p:cNvPr>
          <p:cNvSpPr>
            <a:spLocks xmlns:a="http://schemas.openxmlformats.org/drawingml/2006/main" noGrp="1"/>
          </p:cNvSpPr>
          <p:nvPr/>
        </p:nvSpPr>
        <p:spPr>
          <a:xfrm xmlns:a="http://schemas.openxmlformats.org/drawingml/2006/main">
            <a:off x="868680" y="3566160"/>
            <a:ext cx="2865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Same question, same rules every time.</a:t>
            </a:r>
            <a:endParaRPr sz="1900"/>
          </a:p>
        </p:txBody>
      </p:sp>
      <p:sp>
        <p:nvSpPr>
          <p:cNvPr id="8" name="Shape 4">
            <a:extLst xmlns:a="http://schemas.openxmlformats.org/drawingml/2006/main">
              <a:ext uri="{FF2B5EF4-FFF2-40B4-BE49-F238E27FC236}">
                <a16:creationId xmlns:a16="http://schemas.microsoft.com/office/drawing/2014/main" id="{69046F04-EA3E-4F79-B518-454B60F9BFDF}"/>
              </a:ext>
            </a:extLst>
          </p:cNvPr>
          <p:cNvSpPr>
            <a:spLocks xmlns:a="http://schemas.openxmlformats.org/drawingml/2006/main" noGrp="1"/>
          </p:cNvSpPr>
          <p:nvPr/>
        </p:nvSpPr>
        <p:spPr>
          <a:xfrm xmlns:a="http://schemas.openxmlformats.org/drawingml/2006/main">
            <a:off x="4328160" y="1600200"/>
            <a:ext cx="3505200" cy="3291840"/>
          </a:xfrm>
          <a:prstGeom xmlns:a="http://schemas.openxmlformats.org/drawingml/2006/main" prst="roundRect">
            <a:avLst>
              <a:gd name="adj" fmla="val 3333"/>
            </a:avLst>
          </a:prstGeom>
          <a:solidFill xmlns:a="http://schemas.openxmlformats.org/drawingml/2006/main">
            <a:srgbClr val="FFFFFF"/>
          </a:solidFill>
          <a:ln xmlns:a="http://schemas.openxmlformats.org/drawingml/2006/main" w="12700">
            <a:solidFill>
              <a:srgbClr val="D9DED8"/>
            </a:solidFill>
            <a:prstDash val="solid"/>
          </a:ln>
        </p:spPr>
      </p:sp>
      <p:pic>
        <p:nvPicPr>
          <p:cNvPr id="9" name="Image 1">
            <a:extLst xmlns:a="http://schemas.openxmlformats.org/drawingml/2006/main">
              <a:ext uri="{FF2B5EF4-FFF2-40B4-BE49-F238E27FC236}">
                <a16:creationId xmlns:a16="http://schemas.microsoft.com/office/drawing/2014/main" id="{AA735DF9-8C40-4F1D-9B58-75FF14496981}"/>
              </a:ext>
            </a:extLst>
          </p:cNvPr>
          <p:cNvPicPr>
            <a:picLocks xmlns:a="http://schemas.openxmlformats.org/drawingml/2006/main" noChangeAspect="1"/>
          </p:cNvPicPr>
          <p:nvPr/>
        </p:nvPicPr>
        <p:blipFill>
          <a:blip xmlns:r="http://schemas.openxmlformats.org/officeDocument/2006/relationships" xmlns:a="http://schemas.openxmlformats.org/drawingml/2006/main" r:embed="R8fea8587b7154089"/>
          <a:stretch xmlns:a="http://schemas.openxmlformats.org/drawingml/2006/main">
            <a:fillRect l="0" t="0" r="0" b="0"/>
          </a:stretch>
        </p:blipFill>
        <p:spPr>
          <a:xfrm xmlns:a="http://schemas.openxmlformats.org/drawingml/2006/main">
            <a:off x="4648200" y="1920240"/>
            <a:ext cx="640080" cy="640080"/>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B6A1C916-5D1D-4396-B217-69D46F9E62A3}"/>
              </a:ext>
            </a:extLst>
          </p:cNvPr>
          <p:cNvSpPr>
            <a:spLocks xmlns:a="http://schemas.openxmlformats.org/drawingml/2006/main" noGrp="1"/>
          </p:cNvSpPr>
          <p:nvPr/>
        </p:nvSpPr>
        <p:spPr>
          <a:xfrm xmlns:a="http://schemas.openxmlformats.org/drawingml/2006/main">
            <a:off x="4648200" y="2743200"/>
            <a:ext cx="286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A flexible campus helper</a:t>
            </a:r>
            <a:endParaRPr sz="2200"/>
          </a:p>
        </p:txBody>
      </p:sp>
      <p:sp>
        <p:nvSpPr>
          <p:cNvPr id="11" name="Text 6">
            <a:extLst xmlns:a="http://schemas.openxmlformats.org/drawingml/2006/main">
              <a:ext uri="{FF2B5EF4-FFF2-40B4-BE49-F238E27FC236}">
                <a16:creationId xmlns:a16="http://schemas.microsoft.com/office/drawing/2014/main" id="{D34F9977-7FE4-4484-A9FE-735158AD0042}"/>
              </a:ext>
            </a:extLst>
          </p:cNvPr>
          <p:cNvSpPr>
            <a:spLocks xmlns:a="http://schemas.openxmlformats.org/drawingml/2006/main" noGrp="1"/>
          </p:cNvSpPr>
          <p:nvPr/>
        </p:nvSpPr>
        <p:spPr>
          <a:xfrm xmlns:a="http://schemas.openxmlformats.org/drawingml/2006/main">
            <a:off x="4648200" y="3566160"/>
            <a:ext cx="2865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Timetables, events, food, anything.</a:t>
            </a:r>
            <a:endParaRPr sz="1900"/>
          </a:p>
        </p:txBody>
      </p:sp>
      <p:sp>
        <p:nvSpPr>
          <p:cNvPr id="12" name="Shape 7">
            <a:extLst xmlns:a="http://schemas.openxmlformats.org/drawingml/2006/main">
              <a:ext uri="{FF2B5EF4-FFF2-40B4-BE49-F238E27FC236}">
                <a16:creationId xmlns:a16="http://schemas.microsoft.com/office/drawing/2014/main" id="{F18C6852-3CA7-42FB-A85C-996EE9657526}"/>
              </a:ext>
            </a:extLst>
          </p:cNvPr>
          <p:cNvSpPr>
            <a:spLocks xmlns:a="http://schemas.openxmlformats.org/drawingml/2006/main" noGrp="1"/>
          </p:cNvSpPr>
          <p:nvPr/>
        </p:nvSpPr>
        <p:spPr>
          <a:xfrm xmlns:a="http://schemas.openxmlformats.org/drawingml/2006/main">
            <a:off x="8107680" y="1600200"/>
            <a:ext cx="3505200" cy="3291840"/>
          </a:xfrm>
          <a:prstGeom xmlns:a="http://schemas.openxmlformats.org/drawingml/2006/main" prst="roundRect">
            <a:avLst>
              <a:gd name="adj" fmla="val 3333"/>
            </a:avLst>
          </a:prstGeom>
          <a:solidFill xmlns:a="http://schemas.openxmlformats.org/drawingml/2006/main">
            <a:srgbClr val="FFFFFF"/>
          </a:solidFill>
          <a:ln xmlns:a="http://schemas.openxmlformats.org/drawingml/2006/main" w="12700">
            <a:solidFill>
              <a:srgbClr val="D9DED8"/>
            </a:solidFill>
            <a:prstDash val="solid"/>
          </a:ln>
        </p:spPr>
      </p:sp>
      <p:pic>
        <p:nvPicPr>
          <p:cNvPr id="13" name="Image 2">
            <a:extLst xmlns:a="http://schemas.openxmlformats.org/drawingml/2006/main">
              <a:ext uri="{FF2B5EF4-FFF2-40B4-BE49-F238E27FC236}">
                <a16:creationId xmlns:a16="http://schemas.microsoft.com/office/drawing/2014/main" id="{E0347E01-411D-48E0-A1FA-AE4D7DF72F8D}"/>
              </a:ext>
            </a:extLst>
          </p:cNvPr>
          <p:cNvPicPr>
            <a:picLocks xmlns:a="http://schemas.openxmlformats.org/drawingml/2006/main" noChangeAspect="1"/>
          </p:cNvPicPr>
          <p:nvPr/>
        </p:nvPicPr>
        <p:blipFill>
          <a:blip xmlns:r="http://schemas.openxmlformats.org/officeDocument/2006/relationships" xmlns:a="http://schemas.openxmlformats.org/drawingml/2006/main" r:embed="R4f21876d31844d34"/>
          <a:stretch xmlns:a="http://schemas.openxmlformats.org/drawingml/2006/main">
            <a:fillRect l="0" t="0" r="0" b="0"/>
          </a:stretch>
        </p:blipFill>
        <p:spPr>
          <a:xfrm xmlns:a="http://schemas.openxmlformats.org/drawingml/2006/main">
            <a:off x="8427720" y="1920240"/>
            <a:ext cx="640080" cy="640080"/>
          </a:xfrm>
          <a:prstGeom xmlns:a="http://schemas.openxmlformats.org/drawingml/2006/main" prst="rect">
            <a:avLst/>
          </a:prstGeom>
        </p:spPr>
      </p:pic>
      <p:sp>
        <p:nvSpPr>
          <p:cNvPr id="14" name="Text 8">
            <a:extLst xmlns:a="http://schemas.openxmlformats.org/drawingml/2006/main">
              <a:ext uri="{FF2B5EF4-FFF2-40B4-BE49-F238E27FC236}">
                <a16:creationId xmlns:a16="http://schemas.microsoft.com/office/drawing/2014/main" id="{5F5D1E2D-5CA4-4159-8054-9FD84549679B}"/>
              </a:ext>
            </a:extLst>
          </p:cNvPr>
          <p:cNvSpPr>
            <a:spLocks xmlns:a="http://schemas.openxmlformats.org/drawingml/2006/main" noGrp="1"/>
          </p:cNvSpPr>
          <p:nvPr/>
        </p:nvSpPr>
        <p:spPr>
          <a:xfrm xmlns:a="http://schemas.openxmlformats.org/drawingml/2006/main">
            <a:off x="8427720" y="2743200"/>
            <a:ext cx="286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rgbClr val="1D2B26"/>
                </a:solidFill>
                <a:latin typeface="Bookman Old Style"/>
                <a:ea typeface="Bookman Old Style"/>
                <a:cs typeface="Bookman Old Style"/>
              </a:rPr>
              <a:t>Placing a paid order</a:t>
            </a:r>
            <a:endParaRPr sz="2200"/>
          </a:p>
        </p:txBody>
      </p:sp>
      <p:sp>
        <p:nvSpPr>
          <p:cNvPr id="15" name="Text 9">
            <a:extLst xmlns:a="http://schemas.openxmlformats.org/drawingml/2006/main">
              <a:ext uri="{FF2B5EF4-FFF2-40B4-BE49-F238E27FC236}">
                <a16:creationId xmlns:a16="http://schemas.microsoft.com/office/drawing/2014/main" id="{E3A3DFD9-4225-41E7-88E6-5DC47E4934AE}"/>
              </a:ext>
            </a:extLst>
          </p:cNvPr>
          <p:cNvSpPr>
            <a:spLocks xmlns:a="http://schemas.openxmlformats.org/drawingml/2006/main" noGrp="1"/>
          </p:cNvSpPr>
          <p:nvPr/>
        </p:nvSpPr>
        <p:spPr>
          <a:xfrm xmlns:a="http://schemas.openxmlformats.org/drawingml/2006/main">
            <a:off x="8427720" y="3566160"/>
            <a:ext cx="2865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a:solidFill>
                  <a:srgbClr val="5C6B66"/>
                </a:solidFill>
                <a:latin typeface="Calibri"/>
                <a:ea typeface="Calibri"/>
                <a:cs typeface="Calibri"/>
              </a:rPr>
              <a:t>Money moves. Mistakes cost real rupees.</a:t>
            </a:r>
            <a:endParaRPr sz="1900"/>
          </a:p>
        </p:txBody>
      </p:sp>
      <p:sp>
        <p:nvSpPr>
          <p:cNvPr id="16" name="Text 10">
            <a:extLst xmlns:a="http://schemas.openxmlformats.org/drawingml/2006/main">
              <a:ext uri="{FF2B5EF4-FFF2-40B4-BE49-F238E27FC236}">
                <a16:creationId xmlns:a16="http://schemas.microsoft.com/office/drawing/2014/main" id="{4BD60275-1EE7-4321-A42A-9CB574D42FBF}"/>
              </a:ext>
            </a:extLst>
          </p:cNvPr>
          <p:cNvSpPr>
            <a:spLocks xmlns:a="http://schemas.openxmlformats.org/drawingml/2006/main" noGrp="1"/>
          </p:cNvSpPr>
          <p:nvPr/>
        </p:nvSpPr>
        <p:spPr>
          <a:xfrm xmlns:a="http://schemas.openxmlformats.org/drawingml/2006/main">
            <a:off x="548640" y="5303520"/>
            <a:ext cx="10972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2400" b="1">
                <a:solidFill>
                  <a:srgbClr val="1D2B26"/>
                </a:solidFill>
                <a:latin typeface="Bookman Old Style"/>
                <a:ea typeface="Bookman Old Style"/>
                <a:cs typeface="Bookman Old Style"/>
              </a:rPr>
              <a:t>No single right answer. Only a design you can defend.</a:t>
            </a:r>
            <a:endParaRPr sz="2400"/>
          </a:p>
        </p:txBody>
      </p:sp>
      <p:sp>
        <p:nvSpPr>
          <p:cNvPr id="25" name="Slide Number Placeholder 0">
            <a:extLst xmlns:a="http://schemas.openxmlformats.org/drawingml/2006/main">
              <a:ext uri="{FF2B5EF4-FFF2-40B4-BE49-F238E27FC236}">
                <a16:creationId xmlns:a16="http://schemas.microsoft.com/office/drawing/2014/main" id="{F0C9BE93-E3A0-4272-84BB-725E4DFF2619}"/>
              </a:ext>
            </a:extLst>
          </p:cNvPr>
          <p:cNvSpPr>
            <a:spLocks xmlns:a="http://schemas.openxmlformats.org/drawingml/2006/main" noGrp="1"/>
          </p:cNvSpPr>
          <p:nvPr>
            <p:ph type="sldNum" idx="4294967295"/>
          </p:nvPr>
        </p:nvSpPr>
        <p:spPr>
          <a:xfrm xmlns:a="http://schemas.openxmlformats.org/drawingml/2006/main">
            <a:off x="11155680" y="6400800"/>
            <a:ext cx="548640" cy="274320"/>
          </a:xfrm>
          <a:prstGeom xmlns:a="http://schemas.openxmlformats.org/drawingml/2006/main" prst="rect">
            <a:avLst/>
          </a:prstGeom>
        </p:spPr>
        <p:txBody>
          <a:bodyPr xmlns:a="http://schemas.openxmlformats.org/drawingml/2006/main"/>
          <a:lstStyle xmlns:a="http://schemas.openxmlformats.org/drawingml/2006/main">
            <a:lvl1pPr>
              <a:buNone/>
              <a:defRPr sz="1100">
                <a:solidFill>
                  <a:srgbClr val="5C6B66"/>
                </a:solidFill>
                <a:latin typeface="Calibri"/>
                <a:ea typeface="Calibri"/>
                <a:cs typeface="Calibri"/>
              </a:defRPr>
            </a:lvl1pPr>
          </a:lstStyle>
          <a:p xmlns:a="http://schemas.openxmlformats.org/drawingml/2006/main">
            <a:pPr algn="r">
              <a:buNone/>
            </a:pPr>
            <a:fld id="{68AD4375-9F50-F53A-6F9F-DD8473067C05}" type="slidenum">
              <a:rPr b="0"/>
              <a:t>28</a:t>
            </a:fld>
            <a:endParaRPr/>
          </a:p>
        </p:txBody>
      </p:sp>
    </p:spTree>
    <p:extLst>
      <p:ext uri="{BB962C8B-B14F-4D97-AF65-F5344CB8AC3E}">
        <p14:creationId xmlns:p14="http://schemas.microsoft.com/office/powerpoint/2010/main" val="1021120246"/>
      </p:ext>
    </p:extLst>
  </p:cSld>
</p:sld>
</file>

<file path=ppt/slides/slide29.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0FD76956-5DA8-425E-AD01-114EDFEE1699}"/>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Habits you can use in your next project</a:t>
            </a:r>
          </a:p>
        </p:txBody>
      </p:sp>
      <p:sp>
        <p:nvSpPr>
          <p:cNvPr id="2" name="row-label-0">
            <a:extLst xmlns:a="http://schemas.openxmlformats.org/drawingml/2006/main">
              <a:ext uri="{FF2B5EF4-FFF2-40B4-BE49-F238E27FC236}">
                <a16:creationId xmlns:a16="http://schemas.microsoft.com/office/drawing/2014/main" id="{3053F198-796D-4214-9155-F014F9600A58}"/>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Specify</a:t>
            </a:r>
          </a:p>
        </p:txBody>
      </p:sp>
      <p:sp>
        <p:nvSpPr>
          <p:cNvPr id="3" name="row-body-0">
            <a:extLst xmlns:a="http://schemas.openxmlformats.org/drawingml/2006/main">
              <a:ext uri="{FF2B5EF4-FFF2-40B4-BE49-F238E27FC236}">
                <a16:creationId xmlns:a16="http://schemas.microsoft.com/office/drawing/2014/main" id="{8331445E-C6D9-4175-A9BA-03A6DF0CFA88}"/>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Write the outcome and examples.</a:t>
            </a:r>
          </a:p>
        </p:txBody>
      </p:sp>
      <p:sp>
        <p:nvSpPr>
          <p:cNvPr id="4" name="row-label-1">
            <a:extLst xmlns:a="http://schemas.openxmlformats.org/drawingml/2006/main">
              <a:ext uri="{FF2B5EF4-FFF2-40B4-BE49-F238E27FC236}">
                <a16:creationId xmlns:a16="http://schemas.microsoft.com/office/drawing/2014/main" id="{28E695C3-C677-4AE2-AA70-9B44542103DC}"/>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Review</a:t>
            </a:r>
          </a:p>
        </p:txBody>
      </p:sp>
      <p:sp>
        <p:nvSpPr>
          <p:cNvPr id="5" name="row-body-1">
            <a:extLst xmlns:a="http://schemas.openxmlformats.org/drawingml/2006/main">
              <a:ext uri="{FF2B5EF4-FFF2-40B4-BE49-F238E27FC236}">
                <a16:creationId xmlns:a16="http://schemas.microsoft.com/office/drawing/2014/main" id="{191690A7-CAAA-443C-A126-272C0FD31737}"/>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Understand the changed lines.</a:t>
            </a:r>
          </a:p>
        </p:txBody>
      </p:sp>
      <p:sp>
        <p:nvSpPr>
          <p:cNvPr id="6" name="row-label-2">
            <a:extLst xmlns:a="http://schemas.openxmlformats.org/drawingml/2006/main">
              <a:ext uri="{FF2B5EF4-FFF2-40B4-BE49-F238E27FC236}">
                <a16:creationId xmlns:a16="http://schemas.microsoft.com/office/drawing/2014/main" id="{D95B7382-7256-47E6-8246-329FCCEF3449}"/>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Verify</a:t>
            </a:r>
          </a:p>
        </p:txBody>
      </p:sp>
      <p:sp>
        <p:nvSpPr>
          <p:cNvPr id="7" name="row-body-2">
            <a:extLst xmlns:a="http://schemas.openxmlformats.org/drawingml/2006/main">
              <a:ext uri="{FF2B5EF4-FFF2-40B4-BE49-F238E27FC236}">
                <a16:creationId xmlns:a16="http://schemas.microsoft.com/office/drawing/2014/main" id="{39A04B6E-1D50-44E4-B475-78CA4590907B}"/>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Run checks and record the result.</a:t>
            </a:r>
          </a:p>
        </p:txBody>
      </p:sp>
      <p:sp>
        <p:nvSpPr>
          <p:cNvPr id="8" name="takeaway">
            <a:extLst xmlns:a="http://schemas.openxmlformats.org/drawingml/2006/main">
              <a:ext uri="{FF2B5EF4-FFF2-40B4-BE49-F238E27FC236}">
                <a16:creationId xmlns:a16="http://schemas.microsoft.com/office/drawing/2014/main" id="{3FC2B730-BBE3-4C4C-9EBC-B69F719AB10E}"/>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Keep a short handoff: what changed, what passed, what is untested.</a:t>
            </a:r>
          </a:p>
        </p:txBody>
      </p:sp>
      <p:sp>
        <p:nvSpPr>
          <p:cNvPr id="9" name="footer">
            <a:extLst xmlns:a="http://schemas.openxmlformats.org/drawingml/2006/main">
              <a:ext uri="{FF2B5EF4-FFF2-40B4-BE49-F238E27FC236}">
                <a16:creationId xmlns:a16="http://schemas.microsoft.com/office/drawing/2014/main" id="{576B8016-8727-41CB-9534-5A9C64ECF27D}"/>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12D01F29-F33B-4252-B8B7-BDD515551065}"/>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29</a:t>
            </a:r>
          </a:p>
        </p:txBody>
      </p:sp>
    </p:spTree>
    <p:extLst>
      <p:ext uri="{BB962C8B-B14F-4D97-AF65-F5344CB8AC3E}">
        <p14:creationId xmlns:p14="http://schemas.microsoft.com/office/powerpoint/2010/main" val="349632069"/>
      </p:ext>
    </p:extLst>
  </p:cSld>
</p:sld>
</file>

<file path=ppt/slides/slide30.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1D4318B6-D5C3-4F00-9BFB-7866A99FAF2E}"/>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Checkpoint 4: explain your result</a:t>
            </a:r>
          </a:p>
        </p:txBody>
      </p:sp>
      <p:sp>
        <p:nvSpPr>
          <p:cNvPr id="2" name="row-label-0">
            <a:extLst xmlns:a="http://schemas.openxmlformats.org/drawingml/2006/main">
              <a:ext uri="{FF2B5EF4-FFF2-40B4-BE49-F238E27FC236}">
                <a16:creationId xmlns:a16="http://schemas.microsoft.com/office/drawing/2014/main" id="{E95A0940-624B-4114-B3AE-6FDD1048101B}"/>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Instruction</a:t>
            </a:r>
          </a:p>
        </p:txBody>
      </p:sp>
      <p:sp>
        <p:nvSpPr>
          <p:cNvPr id="3" name="row-body-0">
            <a:extLst xmlns:a="http://schemas.openxmlformats.org/drawingml/2006/main">
              <a:ext uri="{FF2B5EF4-FFF2-40B4-BE49-F238E27FC236}">
                <a16:creationId xmlns:a16="http://schemas.microsoft.com/office/drawing/2014/main" id="{CF4B7172-C4E4-45D4-AB33-3676B7386D02}"/>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One concrete line for your AI coder.</a:t>
            </a:r>
          </a:p>
        </p:txBody>
      </p:sp>
      <p:sp>
        <p:nvSpPr>
          <p:cNvPr id="4" name="row-label-1">
            <a:extLst xmlns:a="http://schemas.openxmlformats.org/drawingml/2006/main">
              <a:ext uri="{FF2B5EF4-FFF2-40B4-BE49-F238E27FC236}">
                <a16:creationId xmlns:a16="http://schemas.microsoft.com/office/drawing/2014/main" id="{2C0924DA-E20A-4BA1-94D4-90DAAD9BA20C}"/>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Change</a:t>
            </a:r>
          </a:p>
        </p:txBody>
      </p:sp>
      <p:sp>
        <p:nvSpPr>
          <p:cNvPr id="5" name="row-body-1">
            <a:extLst xmlns:a="http://schemas.openxmlformats.org/drawingml/2006/main">
              <a:ext uri="{FF2B5EF4-FFF2-40B4-BE49-F238E27FC236}">
                <a16:creationId xmlns:a16="http://schemas.microsoft.com/office/drawing/2014/main" id="{E1E8F669-D712-4296-8DBA-6FF714A09C98}"/>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A small diff and its observed result.</a:t>
            </a:r>
          </a:p>
        </p:txBody>
      </p:sp>
      <p:sp>
        <p:nvSpPr>
          <p:cNvPr id="6" name="row-label-2">
            <a:extLst xmlns:a="http://schemas.openxmlformats.org/drawingml/2006/main">
              <a:ext uri="{FF2B5EF4-FFF2-40B4-BE49-F238E27FC236}">
                <a16:creationId xmlns:a16="http://schemas.microsoft.com/office/drawing/2014/main" id="{207A5481-CD85-4C04-AF88-1471B61702FC}"/>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Review</a:t>
            </a:r>
          </a:p>
        </p:txBody>
      </p:sp>
      <p:sp>
        <p:nvSpPr>
          <p:cNvPr id="7" name="row-body-2">
            <a:extLst xmlns:a="http://schemas.openxmlformats.org/drawingml/2006/main">
              <a:ext uri="{FF2B5EF4-FFF2-40B4-BE49-F238E27FC236}">
                <a16:creationId xmlns:a16="http://schemas.microsoft.com/office/drawing/2014/main" id="{CE4CC3F6-900F-4F5A-A692-117C57C5651B}"/>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One wrong answer your check would catch.</a:t>
            </a:r>
          </a:p>
        </p:txBody>
      </p:sp>
      <p:sp>
        <p:nvSpPr>
          <p:cNvPr id="8" name="takeaway">
            <a:extLst xmlns:a="http://schemas.openxmlformats.org/drawingml/2006/main">
              <a:ext uri="{FF2B5EF4-FFF2-40B4-BE49-F238E27FC236}">
                <a16:creationId xmlns:a16="http://schemas.microsoft.com/office/drawing/2014/main" id="{6F907B37-F853-4705-AF0D-A3A18C61E183}"/>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Save your own note. Mark predictions as not run.</a:t>
            </a:r>
          </a:p>
        </p:txBody>
      </p:sp>
      <p:sp>
        <p:nvSpPr>
          <p:cNvPr id="9" name="footer">
            <a:extLst xmlns:a="http://schemas.openxmlformats.org/drawingml/2006/main">
              <a:ext uri="{FF2B5EF4-FFF2-40B4-BE49-F238E27FC236}">
                <a16:creationId xmlns:a16="http://schemas.microsoft.com/office/drawing/2014/main" id="{957A7D0A-F6EB-45D5-B204-C8ADE1CD7EC0}"/>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DCBE3CAA-D763-44BF-852B-C4C2BC799B6B}"/>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30</a:t>
            </a:r>
          </a:p>
        </p:txBody>
      </p:sp>
    </p:spTree>
    <p:extLst>
      <p:ext uri="{BB962C8B-B14F-4D97-AF65-F5344CB8AC3E}">
        <p14:creationId xmlns:p14="http://schemas.microsoft.com/office/powerpoint/2010/main" val="521780992"/>
      </p:ext>
    </p:extLst>
  </p:cSld>
</p:sld>
</file>

<file path=ppt/slides/slide3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1" name="lesson-title">
            <a:extLst xmlns:a="http://schemas.openxmlformats.org/drawingml/2006/main">
              <a:ext uri="{FF2B5EF4-FFF2-40B4-BE49-F238E27FC236}">
                <a16:creationId xmlns:a16="http://schemas.microsoft.com/office/drawing/2014/main" id="{4505AB44-48C2-4A38-93B4-8F7BE1B5AAAE}"/>
              </a:ext>
            </a:extLst>
          </p:cNvPr>
          <p:cNvSpPr>
            <a:spLocks xmlns:a="http://schemas.openxmlformats.org/drawingml/2006/main" noGrp="1"/>
          </p:cNvSpPr>
          <p:nvPr/>
        </p:nvSpPr>
        <p:spPr>
          <a:xfrm xmlns:a="http://schemas.openxmlformats.org/drawingml/2006/main">
            <a:off x="552450" y="476250"/>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D2B26"/>
                </a:solidFill>
                <a:latin typeface="Bookman Old Style"/>
                <a:ea typeface="Bookman Old Style"/>
                <a:cs typeface="Bookman Old Style"/>
              </a:defRPr>
            </a:defPPr>
          </a:lstStyle>
          <a:p xmlns:a="http://schemas.openxmlformats.org/drawingml/2006/main">
            <a:pPr>
              <a:defRPr sz="3000" b="1">
                <a:solidFill>
                  <a:srgbClr val="1D2B26"/>
                </a:solidFill>
                <a:latin typeface="Bookman Old Style"/>
                <a:ea typeface="Bookman Old Style"/>
                <a:cs typeface="Bookman Old Style"/>
              </a:defRPr>
            </a:pPr>
            <a:r>
              <a:rPr sz="3000" b="1">
                <a:solidFill>
                  <a:srgbClr val="1D2B26"/>
                </a:solidFill>
                <a:latin typeface="Bookman Old Style"/>
                <a:ea typeface="Bookman Old Style"/>
                <a:cs typeface="Bookman Old Style"/>
              </a:rPr>
              <a:t>Questions and your next small project</a:t>
            </a:r>
          </a:p>
        </p:txBody>
      </p:sp>
      <p:sp>
        <p:nvSpPr>
          <p:cNvPr id="2" name="row-label-0">
            <a:extLst xmlns:a="http://schemas.openxmlformats.org/drawingml/2006/main">
              <a:ext uri="{FF2B5EF4-FFF2-40B4-BE49-F238E27FC236}">
                <a16:creationId xmlns:a16="http://schemas.microsoft.com/office/drawing/2014/main" id="{FDB15E8C-D529-49CA-B92F-378330CACE80}"/>
              </a:ext>
            </a:extLst>
          </p:cNvPr>
          <p:cNvSpPr>
            <a:spLocks xmlns:a="http://schemas.openxmlformats.org/drawingml/2006/main" noGrp="1"/>
          </p:cNvSpPr>
          <p:nvPr/>
        </p:nvSpPr>
        <p:spPr>
          <a:xfrm xmlns:a="http://schemas.openxmlformats.org/drawingml/2006/main">
            <a:off x="666750" y="18097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Today</a:t>
            </a:r>
          </a:p>
        </p:txBody>
      </p:sp>
      <p:sp>
        <p:nvSpPr>
          <p:cNvPr id="3" name="row-body-0">
            <a:extLst xmlns:a="http://schemas.openxmlformats.org/drawingml/2006/main">
              <a:ext uri="{FF2B5EF4-FFF2-40B4-BE49-F238E27FC236}">
                <a16:creationId xmlns:a16="http://schemas.microsoft.com/office/drawing/2014/main" id="{C9331D79-2A18-4443-B6AC-7832419CD525}"/>
              </a:ext>
            </a:extLst>
          </p:cNvPr>
          <p:cNvSpPr>
            <a:spLocks xmlns:a="http://schemas.openxmlformats.org/drawingml/2006/main" noGrp="1"/>
          </p:cNvSpPr>
          <p:nvPr/>
        </p:nvSpPr>
        <p:spPr>
          <a:xfrm xmlns:a="http://schemas.openxmlformats.org/drawingml/2006/main">
            <a:off x="3143250" y="18097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Instructions, one change, one review.</a:t>
            </a:r>
          </a:p>
        </p:txBody>
      </p:sp>
      <p:sp>
        <p:nvSpPr>
          <p:cNvPr id="4" name="row-label-1">
            <a:extLst xmlns:a="http://schemas.openxmlformats.org/drawingml/2006/main">
              <a:ext uri="{FF2B5EF4-FFF2-40B4-BE49-F238E27FC236}">
                <a16:creationId xmlns:a16="http://schemas.microsoft.com/office/drawing/2014/main" id="{8BF05180-0E8E-42CF-8AF1-FAADCFA4B71E}"/>
              </a:ext>
            </a:extLst>
          </p:cNvPr>
          <p:cNvSpPr>
            <a:spLocks xmlns:a="http://schemas.openxmlformats.org/drawingml/2006/main" noGrp="1"/>
          </p:cNvSpPr>
          <p:nvPr/>
        </p:nvSpPr>
        <p:spPr>
          <a:xfrm xmlns:a="http://schemas.openxmlformats.org/drawingml/2006/main">
            <a:off x="666750" y="30670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Next</a:t>
            </a:r>
          </a:p>
        </p:txBody>
      </p:sp>
      <p:sp>
        <p:nvSpPr>
          <p:cNvPr id="5" name="row-body-1">
            <a:extLst xmlns:a="http://schemas.openxmlformats.org/drawingml/2006/main">
              <a:ext uri="{FF2B5EF4-FFF2-40B4-BE49-F238E27FC236}">
                <a16:creationId xmlns:a16="http://schemas.microsoft.com/office/drawing/2014/main" id="{F203F758-FC11-439B-9251-C40632251B9A}"/>
              </a:ext>
            </a:extLst>
          </p:cNvPr>
          <p:cNvSpPr>
            <a:spLocks xmlns:a="http://schemas.openxmlformats.org/drawingml/2006/main" noGrp="1"/>
          </p:cNvSpPr>
          <p:nvPr/>
        </p:nvSpPr>
        <p:spPr>
          <a:xfrm xmlns:a="http://schemas.openxmlformats.org/drawingml/2006/main">
            <a:off x="3143250" y="30670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Try the longer lab at your own pace.</a:t>
            </a:r>
          </a:p>
        </p:txBody>
      </p:sp>
      <p:sp>
        <p:nvSpPr>
          <p:cNvPr id="6" name="row-label-2">
            <a:extLst xmlns:a="http://schemas.openxmlformats.org/drawingml/2006/main">
              <a:ext uri="{FF2B5EF4-FFF2-40B4-BE49-F238E27FC236}">
                <a16:creationId xmlns:a16="http://schemas.microsoft.com/office/drawing/2014/main" id="{CE1AD0E2-47B3-4B76-B129-05B557C9B1A2}"/>
              </a:ext>
            </a:extLst>
          </p:cNvPr>
          <p:cNvSpPr>
            <a:spLocks xmlns:a="http://schemas.openxmlformats.org/drawingml/2006/main" noGrp="1"/>
          </p:cNvSpPr>
          <p:nvPr/>
        </p:nvSpPr>
        <p:spPr>
          <a:xfrm xmlns:a="http://schemas.openxmlformats.org/drawingml/2006/main">
            <a:off x="666750" y="4324350"/>
            <a:ext cx="228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3B9C5A"/>
                </a:solidFill>
                <a:latin typeface="Calibri"/>
                <a:ea typeface="Calibri"/>
                <a:cs typeface="Calibri"/>
              </a:defRPr>
            </a:defPPr>
          </a:lstStyle>
          <a:p xmlns:a="http://schemas.openxmlformats.org/drawingml/2006/main">
            <a:pPr>
              <a:defRPr sz="2175" b="1">
                <a:solidFill>
                  <a:srgbClr val="3B9C5A"/>
                </a:solidFill>
                <a:latin typeface="Calibri"/>
                <a:ea typeface="Calibri"/>
                <a:cs typeface="Calibri"/>
              </a:defRPr>
            </a:pPr>
            <a:r>
              <a:rPr sz="2175" b="1">
                <a:solidFill>
                  <a:srgbClr val="3B9C5A"/>
                </a:solidFill>
                <a:latin typeface="Calibri"/>
                <a:ea typeface="Calibri"/>
                <a:cs typeface="Calibri"/>
              </a:rPr>
              <a:t>Take home</a:t>
            </a:r>
          </a:p>
        </p:txBody>
      </p:sp>
      <p:sp>
        <p:nvSpPr>
          <p:cNvPr id="7" name="row-body-2">
            <a:extLst xmlns:a="http://schemas.openxmlformats.org/drawingml/2006/main">
              <a:ext uri="{FF2B5EF4-FFF2-40B4-BE49-F238E27FC236}">
                <a16:creationId xmlns:a16="http://schemas.microsoft.com/office/drawing/2014/main" id="{3FBEC0EE-3480-4131-B3B7-63453CBF093F}"/>
              </a:ext>
            </a:extLst>
          </p:cNvPr>
          <p:cNvSpPr>
            <a:spLocks xmlns:a="http://schemas.openxmlformats.org/drawingml/2006/main" noGrp="1"/>
          </p:cNvSpPr>
          <p:nvPr/>
        </p:nvSpPr>
        <p:spPr>
          <a:xfrm xmlns:a="http://schemas.openxmlformats.org/drawingml/2006/main">
            <a:off x="3143250" y="4324350"/>
            <a:ext cx="8210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D2B26"/>
                </a:solidFill>
                <a:latin typeface="Calibri"/>
                <a:ea typeface="Calibri"/>
                <a:cs typeface="Calibri"/>
              </a:defRPr>
            </a:defPPr>
          </a:lstStyle>
          <a:p xmlns:a="http://schemas.openxmlformats.org/drawingml/2006/main">
            <a:pPr>
              <a:defRPr sz="2175" b="0">
                <a:solidFill>
                  <a:srgbClr val="1D2B26"/>
                </a:solidFill>
                <a:latin typeface="Calibri"/>
                <a:ea typeface="Calibri"/>
                <a:cs typeface="Calibri"/>
              </a:defRPr>
            </a:pPr>
            <a:r>
              <a:rPr sz="2175" b="0">
                <a:solidFill>
                  <a:srgbClr val="1D2B26"/>
                </a:solidFill>
                <a:latin typeface="Calibri"/>
                <a:ea typeface="Calibri"/>
                <a:cs typeface="Calibri"/>
              </a:rPr>
              <a:t>github.com/Vedantk1301/agentic-ai-workshop</a:t>
            </a:r>
          </a:p>
        </p:txBody>
      </p:sp>
      <p:sp>
        <p:nvSpPr>
          <p:cNvPr id="8" name="takeaway">
            <a:extLst xmlns:a="http://schemas.openxmlformats.org/drawingml/2006/main">
              <a:ext uri="{FF2B5EF4-FFF2-40B4-BE49-F238E27FC236}">
                <a16:creationId xmlns:a16="http://schemas.microsoft.com/office/drawing/2014/main" id="{F2FD45E3-05B4-4FEF-9231-FE2B0BDF99D7}"/>
              </a:ext>
            </a:extLst>
          </p:cNvPr>
          <p:cNvSpPr>
            <a:spLocks xmlns:a="http://schemas.openxmlformats.org/drawingml/2006/main" noGrp="1"/>
          </p:cNvSpPr>
          <p:nvPr/>
        </p:nvSpPr>
        <p:spPr>
          <a:xfrm xmlns:a="http://schemas.openxmlformats.org/drawingml/2006/main">
            <a:off x="666750"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E3A32"/>
                </a:solidFill>
                <a:latin typeface="Calibri"/>
                <a:ea typeface="Calibri"/>
                <a:cs typeface="Calibri"/>
              </a:defRPr>
            </a:defPPr>
          </a:lstStyle>
          <a:p xmlns:a="http://schemas.openxmlformats.org/drawingml/2006/main">
            <a:pPr>
              <a:defRPr sz="1800" b="1">
                <a:solidFill>
                  <a:srgbClr val="1E3A32"/>
                </a:solidFill>
                <a:latin typeface="Calibri"/>
                <a:ea typeface="Calibri"/>
                <a:cs typeface="Calibri"/>
              </a:defRPr>
            </a:pPr>
            <a:r>
              <a:rPr sz="1800" b="1">
                <a:solidFill>
                  <a:srgbClr val="1E3A32"/>
                </a:solidFill>
                <a:latin typeface="Calibri"/>
                <a:ea typeface="Calibri"/>
                <a:cs typeface="Calibri"/>
              </a:rPr>
              <a:t>Start with starter/README.md</a:t>
            </a:r>
          </a:p>
        </p:txBody>
      </p:sp>
      <p:sp>
        <p:nvSpPr>
          <p:cNvPr id="9" name="footer">
            <a:extLst xmlns:a="http://schemas.openxmlformats.org/drawingml/2006/main">
              <a:ext uri="{FF2B5EF4-FFF2-40B4-BE49-F238E27FC236}">
                <a16:creationId xmlns:a16="http://schemas.microsoft.com/office/drawing/2014/main" id="{AC6703D9-7E10-461F-8ADD-AE74B8B56673}"/>
              </a:ext>
            </a:extLst>
          </p:cNvPr>
          <p:cNvSpPr>
            <a:spLocks xmlns:a="http://schemas.openxmlformats.org/drawingml/2006/main" noGrp="1"/>
          </p:cNvSpPr>
          <p:nvPr/>
        </p:nvSpPr>
        <p:spPr>
          <a:xfrm xmlns:a="http://schemas.openxmlformats.org/drawingml/2006/main">
            <a:off x="647700" y="654367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Agentic AI in Practice · VIT Mumbai</a:t>
            </a:r>
          </a:p>
        </p:txBody>
      </p:sp>
      <p:sp>
        <p:nvSpPr>
          <p:cNvPr id="10" name="slide-number">
            <a:extLst xmlns:a="http://schemas.openxmlformats.org/drawingml/2006/main">
              <a:ext uri="{FF2B5EF4-FFF2-40B4-BE49-F238E27FC236}">
                <a16:creationId xmlns:a16="http://schemas.microsoft.com/office/drawing/2014/main" id="{54460228-DB9C-46FA-B01A-5597005F64A3}"/>
              </a:ext>
            </a:extLst>
          </p:cNvPr>
          <p:cNvSpPr>
            <a:spLocks xmlns:a="http://schemas.openxmlformats.org/drawingml/2006/main" noGrp="1"/>
          </p:cNvSpPr>
          <p:nvPr/>
        </p:nvSpPr>
        <p:spPr>
          <a:xfrm xmlns:a="http://schemas.openxmlformats.org/drawingml/2006/main">
            <a:off x="11287125" y="654367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C6B66"/>
                </a:solidFill>
                <a:latin typeface="Calibri"/>
                <a:ea typeface="Calibri"/>
                <a:cs typeface="Calibri"/>
              </a:defRPr>
            </a:defPPr>
          </a:lstStyle>
          <a:p xmlns:a="http://schemas.openxmlformats.org/drawingml/2006/main">
            <a:pPr>
              <a:defRPr sz="1050" b="0">
                <a:solidFill>
                  <a:srgbClr val="5C6B66"/>
                </a:solidFill>
                <a:latin typeface="Calibri"/>
                <a:ea typeface="Calibri"/>
                <a:cs typeface="Calibri"/>
              </a:defRPr>
            </a:pPr>
            <a:r>
              <a:rPr sz="1050" b="0">
                <a:solidFill>
                  <a:srgbClr val="5C6B66"/>
                </a:solidFill>
                <a:latin typeface="Calibri"/>
                <a:ea typeface="Calibri"/>
                <a:cs typeface="Calibri"/>
              </a:rPr>
              <a:t>31</a:t>
            </a:r>
          </a:p>
        </p:txBody>
      </p:sp>
    </p:spTree>
    <p:extLst>
      <p:ext uri="{BB962C8B-B14F-4D97-AF65-F5344CB8AC3E}">
        <p14:creationId xmlns:p14="http://schemas.microsoft.com/office/powerpoint/2010/main" val="43084675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2026-10-15T10:33:03.6550000Z</dcterms:created>
  <dcterms:modified xsi:type="dcterms:W3CDTF">2026-10-15T10:33:03.6550000Z</dcterms:modified>
</coreProperties>
</file>