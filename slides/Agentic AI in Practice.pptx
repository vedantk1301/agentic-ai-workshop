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da40b382e94d71" /><Relationship Type="http://schemas.openxmlformats.org/officeDocument/2006/relationships/extended-properties" Target="/docProps/app.xml" Id="R214a2aba0d9b44bd" /><Relationship Type="http://schemas.openxmlformats.org/officeDocument/2006/relationships/officeDocument" Target="/ppt/presentation.xml" Id="R1363268f92fc4fae" /></Relationships>
</file>

<file path=ppt/presentation.xml><?xml version="1.0" encoding="utf-8"?>
<p:presentation xmlns:p="http://schemas.openxmlformats.org/presentationml/2006/main">
  <p:sldMasterIdLst>
    <p:sldMasterId xmlns:r="http://schemas.openxmlformats.org/officeDocument/2006/relationships" id="2147483648" r:id="R4b2730e3f3314f06"/>
  </p:sldMasterIdLst>
  <p:notesMasterIdLst>
    <p:notesMasterId xmlns:r="http://schemas.openxmlformats.org/officeDocument/2006/relationships" r:id="R44263459020a421e"/>
  </p:notesMasterIdLst>
  <p:sldIdLst>
    <p:sldId xmlns:r="http://schemas.openxmlformats.org/officeDocument/2006/relationships" id="256" r:id="R6f70438c3e744e4d"/>
    <p:sldId xmlns:r="http://schemas.openxmlformats.org/officeDocument/2006/relationships" id="257" r:id="Ra3a03257ca6d4d06"/>
    <p:sldId xmlns:r="http://schemas.openxmlformats.org/officeDocument/2006/relationships" id="258" r:id="R8f5830012ac74b4e"/>
    <p:sldId xmlns:r="http://schemas.openxmlformats.org/officeDocument/2006/relationships" id="259" r:id="Ref351d55184b4216"/>
    <p:sldId xmlns:r="http://schemas.openxmlformats.org/officeDocument/2006/relationships" id="260" r:id="Rdf02b9c88bda43bf"/>
    <p:sldId xmlns:r="http://schemas.openxmlformats.org/officeDocument/2006/relationships" id="261" r:id="R366ffab00c25440f"/>
    <p:sldId xmlns:r="http://schemas.openxmlformats.org/officeDocument/2006/relationships" id="262" r:id="R21a7c541947c4d12"/>
    <p:sldId xmlns:r="http://schemas.openxmlformats.org/officeDocument/2006/relationships" id="263" r:id="Rfc2d96b872c14fae"/>
    <p:sldId xmlns:r="http://schemas.openxmlformats.org/officeDocument/2006/relationships" id="264" r:id="R8b5beaff61644b1e"/>
    <p:sldId xmlns:r="http://schemas.openxmlformats.org/officeDocument/2006/relationships" id="265" r:id="R824c5d93469544e4"/>
    <p:sldId xmlns:r="http://schemas.openxmlformats.org/officeDocument/2006/relationships" id="266" r:id="R4ac68097491f4c07"/>
    <p:sldId xmlns:r="http://schemas.openxmlformats.org/officeDocument/2006/relationships" id="267" r:id="R88b09a4ef53b4b5c"/>
    <p:sldId xmlns:r="http://schemas.openxmlformats.org/officeDocument/2006/relationships" id="268" r:id="Rb653ae9fb345454f"/>
    <p:sldId xmlns:r="http://schemas.openxmlformats.org/officeDocument/2006/relationships" id="269" r:id="Re6e87bd5e2414462"/>
    <p:sldId xmlns:r="http://schemas.openxmlformats.org/officeDocument/2006/relationships" id="270" r:id="Rb1861cce880b491f"/>
    <p:sldId xmlns:r="http://schemas.openxmlformats.org/officeDocument/2006/relationships" id="271" r:id="R21556c6599fe46dc"/>
    <p:sldId xmlns:r="http://schemas.openxmlformats.org/officeDocument/2006/relationships" id="272" r:id="Rc441409589ae4d2f"/>
    <p:sldId xmlns:r="http://schemas.openxmlformats.org/officeDocument/2006/relationships" id="273" r:id="R0434f47beea14625"/>
    <p:sldId xmlns:r="http://schemas.openxmlformats.org/officeDocument/2006/relationships" id="274" r:id="R6f762a1b0e8744ba"/>
    <p:sldId xmlns:r="http://schemas.openxmlformats.org/officeDocument/2006/relationships" id="275" r:id="Re4a1e5e0ed094e2f"/>
    <p:sldId xmlns:r="http://schemas.openxmlformats.org/officeDocument/2006/relationships" id="276" r:id="R47c3248e755f44c4"/>
    <p:sldId xmlns:r="http://schemas.openxmlformats.org/officeDocument/2006/relationships" id="277" r:id="Rd3577689476e4352"/>
    <p:sldId xmlns:r="http://schemas.openxmlformats.org/officeDocument/2006/relationships" id="278" r:id="R582e1646156341e9"/>
    <p:sldId xmlns:r="http://schemas.openxmlformats.org/officeDocument/2006/relationships" id="279" r:id="Rde73a1f7ae6242f9"/>
    <p:sldId xmlns:r="http://schemas.openxmlformats.org/officeDocument/2006/relationships" id="280" r:id="R8d50e18f62574172"/>
    <p:sldId xmlns:r="http://schemas.openxmlformats.org/officeDocument/2006/relationships" id="281" r:id="Rcd5beae671394828"/>
    <p:sldId xmlns:r="http://schemas.openxmlformats.org/officeDocument/2006/relationships" id="282" r:id="R6bda415aed09495f"/>
    <p:sldId xmlns:r="http://schemas.openxmlformats.org/officeDocument/2006/relationships" id="283" r:id="R3326c75acd3542c7"/>
    <p:sldId xmlns:r="http://schemas.openxmlformats.org/officeDocument/2006/relationships" id="284" r:id="R230e1a51673c4d6c"/>
    <p:sldId xmlns:r="http://schemas.openxmlformats.org/officeDocument/2006/relationships" id="285" r:id="Ra6375863381f499d"/>
    <p:sldId xmlns:r="http://schemas.openxmlformats.org/officeDocument/2006/relationships" id="286" r:id="R6bfeeceda1c3409b"/>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91661abb9114dae" /><Relationship Type="http://schemas.openxmlformats.org/officeDocument/2006/relationships/slideMaster" Target="/ppt/slideMasters/slideMaster1.xml" Id="R4b2730e3f3314f06" /><Relationship Type="http://schemas.openxmlformats.org/officeDocument/2006/relationships/notesMaster" Target="/ppt/notesMasters/notesMaster1.xml" Id="R44263459020a421e" /><Relationship Type="http://schemas.openxmlformats.org/officeDocument/2006/relationships/presProps" Target="/ppt/presProps.xml" Id="R4ce998afda3245f0" /><Relationship Type="http://schemas.openxmlformats.org/officeDocument/2006/relationships/viewProps" Target="/ppt/viewProps.xml" Id="Rf7160058496c47be" /><Relationship Type="http://schemas.openxmlformats.org/officeDocument/2006/relationships/tableStyles" Target="/ppt/tableStyles.xml" Id="Ra33633461489415e" /><Relationship Type="http://schemas.openxmlformats.org/officeDocument/2006/relationships/slide" Target="/ppt/slides/slide1.xml" Id="R6f70438c3e744e4d" /><Relationship Type="http://schemas.openxmlformats.org/officeDocument/2006/relationships/slide" Target="/ppt/slides/slide2.xml" Id="Ra3a03257ca6d4d06" /><Relationship Type="http://schemas.openxmlformats.org/officeDocument/2006/relationships/slide" Target="/ppt/slides/slide3.xml" Id="R8f5830012ac74b4e" /><Relationship Type="http://schemas.openxmlformats.org/officeDocument/2006/relationships/slide" Target="/ppt/slides/slide4.xml" Id="Ref351d55184b4216" /><Relationship Type="http://schemas.openxmlformats.org/officeDocument/2006/relationships/slide" Target="/ppt/slides/slide5.xml" Id="Rdf02b9c88bda43bf" /><Relationship Type="http://schemas.openxmlformats.org/officeDocument/2006/relationships/slide" Target="/ppt/slides/slide6.xml" Id="R366ffab00c25440f" /><Relationship Type="http://schemas.openxmlformats.org/officeDocument/2006/relationships/slide" Target="/ppt/slides/slide7.xml" Id="R21a7c541947c4d12" /><Relationship Type="http://schemas.openxmlformats.org/officeDocument/2006/relationships/slide" Target="/ppt/slides/slide8.xml" Id="Rfc2d96b872c14fae" /><Relationship Type="http://schemas.openxmlformats.org/officeDocument/2006/relationships/slide" Target="/ppt/slides/slide9.xml" Id="R8b5beaff61644b1e" /><Relationship Type="http://schemas.openxmlformats.org/officeDocument/2006/relationships/slide" Target="/ppt/slides/slide10.xml" Id="R824c5d93469544e4" /><Relationship Type="http://schemas.openxmlformats.org/officeDocument/2006/relationships/slide" Target="/ppt/slides/slide11.xml" Id="R4ac68097491f4c07" /><Relationship Type="http://schemas.openxmlformats.org/officeDocument/2006/relationships/slide" Target="/ppt/slides/slide12.xml" Id="R88b09a4ef53b4b5c" /><Relationship Type="http://schemas.openxmlformats.org/officeDocument/2006/relationships/slide" Target="/ppt/slides/slide13.xml" Id="Rb653ae9fb345454f" /><Relationship Type="http://schemas.openxmlformats.org/officeDocument/2006/relationships/slide" Target="/ppt/slides/slide14.xml" Id="Re6e87bd5e2414462" /><Relationship Type="http://schemas.openxmlformats.org/officeDocument/2006/relationships/slide" Target="/ppt/slides/slide15.xml" Id="Rb1861cce880b491f" /><Relationship Type="http://schemas.openxmlformats.org/officeDocument/2006/relationships/slide" Target="/ppt/slides/slide16.xml" Id="R21556c6599fe46dc" /><Relationship Type="http://schemas.openxmlformats.org/officeDocument/2006/relationships/slide" Target="/ppt/slides/slide17.xml" Id="Rc441409589ae4d2f" /><Relationship Type="http://schemas.openxmlformats.org/officeDocument/2006/relationships/slide" Target="/ppt/slides/slide18.xml" Id="R0434f47beea14625" /><Relationship Type="http://schemas.openxmlformats.org/officeDocument/2006/relationships/slide" Target="/ppt/slides/slide19.xml" Id="R6f762a1b0e8744ba" /><Relationship Type="http://schemas.openxmlformats.org/officeDocument/2006/relationships/slide" Target="/ppt/slides/slide20.xml" Id="Re4a1e5e0ed094e2f" /><Relationship Type="http://schemas.openxmlformats.org/officeDocument/2006/relationships/slide" Target="/ppt/slides/slide21.xml" Id="R47c3248e755f44c4" /><Relationship Type="http://schemas.openxmlformats.org/officeDocument/2006/relationships/slide" Target="/ppt/slides/slide22.xml" Id="Rd3577689476e4352" /><Relationship Type="http://schemas.openxmlformats.org/officeDocument/2006/relationships/slide" Target="/ppt/slides/slide23.xml" Id="R582e1646156341e9" /><Relationship Type="http://schemas.openxmlformats.org/officeDocument/2006/relationships/slide" Target="/ppt/slides/slide24.xml" Id="Rde73a1f7ae6242f9" /><Relationship Type="http://schemas.openxmlformats.org/officeDocument/2006/relationships/slide" Target="/ppt/slides/slide25.xml" Id="R8d50e18f62574172" /><Relationship Type="http://schemas.openxmlformats.org/officeDocument/2006/relationships/slide" Target="/ppt/slides/slide26.xml" Id="Rcd5beae671394828" /><Relationship Type="http://schemas.openxmlformats.org/officeDocument/2006/relationships/slide" Target="/ppt/slides/slide27.xml" Id="R6bda415aed09495f" /><Relationship Type="http://schemas.openxmlformats.org/officeDocument/2006/relationships/slide" Target="/ppt/slides/slide28.xml" Id="R3326c75acd3542c7" /><Relationship Type="http://schemas.openxmlformats.org/officeDocument/2006/relationships/slide" Target="/ppt/slides/slide29.xml" Id="R230e1a51673c4d6c" /><Relationship Type="http://schemas.openxmlformats.org/officeDocument/2006/relationships/slide" Target="/ppt/slides/slide30.xml" Id="Ra6375863381f499d" /><Relationship Type="http://schemas.openxmlformats.org/officeDocument/2006/relationships/slide" Target="/ppt/slides/slide31.xml" Id="R6bfeeceda1c340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fa3a5e0f1c4a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c356ef32f44326" /><Relationship Type="http://schemas.openxmlformats.org/officeDocument/2006/relationships/notesMaster" Target="/ppt/notesMasters/notesMaster1.xml" Id="Re925f4c9803b4f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33ec0245334e1b" /><Relationship Type="http://schemas.openxmlformats.org/officeDocument/2006/relationships/notesMaster" Target="/ppt/notesMasters/notesMaster1.xml" Id="Rd925367630dd4c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36c7490a0f4485" /><Relationship Type="http://schemas.openxmlformats.org/officeDocument/2006/relationships/notesMaster" Target="/ppt/notesMasters/notesMaster1.xml" Id="Ra3ca11f33c6c48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fadf9001c64524" /><Relationship Type="http://schemas.openxmlformats.org/officeDocument/2006/relationships/notesMaster" Target="/ppt/notesMasters/notesMaster1.xml" Id="Rba7a512da59a4f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8e7ad624ff4b3e" /><Relationship Type="http://schemas.openxmlformats.org/officeDocument/2006/relationships/notesMaster" Target="/ppt/notesMasters/notesMaster1.xml" Id="Rb2b7c3f7a2a446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798281d01e4eb5" /><Relationship Type="http://schemas.openxmlformats.org/officeDocument/2006/relationships/notesMaster" Target="/ppt/notesMasters/notesMaster1.xml" Id="Recf83555874242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2f500587124c03" /><Relationship Type="http://schemas.openxmlformats.org/officeDocument/2006/relationships/notesMaster" Target="/ppt/notesMasters/notesMaster1.xml" Id="R5800e7be5f0049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d43905c5954009" /><Relationship Type="http://schemas.openxmlformats.org/officeDocument/2006/relationships/notesMaster" Target="/ppt/notesMasters/notesMaster1.xml" Id="Rcfe6418a99ad47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17e87deec24faa" /><Relationship Type="http://schemas.openxmlformats.org/officeDocument/2006/relationships/notesMaster" Target="/ppt/notesMasters/notesMaster1.xml" Id="R564bd702a6df42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08fcebd0ce4da7" /><Relationship Type="http://schemas.openxmlformats.org/officeDocument/2006/relationships/notesMaster" Target="/ppt/notesMasters/notesMaster1.xml" Id="R773b3d9e9db843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712c5b1f4a49d3" /><Relationship Type="http://schemas.openxmlformats.org/officeDocument/2006/relationships/notesMaster" Target="/ppt/notesMasters/notesMaster1.xml" Id="R57424183d23242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03a1fad53b460c" /><Relationship Type="http://schemas.openxmlformats.org/officeDocument/2006/relationships/notesMaster" Target="/ppt/notesMasters/notesMaster1.xml" Id="R185f8ccb19ef43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b6b169a5d74293" /><Relationship Type="http://schemas.openxmlformats.org/officeDocument/2006/relationships/notesMaster" Target="/ppt/notesMasters/notesMaster1.xml" Id="Rb5af0f3ac0b94ec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d81066c4f143c7" /><Relationship Type="http://schemas.openxmlformats.org/officeDocument/2006/relationships/notesMaster" Target="/ppt/notesMasters/notesMaster1.xml" Id="R6da44e1ca21945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e84c58d0484075" /><Relationship Type="http://schemas.openxmlformats.org/officeDocument/2006/relationships/notesMaster" Target="/ppt/notesMasters/notesMaster1.xml" Id="R469b0304d2a14c7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4521556d59459c" /><Relationship Type="http://schemas.openxmlformats.org/officeDocument/2006/relationships/notesMaster" Target="/ppt/notesMasters/notesMaster1.xml" Id="Rca5486df16ac4a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bfe0c610be4e60" /><Relationship Type="http://schemas.openxmlformats.org/officeDocument/2006/relationships/notesMaster" Target="/ppt/notesMasters/notesMaster1.xml" Id="Rc623d66a4e6441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25da90e923a4314" /><Relationship Type="http://schemas.openxmlformats.org/officeDocument/2006/relationships/notesMaster" Target="/ppt/notesMasters/notesMaster1.xml" Id="Rcc8282a6808a46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ac2197b7c0f4029" /><Relationship Type="http://schemas.openxmlformats.org/officeDocument/2006/relationships/notesMaster" Target="/ppt/notesMasters/notesMaster1.xml" Id="R8098f1813c9141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29df4c7fd144597" /><Relationship Type="http://schemas.openxmlformats.org/officeDocument/2006/relationships/notesMaster" Target="/ppt/notesMasters/notesMaster1.xml" Id="R8b985c6d891241a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943085c47af4c1b" /><Relationship Type="http://schemas.openxmlformats.org/officeDocument/2006/relationships/notesMaster" Target="/ppt/notesMasters/notesMaster1.xml" Id="Rd965c994b24e4da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fde1552761142f5" /><Relationship Type="http://schemas.openxmlformats.org/officeDocument/2006/relationships/notesMaster" Target="/ppt/notesMasters/notesMaster1.xml" Id="Rb4a3eec112a540a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73d1ee9f1b428b" /><Relationship Type="http://schemas.openxmlformats.org/officeDocument/2006/relationships/notesMaster" Target="/ppt/notesMasters/notesMaster1.xml" Id="R9aba4cdaf8ce4dc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a2ee67066124304" /><Relationship Type="http://schemas.openxmlformats.org/officeDocument/2006/relationships/notesMaster" Target="/ppt/notesMasters/notesMaster1.xml" Id="Ra51b804789ac499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0b4cad63d124936" /><Relationship Type="http://schemas.openxmlformats.org/officeDocument/2006/relationships/notesMaster" Target="/ppt/notesMasters/notesMaster1.xml" Id="Rff02d884d0b14af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36451af6212468d" /><Relationship Type="http://schemas.openxmlformats.org/officeDocument/2006/relationships/notesMaster" Target="/ppt/notesMasters/notesMaster1.xml" Id="Rbfd05cf72a6f45e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e3dbeddf7d435c" /><Relationship Type="http://schemas.openxmlformats.org/officeDocument/2006/relationships/notesMaster" Target="/ppt/notesMasters/notesMaster1.xml" Id="R2e3152b1defa4fe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e2c0c63a16042e2" /><Relationship Type="http://schemas.openxmlformats.org/officeDocument/2006/relationships/notesMaster" Target="/ppt/notesMasters/notesMaster1.xml" Id="Rf75586db19b843e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f67682a19c5456d" /><Relationship Type="http://schemas.openxmlformats.org/officeDocument/2006/relationships/notesMaster" Target="/ppt/notesMasters/notesMaster1.xml" Id="R974847177dcc47c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55d86dd75ad48f5" /><Relationship Type="http://schemas.openxmlformats.org/officeDocument/2006/relationships/notesMaster" Target="/ppt/notesMasters/notesMaster1.xml" Id="Ra8a8a105c8364d7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739d82f23994370" /><Relationship Type="http://schemas.openxmlformats.org/officeDocument/2006/relationships/notesMaster" Target="/ppt/notesMasters/notesMaster1.xml" Id="R1cb0ab846b9549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11:00:00–11:01:00 IST (60 seconds).</a:t>
            </a:r>
            <a:endParaRPr/>
          </a:p>
          <a:p xmlns:a="http://schemas.openxmlformats.org/drawingml/2006/main">
            <a:r>
              <a:t/>
            </a:r>
            <a:endParaRPr/>
          </a:p>
          <a:p xmlns:a="http://schemas.openxmlformats.org/drawingml/2006/main">
            <a:r>
              <a:t>Welcome. Today each pair will write useful project instructions, change one request in a prepared program, and review an incorrect answer. We are following one canteen example. You do not need to learn every framework today.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11:01:00–11:03:00 IST (120 seconds).</a:t>
            </a:r>
            <a:endParaRPr/>
          </a:p>
          <a:p xmlns:a="http://schemas.openxmlformats.org/drawingml/2006/main">
            <a:r>
              <a:t/>
            </a:r>
            <a:endParaRPr/>
          </a:p>
          <a:p xmlns:a="http://schemas.openxmlformats.org/drawingml/2006/main">
            <a:r>
              <a:t>Ask which facts the assistant needs: budget, diet, stock and hours. Take three answers. Students can use a laptop in pairs or follow on paper. Do not assume everyone completed the earlier workshop setup.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11:03:00–11:06:00 IST (180 seconds).</a:t>
            </a:r>
            <a:endParaRPr/>
          </a:p>
          <a:p xmlns:a="http://schemas.openxmlformats.org/drawingml/2006/main">
            <a:r>
              <a:t/>
            </a:r>
            <a:endParaRPr/>
          </a:p>
          <a:p xmlns:a="http://schemas.openxmlformats.org/drawingml/2006/main">
            <a:r>
              <a:t>Introduce Canteen Bhaiya and Overconfident AI briefly. Let pairs find the nonexistent wrap. This is a constructed bad answer, not a measured Gemini failure. Point out the real sandwich, sold-out poha, non-vegetarian chicken and over-budget dosa. Ask one student to explain the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11:06:00–11:10:00 IST (240 seconds).</a:t>
            </a:r>
            <a:endParaRPr/>
          </a:p>
          <a:p xmlns:a="http://schemas.openxmlformats.org/drawingml/2006/main">
            <a:r>
              <a:t/>
            </a:r>
            <a:endParaRPr/>
          </a:p>
          <a:p xmlns:a="http://schemas.openxmlformats.org/drawingml/2006/main">
            <a:r>
              <a:t>Slowly trace model request, application execution and tool result. Use the order-slip analogy. A tool is ordinary code. A model can request a tool but does not directly run Python. Ask a student who actually reads the menu. If the answer is unclear, repeat this diagram instead of adding MCP terminology.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11:10:00–11:14:00 IST (240 seconds).</a:t>
            </a:r>
          </a:p>
          <a:p xmlns:a="http://schemas.openxmlformats.org/drawingml/2006/main">
            <a:r>
              <a:t/>
            </a:r>
          </a:p>
          <a:p xmlns:a="http://schemas.openxmlformats.org/drawingml/2006/main">
            <a:r>
              <a:t>Four-minute demonstration, not a room-wide account troubleshooting exercise. Open AI Studio with a separate workshop account and show API Keys. New users may already have a default project/key. Otherwise create a key in the AI Studio interface. Check that the project/model has free-tier access. No Cloud Console provisioning, billing upgrade or credit purchase. Do not reveal a real key. Account access and quotas vary. Source: https://ai.google.dev/gemini-api/docs/api-key and https://ai.google.dev/gemini-api/docs/billing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11:14:00–11:17:00 IST (180 seconds).</a:t>
            </a:r>
          </a:p>
          <a:p xmlns:a="http://schemas.openxmlformats.org/drawingml/2006/main">
            <a:r>
              <a:t/>
            </a:r>
          </a:p>
          <a:p xmlns:a="http://schemas.openxmlformats.org/drawingml/2006/main">
            <a:r>
              <a:t>Show .env.example with a blank key on the projector. Explain that students privately copy their own key to .env as GOOGLE_API_KEY. Do not type, show or distribute your own key. A pre-recorded or masked demonstration is enough. Run check_setup.py privately before class; on stage only use a configured demo. Signing into Antigravity and configuring this API key are separate steps. If setup fails, continue with --offline. AI Studio is 18+; ineligible students use offline/paper. Sources: https://ai.google.dev/gemini-api/docs/api-key and https://ai.google.dev/gemini-api/docs/available-regions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11:17:00–11:20:00 IST (180 seconds).</a:t>
            </a:r>
          </a:p>
          <a:p xmlns:a="http://schemas.openxmlformats.org/drawingml/2006/main">
            <a:r>
              <a:t/>
            </a:r>
          </a:p>
          <a:p xmlns:a="http://schemas.openxmlformats.org/drawingml/2006/main">
            <a:r>
              <a:t>Three-minute checkpoint. Students should have installed dependencies before class. Open starter/README.md. From the repository root run starter/agent.py --offline. Explain that it is a rule-based stand-in using the real agent/tool plumbing, not a real AI. If a pair is blocked, pair them with a working laptop or use the printed trace. Do not spend the next section repairing installations.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11:20:00–11:23:00 IST (180 seconds).</a:t>
            </a:r>
          </a:p>
          <a:p xmlns:a="http://schemas.openxmlformats.org/drawingml/2006/main">
            <a:r>
              <a:t/>
            </a:r>
          </a:p>
          <a:p xmlns:a="http://schemas.openxmlformats.org/drawingml/2006/main">
            <a:r>
              <a:t>Show these files inside starter/. Explain each reader and purpose. Tests are in deep-dives/demo/tests/ for later practice. Ask: where does stock belong? Where does the run command belong? Do not lecture on every folder or require everyone to create an empty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11:23:00–11:26:00 IST (180 seconds).</a:t>
            </a:r>
          </a:p>
          <a:p xmlns:a="http://schemas.openxmlformats.org/drawingml/2006/main">
            <a:r>
              <a:t/>
            </a:r>
          </a:p>
          <a:p xmlns:a="http://schemas.openxmlformats.org/drawingml/2006/main">
            <a:r>
              <a:t>Three minutes. Type a title, a Requirements heading and two bullet points in a scratch Markdown file. Show preview. Add one fenced command example if the room is ready. Ask pairs to write one clear requirement. Avoid teaching Markdown extensions or front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11:26:00–11:29:00 IST (180 seconds).</a:t>
            </a:r>
          </a:p>
          <a:p xmlns:a="http://schemas.openxmlformats.org/drawingml/2006/main">
            <a:r>
              <a:t/>
            </a:r>
          </a:p>
          <a:p xmlns:a="http://schemas.openxmlformats.org/drawingml/2006/main">
            <a:r>
              <a:t>The change is intentionally small. A first-year student can understand the budget change. A senior student should explain the evidence and failure cases. Read the three checks aloud. Do not expand this into a full new chatbot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11:29:00–11:32:00 IST (180 seconds).</a:t>
            </a:r>
          </a:p>
          <a:p xmlns:a="http://schemas.openxmlformats.org/drawingml/2006/main">
            <a:r>
              <a:t/>
            </a:r>
          </a:p>
          <a:p xmlns:a="http://schemas.openxmlformats.org/drawingml/2006/main">
            <a:r>
              <a:t>Read the existing AGENTS.md. Demonstrate one shared instruction file in the active client. Current Antigravity supports workspace AGENTS.md and GEMINI.md; check loaded rules for the installed version. Mention CLAUDE.md for Claude Code and GEMINI.md for Gemini CLI in one sentence only. Do not install three clients. These files guide a coding assistant; the Python demo does not automatically read them. Source: https://www.antigravity.google/docs/rules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11:32:00–11:36:00 IST (240 seconds).</a:t>
            </a:r>
          </a:p>
          <a:p xmlns:a="http://schemas.openxmlformats.org/drawingml/2006/main">
            <a:r>
              <a:t/>
            </a:r>
          </a:p>
          <a:p xmlns:a="http://schemas.openxmlformats.org/drawingml/2006/main">
            <a:r>
              <a:t>Four minutes of actual student work. Each pair writes five instruction lines in a scratch file or on paper, then adds its best project-specific line to the supplied AGENTS.md. Do not replace existing instructions. Ask two pairs to read a line and explain how a reviewer could check it. If they are stuck, start with “Do not change menu records to make a test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11:36:00–11:40:00 IST (240 seconds).</a:t>
            </a:r>
          </a:p>
          <a:p xmlns:a="http://schemas.openxmlformats.org/drawingml/2006/main">
            <a:r>
              <a:t/>
            </a:r>
          </a:p>
          <a:p xmlns:a="http://schemas.openxmlformats.org/drawingml/2006/main">
            <a:r>
              <a:t>Four minutes. Open data/menu.json and read one record slowly. Name, integer rupee price, boolean vegetarian and stock. Explain true/false and double-quoted JSON strings. Ask why an instruction saying “always recommend sandwich” cannot establish stock. No JSON-schema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11:40:00–11:44:00 IST (240 seconds).</a:t>
            </a:r>
            <a:endParaRPr/>
          </a:p>
          <a:p xmlns:a="http://schemas.openxmlformats.org/drawingml/2006/main">
            <a:r>
              <a:t/>
            </a:r>
            <a:endParaRPr/>
          </a:p>
          <a:p xmlns:a="http://schemas.openxmlformats.org/drawingml/2006/main">
            <a:r>
              <a:t>Run part A of 01 once, or open its saved output. Read find_food(max_price=80, vegetarian=True). Ask which records are excluded and why. Stay on the small function and its return value. Do not explain package imports or all helper modules.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11:44:00–11:47:00 IST (180 seconds).</a:t>
            </a:r>
            <a:endParaRPr/>
          </a:p>
          <a:p xmlns:a="http://schemas.openxmlformats.org/drawingml/2006/main">
            <a:r>
              <a:t/>
            </a:r>
            <a:endParaRPr/>
          </a:p>
          <a:p xmlns:a="http://schemas.openxmlformats.org/drawingml/2006/main">
            <a:r>
              <a:t>Explain ReAct as reasoning/action/observation using the lost-charger analogy. We can inspect tool requests and results; we are not displaying hidden reasoning. After every result the next request can depend on what was found. Keep to one loop and one example.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11:47:00–11:52:00 IST (300 seconds).</a:t>
            </a:r>
            <a:endParaRPr/>
          </a:p>
          <a:p xmlns:a="http://schemas.openxmlformats.org/drawingml/2006/main">
            <a:r>
              <a:t/>
            </a:r>
            <a:endParaRPr/>
          </a:p>
          <a:p xmlns:a="http://schemas.openxmlformats.org/drawingml/2006/main">
            <a:r>
              <a:t>Run starter/agent.py --pause with Gemini only if tested beforehand; otherwise add --offline and explicitly disclose the rule-based stand-in. The pause reveals an already-completed trace. Ask for predictions, then reveal tool requests/results. A real model may group or reorder calls. Keep this demonstration to five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11:52:00–12:00:00 IST (480 seconds).</a:t>
            </a:r>
          </a:p>
          <a:p xmlns:a="http://schemas.openxmlformats.org/drawingml/2006/main">
            <a:r>
              <a:t/>
            </a:r>
          </a:p>
          <a:p xmlns:a="http://schemas.openxmlformats.org/drawingml/2006/main">
            <a:r>
              <a:t>Eight minutes. Follow starter/README.md. Copy starter/agent.py to starter/practice_agent.py. Change only the first QUESTION budget from Rs 80 to Rs 30, manually or using a coding assistant. Do not change MENU_ONLY_QUESTION, tools or data. Run the copy with --offline. Compare before/after and explain why nothing qualifies. Advanced pairs try --scenario sold_out and --scenario menu_timeout. Check two pairs can explain the result before moving on. Finish by 12:00.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12:00:00–12:05:00 IST (300 seconds).</a:t>
            </a:r>
            <a:endParaRPr/>
          </a:p>
          <a:p xmlns:a="http://schemas.openxmlformats.org/drawingml/2006/main">
            <a:r>
              <a:t/>
            </a:r>
            <a:endParaRPr/>
          </a:p>
          <a:p xmlns:a="http://schemas.openxmlformats.org/drawingml/2006/main">
            <a:r>
              <a:t>Five-minute break, 12:00–12:05. Return at 12:05. Open the review exercise and demo 04. If installation issues remain, use a working pair/paper route after the break.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12:05:00–12:08:00 IST (180 seconds).</a:t>
            </a:r>
          </a:p>
          <a:p xmlns:a="http://schemas.openxmlformats.org/drawingml/2006/main">
            <a:r>
              <a:t/>
            </a:r>
          </a:p>
          <a:p xmlns:a="http://schemas.openxmlformats.org/drawingml/2006/main">
            <a:r>
              <a:t>Three minutes. Show the one-line budget diff first. Then introduce the review order: requirement, changed lines, input/tool values, failure, final text. A downloaded ZIP is not a Git repository. Use the editor comparison view. Git is optional and not a new installation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12:08:00–12:12:00 IST (240 seconds).</a:t>
            </a:r>
          </a:p>
          <a:p xmlns:a="http://schemas.openxmlformats.org/drawingml/2006/main">
            <a:r>
              <a:t/>
            </a:r>
          </a:p>
          <a:p xmlns:a="http://schemas.openxmlformats.org/drawingml/2006/main">
            <a:r>
              <a:t>Four minutes. The original 24 tests passed, but the model message could still contain a fake dish. Only the recommended_dishes list was checked. Ask a student to point to the value actually returned to the user. More passing tests alone do not prove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12:12:00–12:18:00 IST (360 seconds).</a:t>
            </a:r>
          </a:p>
          <a:p xmlns:a="http://schemas.openxmlformats.org/drawingml/2006/main">
            <a:r>
              <a:t/>
            </a:r>
          </a:p>
          <a:p xmlns:a="http://schemas.openxmlformats.org/drawingml/2006/main">
            <a:r>
              <a:t>Six minutes. Use the one-page Review Exercise.pdf. Ask pairs to identify the unsafe return, describe a correcting change, and write one expected input/output check. Let them work before showing the worked answer. No API call or AI account is needed. Take two answers. A rule in AGENTS.md alone does not fix the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12:18:00–12:22:00 IST (240 seconds).</a:t>
            </a:r>
            <a:endParaRPr/>
          </a:p>
          <a:p xmlns:a="http://schemas.openxmlformats.org/drawingml/2006/main">
            <a:r>
              <a:t/>
            </a:r>
            <a:endParaRPr/>
          </a:p>
          <a:p xmlns:a="http://schemas.openxmlformats.org/drawingml/2006/main">
            <a:r>
              <a:t>Four minutes. Run deep-dives/demo/04_graph_with_agent.py --offline --inject-mistake fake_dish, then free_text only if time remains. The mistake is injected for teaching. The MODEL PROPOSAL is untrusted debug text; ANSWER uses checked records. Joke payoff: Canteen Bhaiya 1, Overconfident AI 0. Explain the checking idea, not the entire 200-line implementation.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12:22:00–12:25:00 IST (180 seconds).</a:t>
            </a:r>
          </a:p>
          <a:p xmlns:a="http://schemas.openxmlformats.org/drawingml/2006/main">
            <a:r>
              <a:t/>
            </a:r>
          </a:p>
          <a:p xmlns:a="http://schemas.openxmlformats.org/drawingml/2006/main">
            <a:r>
              <a:t>Three minutes. Ask what a successful empty lookup means, and how that differs from a source failure. A search under Rs 10 does not establish no food under Rs 80. These are extension questions if the room is comfortable. Everyone should at least explain why a failed lookup cannot prove stock.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12:25:00–12:28:00 IST (180 seconds).</a:t>
            </a:r>
            <a:endParaRPr/>
          </a:p>
          <a:p xmlns:a="http://schemas.openxmlformats.org/drawingml/2006/main">
            <a:r>
              <a:t/>
            </a:r>
            <a:endParaRPr/>
          </a:p>
          <a:p xmlns:a="http://schemas.openxmlformats.org/drawingml/2006/main">
            <a:r>
              <a:t>Three minutes. State is the bag of information, nodes are steps, edges are routes. Students need to read a route, not write LangGraph syntax today. A node can contain ordinary code or a model-driven loop. Ask where the original budget is kept.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12:28:00–12:31:00 IST (180 seconds).</a:t>
            </a:r>
            <a:endParaRPr/>
          </a:p>
          <a:p xmlns:a="http://schemas.openxmlformats.org/drawingml/2006/main">
            <a:r>
              <a:t/>
            </a:r>
            <a:endParaRPr/>
          </a:p>
          <a:p xmlns:a="http://schemas.openxmlformats.org/drawingml/2006/main">
            <a:r>
              <a:t>Three minutes. Follow one normal route and one failed lookup route. Missing/invalid budget asks and ends this run; failure retries at most twice. No durable resumption is configured. Explicit graph structure can contain flexible agents. Ask which decision code should enforce.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12:31:00–12:33:00 IST (120 seconds).</a:t>
            </a:r>
            <a:endParaRPr/>
          </a:p>
          <a:p xmlns:a="http://schemas.openxmlformats.org/drawingml/2006/main">
            <a:r>
              <a:t/>
            </a:r>
            <a:endParaRPr/>
          </a:p>
          <a:p xmlns:a="http://schemas.openxmlformats.org/drawingml/2006/main">
            <a:r>
              <a:t>Two minutes. Use saved normal and timeout routes rather than another long live code tour. If behind, describe just one failure route. The full implementation and exercises remain in the take-home kit.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12:33:00–12:36:00 IST (180 seconds).</a:t>
            </a:r>
          </a:p>
          <a:p xmlns:a="http://schemas.openxmlformats.org/drawingml/2006/main">
            <a:r>
              <a:t/>
            </a:r>
          </a:p>
          <a:p xmlns:a="http://schemas.openxmlformats.org/drawingml/2006/main">
            <a:r>
              <a:t>Three-minute overview only. ReAct is a pattern, LangGraph orchestrates workflows and agents, and CrewAI provides crews and flows. They are not opposites on a deterministic-versus-autonomous scale. One model with two tools often handles lunch plus policy. Multi-agent setup and implementation are optional reference material. Sources: https://docs.langchain.com/oss/python/langgraph/overview and https://docs.crewai.com/en/concepts/crews and https://docs.crewai.com/en/concepts/flows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12:36:00–12:40:00 IST (240 seconds).</a:t>
            </a:r>
            <a:endParaRPr/>
          </a:p>
          <a:p xmlns:a="http://schemas.openxmlformats.org/drawingml/2006/main">
            <a:r>
              <a:t/>
            </a:r>
            <a:endParaRPr/>
          </a:p>
          <a:p xmlns:a="http://schemas.openxmlformats.org/drawingml/2006/main">
            <a:r>
              <a:t>Four minutes. One minute pair discussion: where would you allow a model to choose, and where should code check? Use menu filtering, campus helper and a paid order only as design questions. Take two answers. Extra jargon is not a better design. Finish by 12:40.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12:40:00–12:44:00 IST (240 seconds).</a:t>
            </a:r>
          </a:p>
          <a:p xmlns:a="http://schemas.openxmlformats.org/drawingml/2006/main">
            <a:r>
              <a:t/>
            </a:r>
          </a:p>
          <a:p xmlns:a="http://schemas.openxmlformats.org/drawingml/2006/main">
            <a:r>
              <a:t>Four minutes. Connect each habit to the change students just made. Requirements before edits, shared instructions/data with distinct roles, narrow diff review, check the final answer and failures. Do not add RAG, deployment, payments, CI configuration or another provider setup. Ainaa recording moves to optional reference discussion after the workshop.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12:44:00–12:50:00 IST (360 seconds).</a:t>
            </a:r>
          </a:p>
          <a:p xmlns:a="http://schemas.openxmlformats.org/drawingml/2006/main">
            <a:r>
              <a:t/>
            </a:r>
          </a:p>
          <a:p xmlns:a="http://schemas.openxmlformats.org/drawingml/2006/main">
            <a:r>
              <a:t>Six minutes. Each pair submits or shows: one useful instruction, the changed budget line with the resulting answer, and one review finding/check. Ask one first-year and one senior pair to explain in plain language. This is an exit check, not a promise everyone has mastered agents. If many are unsure, recap model/tool/code instead of introducing extra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Slot 12:50:00–13:00:00 IST (600 seconds).</a:t>
            </a:r>
          </a:p>
          <a:p xmlns:a="http://schemas.openxmlformats.org/drawingml/2006/main">
            <a:r>
              <a:t/>
            </a:r>
          </a:p>
          <a:p xmlns:a="http://schemas.openxmlformats.org/drawingml/2006/main">
            <a:r>
              <a:t>Ten-minute Q&amp;A and close, ending 13:00. Share the GitHub repository URL. It contains the starter, solutions and deeper material. While private, only authorised accounts can access it. Challenge students to extend one small workflow and check a failure. Do not require all five demos as homework. If asked about an untested case, say what remains unknown and how you would check it. No invented demo URLs or product architecture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a8bc0b7f594e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b6d8bfdd524e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e5adae10f641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7dbbe828f5458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LIGHT">
    <p:bg>
      <p:bgPr>
        <a:solidFill xmlns:a="http://schemas.openxmlformats.org/drawingml/2006/main">
          <a:srgbClr val="F8F8F5"/>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2C91A7-C09F-4461-93FF-BD22C77E4CA5}"/>
              </a:ext>
            </a:extLst>
          </p:cNvPr>
          <p:cNvSpPr>
            <a:spLocks xmlns:a="http://schemas.openxmlformats.org/drawingml/2006/main" noGrp="1"/>
          </p:cNvSpPr>
          <p:nvPr/>
        </p:nvSpPr>
        <p:spPr>
          <a:xfrm xmlns:a="http://schemas.openxmlformats.org/drawingml/2006/main">
            <a:off x="548640" y="6400800"/>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5C6B66"/>
                </a:solidFill>
                <a:latin typeface="Calibri"/>
                <a:ea typeface="Calibri"/>
                <a:cs typeface="Calibri"/>
              </a:rPr>
              <a:t>Agentic AI in Practice  ·  VIT Mumbai</a:t>
            </a:r>
            <a:endParaRPr sz="1100"/>
          </a:p>
        </p:txBody>
      </p:sp>
      <p:sp>
        <p:nvSpPr>
          <p:cNvPr id="25" name="Slide Number Placeholder 0">
            <a:extLst xmlns:a="http://schemas.openxmlformats.org/drawingml/2006/main">
              <a:ext uri="{FF2B5EF4-FFF2-40B4-BE49-F238E27FC236}">
                <a16:creationId xmlns:a16="http://schemas.microsoft.com/office/drawing/2014/main" id="{D0FF8C93-3FDF-4DB2-9D2D-B4193002B84C}"/>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F7021451-1387-4CA6-816F-3879F97B5CBC}" type="slidenum">
              <a:rPr b="0"/>
              <a:t>1002</a:t>
            </a:fld>
            <a:endParaRPr/>
          </a:p>
        </p:txBody>
      </p:sp>
    </p:spTree>
  </p:cSld>
</p:sldLayout>
</file>

<file path=ppt/slideLayouts/slideLayout3.xml><?xml version="1.0" encoding="utf-8"?>
<p:sldLayout xmlns:p="http://schemas.openxmlformats.org/presentationml/2006/main" preserve="1">
  <p:cSld name="DARK">
    <p:bg>
      <p:bgPr>
        <a:solidFill xmlns:a="http://schemas.openxmlformats.org/drawingml/2006/main">
          <a:srgbClr val="1E3A32"/>
        </a:solidFill>
      </p:bgPr>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preserve="1">
  <p:cSld name="CHECK">
    <p:bg>
      <p:bgPr>
        <a:solidFill xmlns:a="http://schemas.openxmlformats.org/drawingml/2006/main">
          <a:srgbClr val="F2B33D"/>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de4d8bb2014f2b" /><Relationship Type="http://schemas.openxmlformats.org/officeDocument/2006/relationships/slideLayout" Target="/ppt/slideLayouts/slideLayout1.xml" Id="R52047d91f7c44418" /><Relationship Type="http://schemas.openxmlformats.org/officeDocument/2006/relationships/slideLayout" Target="/ppt/slideLayouts/slideLayout2.xml" Id="Ra150ad7203c14132" /><Relationship Type="http://schemas.openxmlformats.org/officeDocument/2006/relationships/slideLayout" Target="/ppt/slideLayouts/slideLayout3.xml" Id="R703757d582e54371" /><Relationship Type="http://schemas.openxmlformats.org/officeDocument/2006/relationships/slideLayout" Target="/ppt/slideLayouts/slideLayout4.xml" Id="R1cdda83f075044a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6B897B04-387C-414F-9C71-55951C4BEE6F}"/>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047d91f7c44418"/>
    <p:sldLayoutId xmlns:r="http://schemas.openxmlformats.org/officeDocument/2006/relationships" id="2147483650" r:id="Ra150ad7203c14132"/>
    <p:sldLayoutId xmlns:r="http://schemas.openxmlformats.org/officeDocument/2006/relationships" id="2147483651" r:id="R703757d582e54371"/>
    <p:sldLayoutId xmlns:r="http://schemas.openxmlformats.org/officeDocument/2006/relationships" id="2147483652" r:id="R1cdda83f075044a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1cc5fcda16dc4909" /><Relationship Type="http://schemas.openxmlformats.org/officeDocument/2006/relationships/image" Target="/ppt/media/image.png" Id="R2c678bd53a854956" /><Relationship Type="http://schemas.openxmlformats.org/officeDocument/2006/relationships/image" Target="/ppt/media/image2.png" Id="R9ea971a6910f40e0" /><Relationship Type="http://schemas.openxmlformats.org/officeDocument/2006/relationships/notesSlide" Target="/ppt/notesSlides/notesSlide1.xml" Id="R538642761ecb4b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b0345fcd0e044034" /><Relationship Type="http://schemas.openxmlformats.org/officeDocument/2006/relationships/notesSlide" Target="/ppt/notesSlides/notesSlide2.xml" Id="R44fe4c6113824e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ac2fdfede3340ca" /><Relationship Type="http://schemas.openxmlformats.org/officeDocument/2006/relationships/image" Target="/ppt/media/image3.png" Id="Rd3cb9a5d62e8490d" /><Relationship Type="http://schemas.openxmlformats.org/officeDocument/2006/relationships/notesSlide" Target="/ppt/notesSlides/notesSlide3.xml" Id="Rd2ded39fbc694f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0a96c470dbd4118" /><Relationship Type="http://schemas.openxmlformats.org/officeDocument/2006/relationships/notesSlide" Target="/ppt/notesSlides/notesSlide4.xml" Id="R6a2820d0ae7b44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ded00124e247bb" /><Relationship Type="http://schemas.openxmlformats.org/officeDocument/2006/relationships/notesSlide" Target="/ppt/notesSlides/notesSlide5.xml" Id="Reca48749ad8c4d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0e35e51ec14431" /><Relationship Type="http://schemas.openxmlformats.org/officeDocument/2006/relationships/notesSlide" Target="/ppt/notesSlides/notesSlide6.xml" Id="Rd44aa314b0fd4b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e9be91fb4b48c6" /><Relationship Type="http://schemas.openxmlformats.org/officeDocument/2006/relationships/notesSlide" Target="/ppt/notesSlides/notesSlide7.xml" Id="R339d3be436934f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b2db2d481b4c09" /><Relationship Type="http://schemas.openxmlformats.org/officeDocument/2006/relationships/notesSlide" Target="/ppt/notesSlides/notesSlide8.xml" Id="R1d18d071811648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538d5db59a4d7a" /><Relationship Type="http://schemas.openxmlformats.org/officeDocument/2006/relationships/notesSlide" Target="/ppt/notesSlides/notesSlide9.xml" Id="R84d0c674c44b42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28abfd7db44be0" /><Relationship Type="http://schemas.openxmlformats.org/officeDocument/2006/relationships/notesSlide" Target="/ppt/notesSlides/notesSlide10.xml" Id="R9d04d8cc047c49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8776f4ab42477f" /><Relationship Type="http://schemas.openxmlformats.org/officeDocument/2006/relationships/notesSlide" Target="/ppt/notesSlides/notesSlide11.xml" Id="Rbd454e6fb96a4c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51b67ce9ee4b79" /><Relationship Type="http://schemas.openxmlformats.org/officeDocument/2006/relationships/notesSlide" Target="/ppt/notesSlides/notesSlide12.xml" Id="R94f670f1160b4f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2252294afc04ca0" /><Relationship Type="http://schemas.openxmlformats.org/officeDocument/2006/relationships/notesSlide" Target="/ppt/notesSlides/notesSlide13.xml" Id="R0da571ad44c74b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2a8a6257eac4f9f" /><Relationship Type="http://schemas.openxmlformats.org/officeDocument/2006/relationships/notesSlide" Target="/ppt/notesSlides/notesSlide14.xml" Id="R995f544ab16d45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07fdd56ec194945" /><Relationship Type="http://schemas.openxmlformats.org/officeDocument/2006/relationships/notesSlide" Target="/ppt/notesSlides/notesSlide15.xml" Id="R0794b57f48254c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246f105487af48d5" /><Relationship Type="http://schemas.openxmlformats.org/officeDocument/2006/relationships/notesSlide" Target="/ppt/notesSlides/notesSlide16.xml" Id="Re82c77cf8abd4a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1cedcc55f334ad1" /><Relationship Type="http://schemas.openxmlformats.org/officeDocument/2006/relationships/notesSlide" Target="/ppt/notesSlides/notesSlide17.xml" Id="R18632f548d8d4fb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7465d52054dd4fa8" /><Relationship Type="http://schemas.openxmlformats.org/officeDocument/2006/relationships/notesSlide" Target="/ppt/notesSlides/notesSlide18.xml" Id="R3d97128ddf914e2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21a69f4c3924d17" /><Relationship Type="http://schemas.openxmlformats.org/officeDocument/2006/relationships/notesSlide" Target="/ppt/notesSlides/notesSlide19.xml" Id="R55e4255bbfd241e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4cd4d009f414dfe" /><Relationship Type="http://schemas.openxmlformats.org/officeDocument/2006/relationships/notesSlide" Target="/ppt/notesSlides/notesSlide20.xml" Id="Rfcf22e14e3784f3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93ca370ab364362" /><Relationship Type="http://schemas.openxmlformats.org/officeDocument/2006/relationships/notesSlide" Target="/ppt/notesSlides/notesSlide21.xml" Id="R354402399c4b47c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c9ab551191c04374" /><Relationship Type="http://schemas.openxmlformats.org/officeDocument/2006/relationships/notesSlide" Target="/ppt/notesSlides/notesSlide22.xml" Id="Rd02434bc16274bd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31db95f533b483a" /><Relationship Type="http://schemas.openxmlformats.org/officeDocument/2006/relationships/notesSlide" Target="/ppt/notesSlides/notesSlide23.xml" Id="R249557e640fc47a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7fc952a24e9c4f3c" /><Relationship Type="http://schemas.openxmlformats.org/officeDocument/2006/relationships/image" Target="/ppt/media/image4.png" Id="Rcef71289d1974bf9" /><Relationship Type="http://schemas.openxmlformats.org/officeDocument/2006/relationships/image" Target="/ppt/media/image5.png" Id="Rf8728c32664041f0" /><Relationship Type="http://schemas.openxmlformats.org/officeDocument/2006/relationships/image" Target="/ppt/media/image6.png" Id="Rfd4baa9dee4f4df3" /><Relationship Type="http://schemas.openxmlformats.org/officeDocument/2006/relationships/image" Target="/ppt/media/image7.png" Id="Rce4ebf78c1574952" /><Relationship Type="http://schemas.openxmlformats.org/officeDocument/2006/relationships/notesSlide" Target="/ppt/notesSlides/notesSlide24.xml" Id="R970d32af7e7d4aa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cba87610ac04457a" /><Relationship Type="http://schemas.openxmlformats.org/officeDocument/2006/relationships/image" Target="/ppt/media/image8.png" Id="R72c941954b814385" /><Relationship Type="http://schemas.openxmlformats.org/officeDocument/2006/relationships/notesSlide" Target="/ppt/notesSlides/notesSlide25.xml" Id="R035cbee7e31a402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564d9e3bf0b54877" /><Relationship Type="http://schemas.openxmlformats.org/officeDocument/2006/relationships/notesSlide" Target="/ppt/notesSlides/notesSlide26.xml" Id="Rab7e28812ec845e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6866c59e54040eb" /><Relationship Type="http://schemas.openxmlformats.org/officeDocument/2006/relationships/notesSlide" Target="/ppt/notesSlides/notesSlide27.xml" Id="R08109f5b3f78411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696496b365bb4c33" /><Relationship Type="http://schemas.openxmlformats.org/officeDocument/2006/relationships/image" Target="/ppt/media/image9.png" Id="R7367fdcd7a924cb4" /><Relationship Type="http://schemas.openxmlformats.org/officeDocument/2006/relationships/image" Target="/ppt/media/image10.png" Id="Rd2e5be8df06f4120" /><Relationship Type="http://schemas.openxmlformats.org/officeDocument/2006/relationships/image" Target="/ppt/media/image11.png" Id="R08b9b9f4ffe348d9" /><Relationship Type="http://schemas.openxmlformats.org/officeDocument/2006/relationships/notesSlide" Target="/ppt/notesSlides/notesSlide28.xml" Id="Rb50fc86fdbad443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bd809bfdcce479e" /><Relationship Type="http://schemas.openxmlformats.org/officeDocument/2006/relationships/notesSlide" Target="/ppt/notesSlides/notesSlide29.xml" Id="Ra1e747c9d384431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922fedf72ec4879" /><Relationship Type="http://schemas.openxmlformats.org/officeDocument/2006/relationships/notesSlide" Target="/ppt/notesSlides/notesSlide30.xml" Id="Rc1915ce7480a457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e6fda25f6574265" /><Relationship Type="http://schemas.openxmlformats.org/officeDocument/2006/relationships/notesSlide" Target="/ppt/notesSlides/notesSlide31.xml" Id="Ra14ffc17b36b4c4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471927-509E-4E42-9943-EDD3AF50802A}"/>
              </a:ext>
            </a:extLst>
          </p:cNvPr>
          <p:cNvSpPr>
            <a:spLocks xmlns:a="http://schemas.openxmlformats.org/drawingml/2006/main" noGrp="1"/>
          </p:cNvSpPr>
          <p:nvPr/>
        </p:nvSpPr>
        <p:spPr>
          <a:xfrm xmlns:a="http://schemas.openxmlformats.org/drawingml/2006/main">
            <a:off x="822960" y="128016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spc="400">
                <a:solidFill>
                  <a:srgbClr val="F2B33D"/>
                </a:solidFill>
                <a:latin typeface="Calibri"/>
                <a:ea typeface="Calibri"/>
                <a:cs typeface="Calibri"/>
              </a:rPr>
              <a:t>VIT MUMBAI  ·  17 OCTOBER 2026</a:t>
            </a:r>
            <a:endParaRPr sz="1800"/>
          </a:p>
        </p:txBody>
      </p:sp>
      <p:sp>
        <p:nvSpPr>
          <p:cNvPr id="3" name="Text 1">
            <a:extLst xmlns:a="http://schemas.openxmlformats.org/drawingml/2006/main">
              <a:ext uri="{FF2B5EF4-FFF2-40B4-BE49-F238E27FC236}">
                <a16:creationId xmlns:a16="http://schemas.microsoft.com/office/drawing/2014/main" id="{215D53B4-E81B-4990-8DB5-9503995B96AF}"/>
              </a:ext>
            </a:extLst>
          </p:cNvPr>
          <p:cNvSpPr>
            <a:spLocks xmlns:a="http://schemas.openxmlformats.org/drawingml/2006/main" noGrp="1"/>
          </p:cNvSpPr>
          <p:nvPr/>
        </p:nvSpPr>
        <p:spPr>
          <a:xfrm xmlns:a="http://schemas.openxmlformats.org/drawingml/2006/main">
            <a:off x="822960" y="1828800"/>
            <a:ext cx="77724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5400" b="1">
                <a:solidFill>
                  <a:srgbClr val="F4F2EC"/>
                </a:solidFill>
                <a:latin typeface="Bookman Old Style"/>
                <a:ea typeface="Bookman Old Style"/>
                <a:cs typeface="Bookman Old Style"/>
              </a:rPr>
              <a:t>Agentic AI in Practice</a:t>
            </a:r>
            <a:endParaRPr sz="5400"/>
          </a:p>
        </p:txBody>
      </p:sp>
      <p:sp>
        <p:nvSpPr>
          <p:cNvPr id="4" name="Text 2">
            <a:extLst xmlns:a="http://schemas.openxmlformats.org/drawingml/2006/main">
              <a:ext uri="{FF2B5EF4-FFF2-40B4-BE49-F238E27FC236}">
                <a16:creationId xmlns:a16="http://schemas.microsoft.com/office/drawing/2014/main" id="{E222DBB0-34F1-45DF-A3F0-704AB5F4DE7A}"/>
              </a:ext>
            </a:extLst>
          </p:cNvPr>
          <p:cNvSpPr>
            <a:spLocks xmlns:a="http://schemas.openxmlformats.org/drawingml/2006/main" noGrp="1"/>
          </p:cNvSpPr>
          <p:nvPr/>
        </p:nvSpPr>
        <p:spPr>
          <a:xfrm xmlns:a="http://schemas.openxmlformats.org/drawingml/2006/main">
            <a:off x="822960" y="3657600"/>
            <a:ext cx="73152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a:solidFill>
                  <a:srgbClr val="F4F2EC"/>
                </a:solidFill>
                <a:latin typeface="Calibri"/>
                <a:ea typeface="Calibri"/>
                <a:cs typeface="Calibri"/>
              </a:rPr>
              <a:t>Build, review and control useful agents.</a:t>
            </a:r>
            <a:endParaRPr sz="2600"/>
          </a:p>
          <a:p xmlns:a="http://schemas.openxmlformats.org/drawingml/2006/main">
            <a:pPr marL="0" indent="0">
              <a:buNone/>
            </a:pPr>
            <a:r>
              <a:rPr sz="2600">
                <a:solidFill>
                  <a:srgbClr val="F4F2EC"/>
                </a:solidFill>
                <a:latin typeface="Calibri"/>
                <a:ea typeface="Calibri"/>
                <a:cs typeface="Calibri"/>
              </a:rPr>
              <a:t>Who decides the next step?</a:t>
            </a:r>
            <a:endParaRPr sz="2600"/>
          </a:p>
        </p:txBody>
      </p:sp>
      <p:sp>
        <p:nvSpPr>
          <p:cNvPr id="5" name="Text 3">
            <a:extLst xmlns:a="http://schemas.openxmlformats.org/drawingml/2006/main">
              <a:ext uri="{FF2B5EF4-FFF2-40B4-BE49-F238E27FC236}">
                <a16:creationId xmlns:a16="http://schemas.microsoft.com/office/drawing/2014/main" id="{3CE77974-FF36-41E2-B5FB-3B089E343FA7}"/>
              </a:ext>
            </a:extLst>
          </p:cNvPr>
          <p:cNvSpPr>
            <a:spLocks xmlns:a="http://schemas.openxmlformats.org/drawingml/2006/main" noGrp="1"/>
          </p:cNvSpPr>
          <p:nvPr/>
        </p:nvSpPr>
        <p:spPr>
          <a:xfrm xmlns:a="http://schemas.openxmlformats.org/drawingml/2006/main">
            <a:off x="822960" y="557784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F2B33D"/>
                </a:solidFill>
                <a:latin typeface="Calibri"/>
                <a:ea typeface="Calibri"/>
                <a:cs typeface="Calibri"/>
              </a:rPr>
              <a:t>Vedant  ·  I build AI systems for online shopping</a:t>
            </a:r>
            <a:endParaRPr sz="1800"/>
          </a:p>
        </p:txBody>
      </p:sp>
      <p:sp>
        <p:nvSpPr>
          <p:cNvPr id="6" name="Shape 4">
            <a:extLst xmlns:a="http://schemas.openxmlformats.org/drawingml/2006/main">
              <a:ext uri="{FF2B5EF4-FFF2-40B4-BE49-F238E27FC236}">
                <a16:creationId xmlns:a16="http://schemas.microsoft.com/office/drawing/2014/main" id="{AB338EEB-CACB-4B12-85BF-063414F2DD7D}"/>
              </a:ext>
            </a:extLst>
          </p:cNvPr>
          <p:cNvSpPr>
            <a:spLocks xmlns:a="http://schemas.openxmlformats.org/drawingml/2006/main" noGrp="1"/>
          </p:cNvSpPr>
          <p:nvPr/>
        </p:nvSpPr>
        <p:spPr>
          <a:xfrm xmlns:a="http://schemas.openxmlformats.org/drawingml/2006/main">
            <a:off x="8778240" y="1463040"/>
            <a:ext cx="2651760" cy="2651760"/>
          </a:xfrm>
          <a:prstGeom xmlns:a="http://schemas.openxmlformats.org/drawingml/2006/main" prst="ellipse">
            <a:avLst/>
          </a:prstGeom>
          <a:solidFill xmlns:a="http://schemas.openxmlformats.org/drawingml/2006/main">
            <a:srgbClr val="16302A"/>
          </a:solidFill>
          <a:ln xmlns:a="http://schemas.openxmlformats.org/drawingml/2006/main" w="38100">
            <a:solidFill>
              <a:srgbClr val="E4572E"/>
            </a:solidFill>
            <a:prstDash val="solid"/>
          </a:ln>
        </p:spPr>
      </p:sp>
      <p:pic>
        <p:nvPicPr>
          <p:cNvPr id="7" name="Image 0">
            <a:extLst xmlns:a="http://schemas.openxmlformats.org/drawingml/2006/main">
              <a:ext uri="{FF2B5EF4-FFF2-40B4-BE49-F238E27FC236}">
                <a16:creationId xmlns:a16="http://schemas.microsoft.com/office/drawing/2014/main" id="{A2782C7B-C54B-438F-B67E-5D8CD5B6C10D}"/>
              </a:ext>
            </a:extLst>
          </p:cNvPr>
          <p:cNvPicPr>
            <a:picLocks xmlns:a="http://schemas.openxmlformats.org/drawingml/2006/main" noChangeAspect="1"/>
          </p:cNvPicPr>
          <p:nvPr/>
        </p:nvPicPr>
        <p:blipFill>
          <a:blip xmlns:r="http://schemas.openxmlformats.org/officeDocument/2006/relationships" xmlns:a="http://schemas.openxmlformats.org/drawingml/2006/main" r:embed="R2c678bd53a854956"/>
          <a:stretch xmlns:a="http://schemas.openxmlformats.org/drawingml/2006/main">
            <a:fillRect l="0" t="0" r="0" b="0"/>
          </a:stretch>
        </p:blipFill>
        <p:spPr>
          <a:xfrm xmlns:a="http://schemas.openxmlformats.org/drawingml/2006/main">
            <a:off x="9464040" y="2148840"/>
            <a:ext cx="1280160" cy="128016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2CFBD4DB-BC07-4C33-AC56-CE17AD9927D2}"/>
              </a:ext>
            </a:extLst>
          </p:cNvPr>
          <p:cNvSpPr>
            <a:spLocks xmlns:a="http://schemas.openxmlformats.org/drawingml/2006/main" noGrp="1"/>
          </p:cNvSpPr>
          <p:nvPr/>
        </p:nvSpPr>
        <p:spPr>
          <a:xfrm xmlns:a="http://schemas.openxmlformats.org/drawingml/2006/main">
            <a:off x="9692640" y="3840480"/>
            <a:ext cx="1737360" cy="1737360"/>
          </a:xfrm>
          <a:prstGeom xmlns:a="http://schemas.openxmlformats.org/drawingml/2006/main" prst="ellipse">
            <a:avLst/>
          </a:prstGeom>
          <a:solidFill xmlns:a="http://schemas.openxmlformats.org/drawingml/2006/main">
            <a:srgbClr val="16302A"/>
          </a:solidFill>
          <a:ln xmlns:a="http://schemas.openxmlformats.org/drawingml/2006/main" w="38100">
            <a:solidFill>
              <a:srgbClr val="3B9C5A"/>
            </a:solidFill>
            <a:prstDash val="solid"/>
          </a:ln>
        </p:spPr>
      </p:sp>
      <p:pic>
        <p:nvPicPr>
          <p:cNvPr id="9" name="Image 1">
            <a:extLst xmlns:a="http://schemas.openxmlformats.org/drawingml/2006/main">
              <a:ext uri="{FF2B5EF4-FFF2-40B4-BE49-F238E27FC236}">
                <a16:creationId xmlns:a16="http://schemas.microsoft.com/office/drawing/2014/main" id="{02C0DB5C-5A18-41D1-8EB3-248BB6656B88}"/>
              </a:ext>
            </a:extLst>
          </p:cNvPr>
          <p:cNvPicPr>
            <a:picLocks xmlns:a="http://schemas.openxmlformats.org/drawingml/2006/main" noChangeAspect="1"/>
          </p:cNvPicPr>
          <p:nvPr/>
        </p:nvPicPr>
        <p:blipFill>
          <a:blip xmlns:r="http://schemas.openxmlformats.org/officeDocument/2006/relationships" xmlns:a="http://schemas.openxmlformats.org/drawingml/2006/main" r:embed="R9ea971a6910f40e0"/>
          <a:stretch xmlns:a="http://schemas.openxmlformats.org/drawingml/2006/main">
            <a:fillRect l="0" t="0" r="0" b="0"/>
          </a:stretch>
        </p:blipFill>
        <p:spPr>
          <a:xfrm xmlns:a="http://schemas.openxmlformats.org/drawingml/2006/main">
            <a:off x="10149840" y="4297680"/>
            <a:ext cx="822960" cy="822960"/>
          </a:xfrm>
          <a:prstGeom xmlns:a="http://schemas.openxmlformats.org/drawingml/2006/main" prst="rect">
            <a:avLst/>
          </a:prstGeom>
        </p:spPr>
      </p:pic>
    </p:spTree>
    <p:extLst>
      <p:ext uri="{BB962C8B-B14F-4D97-AF65-F5344CB8AC3E}">
        <p14:creationId xmlns:p14="http://schemas.microsoft.com/office/powerpoint/2010/main" val="21629289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08AF28-F03B-4259-BBD0-869C8DF22A84}"/>
              </a:ext>
            </a:extLst>
          </p:cNvPr>
          <p:cNvSpPr>
            <a:spLocks xmlns:a="http://schemas.openxmlformats.org/drawingml/2006/main" noGrp="1"/>
          </p:cNvSpPr>
          <p:nvPr/>
        </p:nvSpPr>
        <p:spPr>
          <a:xfrm xmlns:a="http://schemas.openxmlformats.org/drawingml/2006/main">
            <a:off x="822960" y="1828800"/>
            <a:ext cx="1051560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4F2EC"/>
                </a:solidFill>
                <a:latin typeface="Bookman Old Style"/>
                <a:ea typeface="Bookman Old Style"/>
                <a:cs typeface="Bookman Old Style"/>
              </a:rPr>
              <a:t>You have ₹80.</a:t>
            </a:r>
            <a:endParaRPr sz="4400"/>
          </a:p>
          <a:p xmlns:a="http://schemas.openxmlformats.org/drawingml/2006/main">
            <a:pPr marL="0" indent="0">
              <a:buNone/>
            </a:pPr>
            <a:r>
              <a:rPr sz="4400" b="1">
                <a:solidFill>
                  <a:srgbClr val="F4F2EC"/>
                </a:solidFill>
                <a:latin typeface="Bookman Old Style"/>
                <a:ea typeface="Bookman Old Style"/>
                <a:cs typeface="Bookman Old Style"/>
              </a:rPr>
              <a:t>Attendance in 10 minutes.</a:t>
            </a:r>
            <a:endParaRPr sz="4400"/>
          </a:p>
          <a:p xmlns:a="http://schemas.openxmlformats.org/drawingml/2006/main">
            <a:pPr marL="0" indent="0">
              <a:buNone/>
            </a:pPr>
            <a:r>
              <a:rPr sz="4400" b="1">
                <a:solidFill>
                  <a:srgbClr val="F4F2EC"/>
                </a:solidFill>
                <a:latin typeface="Bookman Old Style"/>
                <a:ea typeface="Bookman Old Style"/>
                <a:cs typeface="Bookman Old Style"/>
              </a:rPr>
              <a:t>You're hungry.</a:t>
            </a:r>
            <a:endParaRPr sz="4400"/>
          </a:p>
        </p:txBody>
      </p:sp>
      <p:sp>
        <p:nvSpPr>
          <p:cNvPr id="3" name="Text 1">
            <a:extLst xmlns:a="http://schemas.openxmlformats.org/drawingml/2006/main">
              <a:ext uri="{FF2B5EF4-FFF2-40B4-BE49-F238E27FC236}">
                <a16:creationId xmlns:a16="http://schemas.microsoft.com/office/drawing/2014/main" id="{9A03CDDC-C2B0-4122-95A4-35DA15DCD982}"/>
              </a:ext>
            </a:extLst>
          </p:cNvPr>
          <p:cNvSpPr>
            <a:spLocks xmlns:a="http://schemas.openxmlformats.org/drawingml/2006/main" noGrp="1"/>
          </p:cNvSpPr>
          <p:nvPr/>
        </p:nvSpPr>
        <p:spPr>
          <a:xfrm xmlns:a="http://schemas.openxmlformats.org/drawingml/2006/main">
            <a:off x="822960" y="4389120"/>
            <a:ext cx="105156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a:solidFill>
                  <a:srgbClr val="F2B33D"/>
                </a:solidFill>
                <a:latin typeface="Calibri"/>
                <a:ea typeface="Calibri"/>
                <a:cs typeface="Calibri"/>
              </a:rPr>
              <a:t>What must an AI assistant CHECK before it recommends your lunch?</a:t>
            </a:r>
            <a:endParaRPr sz="2400"/>
          </a:p>
        </p:txBody>
      </p:sp>
    </p:spTree>
    <p:extLst>
      <p:ext uri="{BB962C8B-B14F-4D97-AF65-F5344CB8AC3E}">
        <p14:creationId xmlns:p14="http://schemas.microsoft.com/office/powerpoint/2010/main" val="8515241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E8FACB-86E4-42F3-A1C9-B75A12A4D134}"/>
              </a:ext>
            </a:extLst>
          </p:cNvPr>
          <p:cNvSpPr>
            <a:spLocks xmlns:a="http://schemas.openxmlformats.org/drawingml/2006/main" noGrp="1"/>
          </p:cNvSpPr>
          <p:nvPr/>
        </p:nvSpPr>
        <p:spPr>
          <a:xfrm xmlns:a="http://schemas.openxmlformats.org/drawingml/2006/main">
            <a:off x="548640" y="411480"/>
            <a:ext cx="11064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D2B26"/>
                </a:solidFill>
                <a:latin typeface="Bookman Old Style"/>
                <a:ea typeface="Bookman Old Style"/>
                <a:cs typeface="Bookman Old Style"/>
              </a:rPr>
              <a:t>Overconfident AI recommends…</a:t>
            </a:r>
            <a:endParaRPr sz="3200"/>
          </a:p>
        </p:txBody>
      </p:sp>
      <p:sp>
        <p:nvSpPr>
          <p:cNvPr id="4" name="Shape 1">
            <a:extLst xmlns:a="http://schemas.openxmlformats.org/drawingml/2006/main">
              <a:ext uri="{FF2B5EF4-FFF2-40B4-BE49-F238E27FC236}">
                <a16:creationId xmlns:a16="http://schemas.microsoft.com/office/drawing/2014/main" id="{B6EE95FA-81B2-415F-9439-C05A4EF604FD}"/>
              </a:ext>
            </a:extLst>
          </p:cNvPr>
          <p:cNvSpPr>
            <a:spLocks xmlns:a="http://schemas.openxmlformats.org/drawingml/2006/main" noGrp="1"/>
          </p:cNvSpPr>
          <p:nvPr/>
        </p:nvSpPr>
        <p:spPr>
          <a:xfrm xmlns:a="http://schemas.openxmlformats.org/drawingml/2006/main">
            <a:off x="548640" y="1600200"/>
            <a:ext cx="5669280" cy="292608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12700">
            <a:solidFill>
              <a:srgbClr val="E4572E"/>
            </a:solidFill>
            <a:prstDash val="solid"/>
          </a:ln>
        </p:spPr>
      </p:sp>
      <p:pic>
        <p:nvPicPr>
          <p:cNvPr id="5" name="Image 0">
            <a:extLst xmlns:a="http://schemas.openxmlformats.org/drawingml/2006/main">
              <a:ext uri="{FF2B5EF4-FFF2-40B4-BE49-F238E27FC236}">
                <a16:creationId xmlns:a16="http://schemas.microsoft.com/office/drawing/2014/main" id="{BC1A7F5A-859A-4E9C-8CBD-ED78B31F300D}"/>
              </a:ext>
            </a:extLst>
          </p:cNvPr>
          <p:cNvPicPr>
            <a:picLocks xmlns:a="http://schemas.openxmlformats.org/drawingml/2006/main" noChangeAspect="1"/>
          </p:cNvPicPr>
          <p:nvPr/>
        </p:nvPicPr>
        <p:blipFill>
          <a:blip xmlns:r="http://schemas.openxmlformats.org/officeDocument/2006/relationships" xmlns:a="http://schemas.openxmlformats.org/drawingml/2006/main" r:embed="Rd3cb9a5d62e8490d"/>
          <a:stretch xmlns:a="http://schemas.openxmlformats.org/drawingml/2006/main">
            <a:fillRect l="0" t="0" r="0" b="0"/>
          </a:stretch>
        </p:blipFill>
        <p:spPr>
          <a:xfrm xmlns:a="http://schemas.openxmlformats.org/drawingml/2006/main">
            <a:off x="868680" y="1874520"/>
            <a:ext cx="731520" cy="731520"/>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F3704A0D-D3FF-41BE-AB5C-76003C4CE410}"/>
              </a:ext>
            </a:extLst>
          </p:cNvPr>
          <p:cNvSpPr>
            <a:spLocks xmlns:a="http://schemas.openxmlformats.org/drawingml/2006/main" noGrp="1"/>
          </p:cNvSpPr>
          <p:nvPr/>
        </p:nvSpPr>
        <p:spPr>
          <a:xfrm xmlns:a="http://schemas.openxmlformats.org/drawingml/2006/main">
            <a:off x="868680" y="2743200"/>
            <a:ext cx="50292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i="1">
                <a:solidFill>
                  <a:srgbClr val="1D2B26"/>
                </a:solidFill>
                <a:latin typeface="Bookman Old Style"/>
                <a:ea typeface="Bookman Old Style"/>
                <a:cs typeface="Bookman Old Style"/>
              </a:rPr>
              <a:t>“Try the Paneer Tikka Wrap, just ₹70! Fresh, hot, and totally vegetarian!”</a:t>
            </a:r>
            <a:endParaRPr sz="2400"/>
          </a:p>
        </p:txBody>
      </p:sp>
      <p:sp>
        <p:nvSpPr>
          <p:cNvPr id="7" name="Text 3">
            <a:extLst xmlns:a="http://schemas.openxmlformats.org/drawingml/2006/main">
              <a:ext uri="{FF2B5EF4-FFF2-40B4-BE49-F238E27FC236}">
                <a16:creationId xmlns:a16="http://schemas.microsoft.com/office/drawing/2014/main" id="{D82EE160-55C0-45AD-AC38-03120FC49FB5}"/>
              </a:ext>
            </a:extLst>
          </p:cNvPr>
          <p:cNvSpPr>
            <a:spLocks xmlns:a="http://schemas.openxmlformats.org/drawingml/2006/main" noGrp="1"/>
          </p:cNvSpPr>
          <p:nvPr/>
        </p:nvSpPr>
        <p:spPr>
          <a:xfrm xmlns:a="http://schemas.openxmlformats.org/drawingml/2006/main">
            <a:off x="548640" y="470916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i="1">
                <a:solidFill>
                  <a:srgbClr val="5C6B66"/>
                </a:solidFill>
                <a:latin typeface="Calibri"/>
                <a:ea typeface="Calibri"/>
                <a:cs typeface="Calibri"/>
              </a:rPr>
              <a:t>Made-up example, for teaching.</a:t>
            </a:r>
            <a:endParaRPr sz="1400"/>
          </a:p>
        </p:txBody>
      </p:sp>
      <p:sp>
        <p:nvSpPr>
          <p:cNvPr id="8" name="Shape 4">
            <a:extLst xmlns:a="http://schemas.openxmlformats.org/drawingml/2006/main">
              <a:ext uri="{FF2B5EF4-FFF2-40B4-BE49-F238E27FC236}">
                <a16:creationId xmlns:a16="http://schemas.microsoft.com/office/drawing/2014/main" id="{B830CC23-2B3E-4994-8B3B-49C9D0A9A8ED}"/>
              </a:ext>
            </a:extLst>
          </p:cNvPr>
          <p:cNvSpPr>
            <a:spLocks xmlns:a="http://schemas.openxmlformats.org/drawingml/2006/main" noGrp="1"/>
          </p:cNvSpPr>
          <p:nvPr/>
        </p:nvSpPr>
        <p:spPr>
          <a:xfrm xmlns:a="http://schemas.openxmlformats.org/drawingml/2006/main">
            <a:off x="6675120" y="1600200"/>
            <a:ext cx="4937760" cy="4297680"/>
          </a:xfrm>
          <a:prstGeom xmlns:a="http://schemas.openxmlformats.org/drawingml/2006/main" prst="rect">
            <a:avLst/>
          </a:prstGeom>
          <a:solidFill xmlns:a="http://schemas.openxmlformats.org/drawingml/2006/main">
            <a:srgbClr val="1E3A32"/>
          </a:solidFill>
          <a:ln xmlns:a="http://schemas.openxmlformats.org/drawingml/2006/main" w="12700">
            <a:solidFill>
              <a:srgbClr val="1E3A32"/>
            </a:solidFill>
            <a:prstDash val="solid"/>
          </a:ln>
        </p:spPr>
      </p:sp>
      <p:sp>
        <p:nvSpPr>
          <p:cNvPr id="9" name="Text 5">
            <a:extLst xmlns:a="http://schemas.openxmlformats.org/drawingml/2006/main">
              <a:ext uri="{FF2B5EF4-FFF2-40B4-BE49-F238E27FC236}">
                <a16:creationId xmlns:a16="http://schemas.microsoft.com/office/drawing/2014/main" id="{E12CA6E6-0998-4B82-9E29-81E8AEC36544}"/>
              </a:ext>
            </a:extLst>
          </p:cNvPr>
          <p:cNvSpPr>
            <a:spLocks xmlns:a="http://schemas.openxmlformats.org/drawingml/2006/main" noGrp="1"/>
          </p:cNvSpPr>
          <p:nvPr/>
        </p:nvSpPr>
        <p:spPr>
          <a:xfrm xmlns:a="http://schemas.openxmlformats.org/drawingml/2006/main">
            <a:off x="7040880" y="182880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spc="400">
                <a:solidFill>
                  <a:srgbClr val="F2B33D"/>
                </a:solidFill>
                <a:latin typeface="Calibri"/>
                <a:ea typeface="Calibri"/>
                <a:cs typeface="Calibri"/>
              </a:rPr>
              <a:t>TODAY'S MENU</a:t>
            </a:r>
            <a:endParaRPr sz="1800"/>
          </a:p>
        </p:txBody>
      </p:sp>
      <p:sp>
        <p:nvSpPr>
          <p:cNvPr id="10" name="Text 6">
            <a:extLst xmlns:a="http://schemas.openxmlformats.org/drawingml/2006/main">
              <a:ext uri="{FF2B5EF4-FFF2-40B4-BE49-F238E27FC236}">
                <a16:creationId xmlns:a16="http://schemas.microsoft.com/office/drawing/2014/main" id="{140D14AD-2052-4FF7-AF33-B9EF2DA33F62}"/>
              </a:ext>
            </a:extLst>
          </p:cNvPr>
          <p:cNvSpPr>
            <a:spLocks xmlns:a="http://schemas.openxmlformats.org/drawingml/2006/main" noGrp="1"/>
          </p:cNvSpPr>
          <p:nvPr/>
        </p:nvSpPr>
        <p:spPr>
          <a:xfrm xmlns:a="http://schemas.openxmlformats.org/drawingml/2006/main">
            <a:off x="7040880" y="2514600"/>
            <a:ext cx="2286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F4F2EC"/>
                </a:solidFill>
                <a:latin typeface="Calibri"/>
                <a:ea typeface="Calibri"/>
                <a:cs typeface="Calibri"/>
              </a:rPr>
              <a:t>Veg sandwich</a:t>
            </a:r>
            <a:endParaRPr sz="2200"/>
          </a:p>
        </p:txBody>
      </p:sp>
      <p:sp>
        <p:nvSpPr>
          <p:cNvPr id="11" name="Text 7">
            <a:extLst xmlns:a="http://schemas.openxmlformats.org/drawingml/2006/main">
              <a:ext uri="{FF2B5EF4-FFF2-40B4-BE49-F238E27FC236}">
                <a16:creationId xmlns:a16="http://schemas.microsoft.com/office/drawing/2014/main" id="{E1D58ECD-AD45-4763-8372-712484418156}"/>
              </a:ext>
            </a:extLst>
          </p:cNvPr>
          <p:cNvSpPr>
            <a:spLocks xmlns:a="http://schemas.openxmlformats.org/drawingml/2006/main" noGrp="1"/>
          </p:cNvSpPr>
          <p:nvPr/>
        </p:nvSpPr>
        <p:spPr>
          <a:xfrm xmlns:a="http://schemas.openxmlformats.org/drawingml/2006/main">
            <a:off x="9326880" y="2514600"/>
            <a:ext cx="822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2200" b="1">
                <a:solidFill>
                  <a:srgbClr val="F4F2EC"/>
                </a:solidFill>
                <a:latin typeface="Calibri"/>
                <a:ea typeface="Calibri"/>
                <a:cs typeface="Calibri"/>
              </a:rPr>
              <a:t>₹60</a:t>
            </a:r>
            <a:endParaRPr sz="2200"/>
          </a:p>
        </p:txBody>
      </p:sp>
      <p:sp>
        <p:nvSpPr>
          <p:cNvPr id="12" name="Text 8">
            <a:extLst xmlns:a="http://schemas.openxmlformats.org/drawingml/2006/main">
              <a:ext uri="{FF2B5EF4-FFF2-40B4-BE49-F238E27FC236}">
                <a16:creationId xmlns:a16="http://schemas.microsoft.com/office/drawing/2014/main" id="{68CA98AF-C41F-487B-AB83-A0DA3E78D38C}"/>
              </a:ext>
            </a:extLst>
          </p:cNvPr>
          <p:cNvSpPr>
            <a:spLocks xmlns:a="http://schemas.openxmlformats.org/drawingml/2006/main" noGrp="1"/>
          </p:cNvSpPr>
          <p:nvPr/>
        </p:nvSpPr>
        <p:spPr>
          <a:xfrm xmlns:a="http://schemas.openxmlformats.org/drawingml/2006/main">
            <a:off x="10241280" y="2578608"/>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3B9C5A"/>
                </a:solidFill>
                <a:latin typeface="Calibri"/>
                <a:ea typeface="Calibri"/>
                <a:cs typeface="Calibri"/>
              </a:rPr>
              <a:t>in stock</a:t>
            </a:r>
            <a:endParaRPr sz="1400"/>
          </a:p>
        </p:txBody>
      </p:sp>
      <p:sp>
        <p:nvSpPr>
          <p:cNvPr id="13" name="Text 9">
            <a:extLst xmlns:a="http://schemas.openxmlformats.org/drawingml/2006/main">
              <a:ext uri="{FF2B5EF4-FFF2-40B4-BE49-F238E27FC236}">
                <a16:creationId xmlns:a16="http://schemas.microsoft.com/office/drawing/2014/main" id="{6542219E-319F-43F5-A35C-F534AE686A2C}"/>
              </a:ext>
            </a:extLst>
          </p:cNvPr>
          <p:cNvSpPr>
            <a:spLocks xmlns:a="http://schemas.openxmlformats.org/drawingml/2006/main" noGrp="1"/>
          </p:cNvSpPr>
          <p:nvPr/>
        </p:nvSpPr>
        <p:spPr>
          <a:xfrm xmlns:a="http://schemas.openxmlformats.org/drawingml/2006/main">
            <a:off x="7040880" y="3291840"/>
            <a:ext cx="2286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F4F2EC"/>
                </a:solidFill>
                <a:latin typeface="Calibri"/>
                <a:ea typeface="Calibri"/>
                <a:cs typeface="Calibri"/>
              </a:rPr>
              <a:t>Poha</a:t>
            </a:r>
            <a:endParaRPr sz="2200"/>
          </a:p>
        </p:txBody>
      </p:sp>
      <p:sp>
        <p:nvSpPr>
          <p:cNvPr id="14" name="Text 10">
            <a:extLst xmlns:a="http://schemas.openxmlformats.org/drawingml/2006/main">
              <a:ext uri="{FF2B5EF4-FFF2-40B4-BE49-F238E27FC236}">
                <a16:creationId xmlns:a16="http://schemas.microsoft.com/office/drawing/2014/main" id="{DB50BC7D-7D4A-4208-82B4-17F30B1089B3}"/>
              </a:ext>
            </a:extLst>
          </p:cNvPr>
          <p:cNvSpPr>
            <a:spLocks xmlns:a="http://schemas.openxmlformats.org/drawingml/2006/main" noGrp="1"/>
          </p:cNvSpPr>
          <p:nvPr/>
        </p:nvSpPr>
        <p:spPr>
          <a:xfrm xmlns:a="http://schemas.openxmlformats.org/drawingml/2006/main">
            <a:off x="9326880" y="3291840"/>
            <a:ext cx="822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2200" b="1">
                <a:solidFill>
                  <a:srgbClr val="F4F2EC"/>
                </a:solidFill>
                <a:latin typeface="Calibri"/>
                <a:ea typeface="Calibri"/>
                <a:cs typeface="Calibri"/>
              </a:rPr>
              <a:t>₹35</a:t>
            </a:r>
            <a:endParaRPr sz="2200"/>
          </a:p>
        </p:txBody>
      </p:sp>
      <p:sp>
        <p:nvSpPr>
          <p:cNvPr id="15" name="Text 11">
            <a:extLst xmlns:a="http://schemas.openxmlformats.org/drawingml/2006/main">
              <a:ext uri="{FF2B5EF4-FFF2-40B4-BE49-F238E27FC236}">
                <a16:creationId xmlns:a16="http://schemas.microsoft.com/office/drawing/2014/main" id="{9CB923A7-3716-4A82-917C-5DA24A60E753}"/>
              </a:ext>
            </a:extLst>
          </p:cNvPr>
          <p:cNvSpPr>
            <a:spLocks xmlns:a="http://schemas.openxmlformats.org/drawingml/2006/main" noGrp="1"/>
          </p:cNvSpPr>
          <p:nvPr/>
        </p:nvSpPr>
        <p:spPr>
          <a:xfrm xmlns:a="http://schemas.openxmlformats.org/drawingml/2006/main">
            <a:off x="10241280" y="3355848"/>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E4572E"/>
                </a:solidFill>
                <a:latin typeface="Calibri"/>
                <a:ea typeface="Calibri"/>
                <a:cs typeface="Calibri"/>
              </a:rPr>
              <a:t>SOLD OUT</a:t>
            </a:r>
            <a:endParaRPr sz="1400"/>
          </a:p>
        </p:txBody>
      </p:sp>
      <p:sp>
        <p:nvSpPr>
          <p:cNvPr id="16" name="Text 12">
            <a:extLst xmlns:a="http://schemas.openxmlformats.org/drawingml/2006/main">
              <a:ext uri="{FF2B5EF4-FFF2-40B4-BE49-F238E27FC236}">
                <a16:creationId xmlns:a16="http://schemas.microsoft.com/office/drawing/2014/main" id="{48D668E2-6A8F-4C61-B191-BAF0D5DD0BF5}"/>
              </a:ext>
            </a:extLst>
          </p:cNvPr>
          <p:cNvSpPr>
            <a:spLocks xmlns:a="http://schemas.openxmlformats.org/drawingml/2006/main" noGrp="1"/>
          </p:cNvSpPr>
          <p:nvPr/>
        </p:nvSpPr>
        <p:spPr>
          <a:xfrm xmlns:a="http://schemas.openxmlformats.org/drawingml/2006/main">
            <a:off x="7040880" y="4069080"/>
            <a:ext cx="2286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F4F2EC"/>
                </a:solidFill>
                <a:latin typeface="Calibri"/>
                <a:ea typeface="Calibri"/>
                <a:cs typeface="Calibri"/>
              </a:rPr>
              <a:t>Chicken roll</a:t>
            </a:r>
            <a:endParaRPr sz="2200"/>
          </a:p>
        </p:txBody>
      </p:sp>
      <p:sp>
        <p:nvSpPr>
          <p:cNvPr id="17" name="Text 13">
            <a:extLst xmlns:a="http://schemas.openxmlformats.org/drawingml/2006/main">
              <a:ext uri="{FF2B5EF4-FFF2-40B4-BE49-F238E27FC236}">
                <a16:creationId xmlns:a16="http://schemas.microsoft.com/office/drawing/2014/main" id="{37ED7E21-B47A-45DF-9B2E-30F2F3ACD462}"/>
              </a:ext>
            </a:extLst>
          </p:cNvPr>
          <p:cNvSpPr>
            <a:spLocks xmlns:a="http://schemas.openxmlformats.org/drawingml/2006/main" noGrp="1"/>
          </p:cNvSpPr>
          <p:nvPr/>
        </p:nvSpPr>
        <p:spPr>
          <a:xfrm xmlns:a="http://schemas.openxmlformats.org/drawingml/2006/main">
            <a:off x="9326880" y="4069080"/>
            <a:ext cx="822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2200" b="1">
                <a:solidFill>
                  <a:srgbClr val="F4F2EC"/>
                </a:solidFill>
                <a:latin typeface="Calibri"/>
                <a:ea typeface="Calibri"/>
                <a:cs typeface="Calibri"/>
              </a:rPr>
              <a:t>₹75</a:t>
            </a:r>
            <a:endParaRPr sz="2200"/>
          </a:p>
        </p:txBody>
      </p:sp>
      <p:sp>
        <p:nvSpPr>
          <p:cNvPr id="18" name="Text 14">
            <a:extLst xmlns:a="http://schemas.openxmlformats.org/drawingml/2006/main">
              <a:ext uri="{FF2B5EF4-FFF2-40B4-BE49-F238E27FC236}">
                <a16:creationId xmlns:a16="http://schemas.microsoft.com/office/drawing/2014/main" id="{3FEF69C5-4261-42A6-A803-125B33CE3A7A}"/>
              </a:ext>
            </a:extLst>
          </p:cNvPr>
          <p:cNvSpPr>
            <a:spLocks xmlns:a="http://schemas.openxmlformats.org/drawingml/2006/main" noGrp="1"/>
          </p:cNvSpPr>
          <p:nvPr/>
        </p:nvSpPr>
        <p:spPr>
          <a:xfrm xmlns:a="http://schemas.openxmlformats.org/drawingml/2006/main">
            <a:off x="10241280" y="4133088"/>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F2B33D"/>
                </a:solidFill>
                <a:latin typeface="Calibri"/>
                <a:ea typeface="Calibri"/>
                <a:cs typeface="Calibri"/>
              </a:rPr>
              <a:t>not veg</a:t>
            </a:r>
            <a:endParaRPr sz="1400"/>
          </a:p>
        </p:txBody>
      </p:sp>
      <p:sp>
        <p:nvSpPr>
          <p:cNvPr id="19" name="Text 15">
            <a:extLst xmlns:a="http://schemas.openxmlformats.org/drawingml/2006/main">
              <a:ext uri="{FF2B5EF4-FFF2-40B4-BE49-F238E27FC236}">
                <a16:creationId xmlns:a16="http://schemas.microsoft.com/office/drawing/2014/main" id="{B1C6753D-9B35-44A2-8C4A-7F6700B38386}"/>
              </a:ext>
            </a:extLst>
          </p:cNvPr>
          <p:cNvSpPr>
            <a:spLocks xmlns:a="http://schemas.openxmlformats.org/drawingml/2006/main" noGrp="1"/>
          </p:cNvSpPr>
          <p:nvPr/>
        </p:nvSpPr>
        <p:spPr>
          <a:xfrm xmlns:a="http://schemas.openxmlformats.org/drawingml/2006/main">
            <a:off x="7040880" y="4846320"/>
            <a:ext cx="2286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F4F2EC"/>
                </a:solidFill>
                <a:latin typeface="Calibri"/>
                <a:ea typeface="Calibri"/>
                <a:cs typeface="Calibri"/>
              </a:rPr>
              <a:t>Dosa</a:t>
            </a:r>
            <a:endParaRPr sz="2200"/>
          </a:p>
        </p:txBody>
      </p:sp>
      <p:sp>
        <p:nvSpPr>
          <p:cNvPr id="20" name="Text 16">
            <a:extLst xmlns:a="http://schemas.openxmlformats.org/drawingml/2006/main">
              <a:ext uri="{FF2B5EF4-FFF2-40B4-BE49-F238E27FC236}">
                <a16:creationId xmlns:a16="http://schemas.microsoft.com/office/drawing/2014/main" id="{0801915B-9263-4195-82C2-BB172381DC38}"/>
              </a:ext>
            </a:extLst>
          </p:cNvPr>
          <p:cNvSpPr>
            <a:spLocks xmlns:a="http://schemas.openxmlformats.org/drawingml/2006/main" noGrp="1"/>
          </p:cNvSpPr>
          <p:nvPr/>
        </p:nvSpPr>
        <p:spPr>
          <a:xfrm xmlns:a="http://schemas.openxmlformats.org/drawingml/2006/main">
            <a:off x="9326880" y="4846320"/>
            <a:ext cx="822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2200" b="1">
                <a:solidFill>
                  <a:srgbClr val="F4F2EC"/>
                </a:solidFill>
                <a:latin typeface="Calibri"/>
                <a:ea typeface="Calibri"/>
                <a:cs typeface="Calibri"/>
              </a:rPr>
              <a:t>₹90</a:t>
            </a:r>
            <a:endParaRPr sz="2200"/>
          </a:p>
        </p:txBody>
      </p:sp>
      <p:sp>
        <p:nvSpPr>
          <p:cNvPr id="21" name="Text 17">
            <a:extLst xmlns:a="http://schemas.openxmlformats.org/drawingml/2006/main">
              <a:ext uri="{FF2B5EF4-FFF2-40B4-BE49-F238E27FC236}">
                <a16:creationId xmlns:a16="http://schemas.microsoft.com/office/drawing/2014/main" id="{B746E369-972A-47E9-B6E4-A54A3B35D324}"/>
              </a:ext>
            </a:extLst>
          </p:cNvPr>
          <p:cNvSpPr>
            <a:spLocks xmlns:a="http://schemas.openxmlformats.org/drawingml/2006/main" noGrp="1"/>
          </p:cNvSpPr>
          <p:nvPr/>
        </p:nvSpPr>
        <p:spPr>
          <a:xfrm xmlns:a="http://schemas.openxmlformats.org/drawingml/2006/main">
            <a:off x="10241280" y="4910328"/>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3B9C5A"/>
                </a:solidFill>
                <a:latin typeface="Calibri"/>
                <a:ea typeface="Calibri"/>
                <a:cs typeface="Calibri"/>
              </a:rPr>
              <a:t>in stock</a:t>
            </a:r>
            <a:endParaRPr sz="1400"/>
          </a:p>
        </p:txBody>
      </p:sp>
      <p:sp>
        <p:nvSpPr>
          <p:cNvPr id="22" name="Text 18">
            <a:extLst xmlns:a="http://schemas.openxmlformats.org/drawingml/2006/main">
              <a:ext uri="{FF2B5EF4-FFF2-40B4-BE49-F238E27FC236}">
                <a16:creationId xmlns:a16="http://schemas.microsoft.com/office/drawing/2014/main" id="{2362F4B8-E35A-4E6A-A6EE-49619E57A910}"/>
              </a:ext>
            </a:extLst>
          </p:cNvPr>
          <p:cNvSpPr>
            <a:spLocks xmlns:a="http://schemas.openxmlformats.org/drawingml/2006/main" noGrp="1"/>
          </p:cNvSpPr>
          <p:nvPr/>
        </p:nvSpPr>
        <p:spPr>
          <a:xfrm xmlns:a="http://schemas.openxmlformats.org/drawingml/2006/main">
            <a:off x="7040880" y="5486400"/>
            <a:ext cx="4206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4F2EC"/>
                </a:solidFill>
                <a:latin typeface="Calibri"/>
                <a:ea typeface="Calibri"/>
                <a:cs typeface="Calibri"/>
              </a:rPr>
              <a:t>Canteen open 9 am – 4 pm</a:t>
            </a:r>
            <a:endParaRPr sz="1400"/>
          </a:p>
        </p:txBody>
      </p:sp>
      <p:sp>
        <p:nvSpPr>
          <p:cNvPr id="25" name="Slide Number Placeholder 0">
            <a:extLst xmlns:a="http://schemas.openxmlformats.org/drawingml/2006/main">
              <a:ext uri="{FF2B5EF4-FFF2-40B4-BE49-F238E27FC236}">
                <a16:creationId xmlns:a16="http://schemas.microsoft.com/office/drawing/2014/main" id="{6796A159-734A-4BCC-A02C-2F3C2F04278C}"/>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202359C0-8A7A-196E-DD58-8E6569619F09}" type="slidenum">
              <a:rPr b="0"/>
              <a:t>3</a:t>
            </a:fld>
            <a:endParaRPr/>
          </a:p>
        </p:txBody>
      </p:sp>
    </p:spTree>
    <p:extLst>
      <p:ext uri="{BB962C8B-B14F-4D97-AF65-F5344CB8AC3E}">
        <p14:creationId xmlns:p14="http://schemas.microsoft.com/office/powerpoint/2010/main" val="13828372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514A41-A3C8-407A-8DCB-8337A39392B0}"/>
              </a:ext>
            </a:extLst>
          </p:cNvPr>
          <p:cNvSpPr>
            <a:spLocks xmlns:a="http://schemas.openxmlformats.org/drawingml/2006/main" noGrp="1"/>
          </p:cNvSpPr>
          <p:nvPr/>
        </p:nvSpPr>
        <p:spPr>
          <a:xfrm xmlns:a="http://schemas.openxmlformats.org/drawingml/2006/main">
            <a:off x="548640" y="411480"/>
            <a:ext cx="11064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D2B26"/>
                </a:solidFill>
                <a:latin typeface="Bookman Old Style"/>
                <a:ea typeface="Bookman Old Style"/>
                <a:cs typeface="Bookman Old Style"/>
              </a:rPr>
              <a:t>AI writes the order slip. Code makes the food.</a:t>
            </a:r>
            <a:endParaRPr sz="3200"/>
          </a:p>
        </p:txBody>
      </p:sp>
      <p:sp>
        <p:nvSpPr>
          <p:cNvPr id="4" name="Shape 1">
            <a:extLst xmlns:a="http://schemas.openxmlformats.org/drawingml/2006/main">
              <a:ext uri="{FF2B5EF4-FFF2-40B4-BE49-F238E27FC236}">
                <a16:creationId xmlns:a16="http://schemas.microsoft.com/office/drawing/2014/main" id="{322D7A05-7EA1-453D-BC6E-C27C507285C9}"/>
              </a:ext>
            </a:extLst>
          </p:cNvPr>
          <p:cNvSpPr>
            <a:spLocks xmlns:a="http://schemas.openxmlformats.org/drawingml/2006/main" noGrp="1"/>
          </p:cNvSpPr>
          <p:nvPr/>
        </p:nvSpPr>
        <p:spPr>
          <a:xfrm xmlns:a="http://schemas.openxmlformats.org/drawingml/2006/main">
            <a:off x="548640" y="1828800"/>
            <a:ext cx="1539240" cy="1828800"/>
          </a:xfrm>
          <a:prstGeom xmlns:a="http://schemas.openxmlformats.org/drawingml/2006/main" prst="roundRect">
            <a:avLst>
              <a:gd name="adj" fmla="val 7129"/>
            </a:avLst>
          </a:prstGeom>
          <a:solidFill xmlns:a="http://schemas.openxmlformats.org/drawingml/2006/main">
            <a:srgbClr val="FFFFFF"/>
          </a:solidFill>
          <a:ln xmlns:a="http://schemas.openxmlformats.org/drawingml/2006/main" w="12700">
            <a:solidFill>
              <a:srgbClr val="3B9C5A"/>
            </a:solidFill>
            <a:prstDash val="solid"/>
          </a:ln>
        </p:spPr>
      </p:sp>
      <p:sp>
        <p:nvSpPr>
          <p:cNvPr id="5" name="Text 2">
            <a:extLst xmlns:a="http://schemas.openxmlformats.org/drawingml/2006/main">
              <a:ext uri="{FF2B5EF4-FFF2-40B4-BE49-F238E27FC236}">
                <a16:creationId xmlns:a16="http://schemas.microsoft.com/office/drawing/2014/main" id="{1AA36D4D-9D83-45D0-B419-8327084CE01B}"/>
              </a:ext>
            </a:extLst>
          </p:cNvPr>
          <p:cNvSpPr>
            <a:spLocks xmlns:a="http://schemas.openxmlformats.org/drawingml/2006/main" noGrp="1"/>
          </p:cNvSpPr>
          <p:nvPr/>
        </p:nvSpPr>
        <p:spPr>
          <a:xfrm xmlns:a="http://schemas.openxmlformats.org/drawingml/2006/main">
            <a:off x="658368" y="1965960"/>
            <a:ext cx="131978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1. You ask</a:t>
            </a:r>
            <a:endParaRPr sz="1800"/>
          </a:p>
        </p:txBody>
      </p:sp>
      <p:sp>
        <p:nvSpPr>
          <p:cNvPr id="6" name="Text 3">
            <a:extLst xmlns:a="http://schemas.openxmlformats.org/drawingml/2006/main">
              <a:ext uri="{FF2B5EF4-FFF2-40B4-BE49-F238E27FC236}">
                <a16:creationId xmlns:a16="http://schemas.microsoft.com/office/drawing/2014/main" id="{05924AC7-DDF4-4DB6-BF51-B83313B533DF}"/>
              </a:ext>
            </a:extLst>
          </p:cNvPr>
          <p:cNvSpPr>
            <a:spLocks xmlns:a="http://schemas.openxmlformats.org/drawingml/2006/main" noGrp="1"/>
          </p:cNvSpPr>
          <p:nvPr/>
        </p:nvSpPr>
        <p:spPr>
          <a:xfrm xmlns:a="http://schemas.openxmlformats.org/drawingml/2006/main">
            <a:off x="658368" y="2697480"/>
            <a:ext cx="131978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a:solidFill>
                  <a:srgbClr val="5C6B66"/>
                </a:solidFill>
                <a:latin typeface="Calibri"/>
                <a:ea typeface="Calibri"/>
                <a:cs typeface="Calibri"/>
              </a:rPr>
              <a:t>“Veg lunch under ₹80?”</a:t>
            </a:r>
            <a:endParaRPr sz="1500"/>
          </a:p>
        </p:txBody>
      </p:sp>
      <p:sp>
        <p:nvSpPr>
          <p:cNvPr id="7" name="Shape 4">
            <a:extLst xmlns:a="http://schemas.openxmlformats.org/drawingml/2006/main">
              <a:ext uri="{FF2B5EF4-FFF2-40B4-BE49-F238E27FC236}">
                <a16:creationId xmlns:a16="http://schemas.microsoft.com/office/drawing/2014/main" id="{50BFDF6F-5BA7-4FAB-9B40-4FD77A852085}"/>
              </a:ext>
            </a:extLst>
          </p:cNvPr>
          <p:cNvSpPr>
            <a:spLocks xmlns:a="http://schemas.openxmlformats.org/drawingml/2006/main" noGrp="1"/>
          </p:cNvSpPr>
          <p:nvPr/>
        </p:nvSpPr>
        <p:spPr>
          <a:xfrm xmlns:a="http://schemas.openxmlformats.org/drawingml/2006/main">
            <a:off x="2124456" y="2743200"/>
            <a:ext cx="292608"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8" name="Shape 5">
            <a:extLst xmlns:a="http://schemas.openxmlformats.org/drawingml/2006/main">
              <a:ext uri="{FF2B5EF4-FFF2-40B4-BE49-F238E27FC236}">
                <a16:creationId xmlns:a16="http://schemas.microsoft.com/office/drawing/2014/main" id="{AD52E354-3736-4DDB-9F1A-0F62201FC30C}"/>
              </a:ext>
            </a:extLst>
          </p:cNvPr>
          <p:cNvSpPr>
            <a:spLocks xmlns:a="http://schemas.openxmlformats.org/drawingml/2006/main" noGrp="1"/>
          </p:cNvSpPr>
          <p:nvPr/>
        </p:nvSpPr>
        <p:spPr>
          <a:xfrm xmlns:a="http://schemas.openxmlformats.org/drawingml/2006/main">
            <a:off x="2453640" y="1828800"/>
            <a:ext cx="1539240" cy="1828800"/>
          </a:xfrm>
          <a:prstGeom xmlns:a="http://schemas.openxmlformats.org/drawingml/2006/main" prst="roundRect">
            <a:avLst>
              <a:gd name="adj" fmla="val 7129"/>
            </a:avLst>
          </a:prstGeom>
          <a:solidFill xmlns:a="http://schemas.openxmlformats.org/drawingml/2006/main">
            <a:srgbClr val="FFFFFF"/>
          </a:solidFill>
          <a:ln xmlns:a="http://schemas.openxmlformats.org/drawingml/2006/main" w="12700">
            <a:solidFill>
              <a:srgbClr val="3B9C5A"/>
            </a:solidFill>
            <a:prstDash val="solid"/>
          </a:ln>
        </p:spPr>
      </p:sp>
      <p:sp>
        <p:nvSpPr>
          <p:cNvPr id="9" name="Text 6">
            <a:extLst xmlns:a="http://schemas.openxmlformats.org/drawingml/2006/main">
              <a:ext uri="{FF2B5EF4-FFF2-40B4-BE49-F238E27FC236}">
                <a16:creationId xmlns:a16="http://schemas.microsoft.com/office/drawing/2014/main" id="{0E2DF9EB-6FC0-4523-8ED2-0D37B5932D24}"/>
              </a:ext>
            </a:extLst>
          </p:cNvPr>
          <p:cNvSpPr>
            <a:spLocks xmlns:a="http://schemas.openxmlformats.org/drawingml/2006/main" noGrp="1"/>
          </p:cNvSpPr>
          <p:nvPr/>
        </p:nvSpPr>
        <p:spPr>
          <a:xfrm xmlns:a="http://schemas.openxmlformats.org/drawingml/2006/main">
            <a:off x="2563368" y="1965960"/>
            <a:ext cx="131978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2. AI writes a slip</a:t>
            </a:r>
            <a:endParaRPr sz="1800"/>
          </a:p>
        </p:txBody>
      </p:sp>
      <p:sp>
        <p:nvSpPr>
          <p:cNvPr id="10" name="Text 7">
            <a:extLst xmlns:a="http://schemas.openxmlformats.org/drawingml/2006/main">
              <a:ext uri="{FF2B5EF4-FFF2-40B4-BE49-F238E27FC236}">
                <a16:creationId xmlns:a16="http://schemas.microsoft.com/office/drawing/2014/main" id="{C877AFA3-3C36-48FA-91C6-A531DED5B4CB}"/>
              </a:ext>
            </a:extLst>
          </p:cNvPr>
          <p:cNvSpPr>
            <a:spLocks xmlns:a="http://schemas.openxmlformats.org/drawingml/2006/main" noGrp="1"/>
          </p:cNvSpPr>
          <p:nvPr/>
        </p:nvSpPr>
        <p:spPr>
          <a:xfrm xmlns:a="http://schemas.openxmlformats.org/drawingml/2006/main">
            <a:off x="2563368" y="2697480"/>
            <a:ext cx="131978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a:solidFill>
                  <a:srgbClr val="5C6B66"/>
                </a:solidFill>
                <a:latin typeface="Calibri"/>
                <a:ea typeface="Calibri"/>
                <a:cs typeface="Calibri"/>
              </a:rPr>
              <a:t>find_food(80, veg)</a:t>
            </a:r>
            <a:endParaRPr sz="1500"/>
          </a:p>
        </p:txBody>
      </p:sp>
      <p:sp>
        <p:nvSpPr>
          <p:cNvPr id="11" name="Shape 8">
            <a:extLst xmlns:a="http://schemas.openxmlformats.org/drawingml/2006/main">
              <a:ext uri="{FF2B5EF4-FFF2-40B4-BE49-F238E27FC236}">
                <a16:creationId xmlns:a16="http://schemas.microsoft.com/office/drawing/2014/main" id="{3E527756-3FC6-4C65-B1AF-6DF5A232B4C2}"/>
              </a:ext>
            </a:extLst>
          </p:cNvPr>
          <p:cNvSpPr>
            <a:spLocks xmlns:a="http://schemas.openxmlformats.org/drawingml/2006/main" noGrp="1"/>
          </p:cNvSpPr>
          <p:nvPr/>
        </p:nvSpPr>
        <p:spPr>
          <a:xfrm xmlns:a="http://schemas.openxmlformats.org/drawingml/2006/main">
            <a:off x="4029456" y="2743200"/>
            <a:ext cx="292608"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12" name="Shape 9">
            <a:extLst xmlns:a="http://schemas.openxmlformats.org/drawingml/2006/main">
              <a:ext uri="{FF2B5EF4-FFF2-40B4-BE49-F238E27FC236}">
                <a16:creationId xmlns:a16="http://schemas.microsoft.com/office/drawing/2014/main" id="{EAB0B637-F2C7-4CBD-AA21-5AA27D083315}"/>
              </a:ext>
            </a:extLst>
          </p:cNvPr>
          <p:cNvSpPr>
            <a:spLocks xmlns:a="http://schemas.openxmlformats.org/drawingml/2006/main" noGrp="1"/>
          </p:cNvSpPr>
          <p:nvPr/>
        </p:nvSpPr>
        <p:spPr>
          <a:xfrm xmlns:a="http://schemas.openxmlformats.org/drawingml/2006/main">
            <a:off x="4358640" y="1828800"/>
            <a:ext cx="1539240" cy="1828800"/>
          </a:xfrm>
          <a:prstGeom xmlns:a="http://schemas.openxmlformats.org/drawingml/2006/main" prst="roundRect">
            <a:avLst>
              <a:gd name="adj" fmla="val 7129"/>
            </a:avLst>
          </a:prstGeom>
          <a:solidFill xmlns:a="http://schemas.openxmlformats.org/drawingml/2006/main">
            <a:srgbClr val="FFFFFF"/>
          </a:solidFill>
          <a:ln xmlns:a="http://schemas.openxmlformats.org/drawingml/2006/main" w="12700">
            <a:solidFill>
              <a:srgbClr val="3B9C5A"/>
            </a:solidFill>
            <a:prstDash val="solid"/>
          </a:ln>
        </p:spPr>
      </p:sp>
      <p:sp>
        <p:nvSpPr>
          <p:cNvPr id="13" name="Text 10">
            <a:extLst xmlns:a="http://schemas.openxmlformats.org/drawingml/2006/main">
              <a:ext uri="{FF2B5EF4-FFF2-40B4-BE49-F238E27FC236}">
                <a16:creationId xmlns:a16="http://schemas.microsoft.com/office/drawing/2014/main" id="{916FDFA6-5AE9-4EC2-8AAC-F40C6A44708A}"/>
              </a:ext>
            </a:extLst>
          </p:cNvPr>
          <p:cNvSpPr>
            <a:spLocks xmlns:a="http://schemas.openxmlformats.org/drawingml/2006/main" noGrp="1"/>
          </p:cNvSpPr>
          <p:nvPr/>
        </p:nvSpPr>
        <p:spPr>
          <a:xfrm xmlns:a="http://schemas.openxmlformats.org/drawingml/2006/main">
            <a:off x="4468368" y="1965960"/>
            <a:ext cx="131978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3. Our code checks it</a:t>
            </a:r>
            <a:endParaRPr sz="1800"/>
          </a:p>
        </p:txBody>
      </p:sp>
      <p:sp>
        <p:nvSpPr>
          <p:cNvPr id="14" name="Text 11">
            <a:extLst xmlns:a="http://schemas.openxmlformats.org/drawingml/2006/main">
              <a:ext uri="{FF2B5EF4-FFF2-40B4-BE49-F238E27FC236}">
                <a16:creationId xmlns:a16="http://schemas.microsoft.com/office/drawing/2014/main" id="{DB1AEC99-981F-42A1-A486-4BA042873387}"/>
              </a:ext>
            </a:extLst>
          </p:cNvPr>
          <p:cNvSpPr>
            <a:spLocks xmlns:a="http://schemas.openxmlformats.org/drawingml/2006/main" noGrp="1"/>
          </p:cNvSpPr>
          <p:nvPr/>
        </p:nvSpPr>
        <p:spPr>
          <a:xfrm xmlns:a="http://schemas.openxmlformats.org/drawingml/2006/main">
            <a:off x="4468368" y="2697480"/>
            <a:ext cx="131978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a:solidFill>
                  <a:srgbClr val="5C6B66"/>
                </a:solidFill>
                <a:latin typeface="Calibri"/>
                <a:ea typeface="Calibri"/>
                <a:cs typeface="Calibri"/>
              </a:rPr>
              <a:t>allowed? sensible?</a:t>
            </a:r>
            <a:endParaRPr sz="1500"/>
          </a:p>
        </p:txBody>
      </p:sp>
      <p:sp>
        <p:nvSpPr>
          <p:cNvPr id="15" name="Shape 12">
            <a:extLst xmlns:a="http://schemas.openxmlformats.org/drawingml/2006/main">
              <a:ext uri="{FF2B5EF4-FFF2-40B4-BE49-F238E27FC236}">
                <a16:creationId xmlns:a16="http://schemas.microsoft.com/office/drawing/2014/main" id="{24D02868-32FE-4E53-AAB4-E11BD14433EA}"/>
              </a:ext>
            </a:extLst>
          </p:cNvPr>
          <p:cNvSpPr>
            <a:spLocks xmlns:a="http://schemas.openxmlformats.org/drawingml/2006/main" noGrp="1"/>
          </p:cNvSpPr>
          <p:nvPr/>
        </p:nvSpPr>
        <p:spPr>
          <a:xfrm xmlns:a="http://schemas.openxmlformats.org/drawingml/2006/main">
            <a:off x="5934456" y="2743200"/>
            <a:ext cx="292608"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16" name="Shape 13">
            <a:extLst xmlns:a="http://schemas.openxmlformats.org/drawingml/2006/main">
              <a:ext uri="{FF2B5EF4-FFF2-40B4-BE49-F238E27FC236}">
                <a16:creationId xmlns:a16="http://schemas.microsoft.com/office/drawing/2014/main" id="{9D7A17F7-2120-4020-A6DC-7BBDEE5FF4DD}"/>
              </a:ext>
            </a:extLst>
          </p:cNvPr>
          <p:cNvSpPr>
            <a:spLocks xmlns:a="http://schemas.openxmlformats.org/drawingml/2006/main" noGrp="1"/>
          </p:cNvSpPr>
          <p:nvPr/>
        </p:nvSpPr>
        <p:spPr>
          <a:xfrm xmlns:a="http://schemas.openxmlformats.org/drawingml/2006/main">
            <a:off x="6263640" y="1828800"/>
            <a:ext cx="1539240" cy="1828800"/>
          </a:xfrm>
          <a:prstGeom xmlns:a="http://schemas.openxmlformats.org/drawingml/2006/main" prst="roundRect">
            <a:avLst>
              <a:gd name="adj" fmla="val 7129"/>
            </a:avLst>
          </a:prstGeom>
          <a:solidFill xmlns:a="http://schemas.openxmlformats.org/drawingml/2006/main">
            <a:srgbClr val="FFFFFF"/>
          </a:solidFill>
          <a:ln xmlns:a="http://schemas.openxmlformats.org/drawingml/2006/main" w="12700">
            <a:solidFill>
              <a:srgbClr val="3B9C5A"/>
            </a:solidFill>
            <a:prstDash val="solid"/>
          </a:ln>
        </p:spPr>
      </p:sp>
      <p:sp>
        <p:nvSpPr>
          <p:cNvPr id="17" name="Text 14">
            <a:extLst xmlns:a="http://schemas.openxmlformats.org/drawingml/2006/main">
              <a:ext uri="{FF2B5EF4-FFF2-40B4-BE49-F238E27FC236}">
                <a16:creationId xmlns:a16="http://schemas.microsoft.com/office/drawing/2014/main" id="{4DAC5B9E-1134-444E-92F8-F574A2079034}"/>
              </a:ext>
            </a:extLst>
          </p:cNvPr>
          <p:cNvSpPr>
            <a:spLocks xmlns:a="http://schemas.openxmlformats.org/drawingml/2006/main" noGrp="1"/>
          </p:cNvSpPr>
          <p:nvPr/>
        </p:nvSpPr>
        <p:spPr>
          <a:xfrm xmlns:a="http://schemas.openxmlformats.org/drawingml/2006/main">
            <a:off x="6373368" y="1965960"/>
            <a:ext cx="131978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4. Tool runs</a:t>
            </a:r>
            <a:endParaRPr sz="1800"/>
          </a:p>
        </p:txBody>
      </p:sp>
      <p:sp>
        <p:nvSpPr>
          <p:cNvPr id="18" name="Text 15">
            <a:extLst xmlns:a="http://schemas.openxmlformats.org/drawingml/2006/main">
              <a:ext uri="{FF2B5EF4-FFF2-40B4-BE49-F238E27FC236}">
                <a16:creationId xmlns:a16="http://schemas.microsoft.com/office/drawing/2014/main" id="{AD4F49F9-F60A-4ED3-BAD8-7D2EC8E6204F}"/>
              </a:ext>
            </a:extLst>
          </p:cNvPr>
          <p:cNvSpPr>
            <a:spLocks xmlns:a="http://schemas.openxmlformats.org/drawingml/2006/main" noGrp="1"/>
          </p:cNvSpPr>
          <p:nvPr/>
        </p:nvSpPr>
        <p:spPr>
          <a:xfrm xmlns:a="http://schemas.openxmlformats.org/drawingml/2006/main">
            <a:off x="6373368" y="2697480"/>
            <a:ext cx="131978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a:solidFill>
                  <a:srgbClr val="5C6B66"/>
                </a:solidFill>
                <a:latin typeface="Calibri"/>
                <a:ea typeface="Calibri"/>
                <a:cs typeface="Calibri"/>
              </a:rPr>
              <a:t>reads the real menu</a:t>
            </a:r>
            <a:endParaRPr sz="1500"/>
          </a:p>
        </p:txBody>
      </p:sp>
      <p:sp>
        <p:nvSpPr>
          <p:cNvPr id="19" name="Shape 16">
            <a:extLst xmlns:a="http://schemas.openxmlformats.org/drawingml/2006/main">
              <a:ext uri="{FF2B5EF4-FFF2-40B4-BE49-F238E27FC236}">
                <a16:creationId xmlns:a16="http://schemas.microsoft.com/office/drawing/2014/main" id="{17590CCD-D9EA-462E-8832-F2220AB82F28}"/>
              </a:ext>
            </a:extLst>
          </p:cNvPr>
          <p:cNvSpPr>
            <a:spLocks xmlns:a="http://schemas.openxmlformats.org/drawingml/2006/main" noGrp="1"/>
          </p:cNvSpPr>
          <p:nvPr/>
        </p:nvSpPr>
        <p:spPr>
          <a:xfrm xmlns:a="http://schemas.openxmlformats.org/drawingml/2006/main">
            <a:off x="7839456" y="2743200"/>
            <a:ext cx="292608"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20" name="Shape 17">
            <a:extLst xmlns:a="http://schemas.openxmlformats.org/drawingml/2006/main">
              <a:ext uri="{FF2B5EF4-FFF2-40B4-BE49-F238E27FC236}">
                <a16:creationId xmlns:a16="http://schemas.microsoft.com/office/drawing/2014/main" id="{F02105C2-457C-46FE-BB0E-AB3B599DF80B}"/>
              </a:ext>
            </a:extLst>
          </p:cNvPr>
          <p:cNvSpPr>
            <a:spLocks xmlns:a="http://schemas.openxmlformats.org/drawingml/2006/main" noGrp="1"/>
          </p:cNvSpPr>
          <p:nvPr/>
        </p:nvSpPr>
        <p:spPr>
          <a:xfrm xmlns:a="http://schemas.openxmlformats.org/drawingml/2006/main">
            <a:off x="8168640" y="1828800"/>
            <a:ext cx="1539240" cy="1828800"/>
          </a:xfrm>
          <a:prstGeom xmlns:a="http://schemas.openxmlformats.org/drawingml/2006/main" prst="roundRect">
            <a:avLst>
              <a:gd name="adj" fmla="val 7129"/>
            </a:avLst>
          </a:prstGeom>
          <a:solidFill xmlns:a="http://schemas.openxmlformats.org/drawingml/2006/main">
            <a:srgbClr val="FFFFFF"/>
          </a:solidFill>
          <a:ln xmlns:a="http://schemas.openxmlformats.org/drawingml/2006/main" w="12700">
            <a:solidFill>
              <a:srgbClr val="3B9C5A"/>
            </a:solidFill>
            <a:prstDash val="solid"/>
          </a:ln>
        </p:spPr>
      </p:sp>
      <p:sp>
        <p:nvSpPr>
          <p:cNvPr id="21" name="Text 18">
            <a:extLst xmlns:a="http://schemas.openxmlformats.org/drawingml/2006/main">
              <a:ext uri="{FF2B5EF4-FFF2-40B4-BE49-F238E27FC236}">
                <a16:creationId xmlns:a16="http://schemas.microsoft.com/office/drawing/2014/main" id="{D4DCB31F-5E64-425A-854E-99C1000904B6}"/>
              </a:ext>
            </a:extLst>
          </p:cNvPr>
          <p:cNvSpPr>
            <a:spLocks xmlns:a="http://schemas.openxmlformats.org/drawingml/2006/main" noGrp="1"/>
          </p:cNvSpPr>
          <p:nvPr/>
        </p:nvSpPr>
        <p:spPr>
          <a:xfrm xmlns:a="http://schemas.openxmlformats.org/drawingml/2006/main">
            <a:off x="8278368" y="1965960"/>
            <a:ext cx="131978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5. AI writes reply</a:t>
            </a:r>
            <a:endParaRPr sz="1800"/>
          </a:p>
        </p:txBody>
      </p:sp>
      <p:sp>
        <p:nvSpPr>
          <p:cNvPr id="22" name="Text 19">
            <a:extLst xmlns:a="http://schemas.openxmlformats.org/drawingml/2006/main">
              <a:ext uri="{FF2B5EF4-FFF2-40B4-BE49-F238E27FC236}">
                <a16:creationId xmlns:a16="http://schemas.microsoft.com/office/drawing/2014/main" id="{EDCC81CC-07CE-4550-B242-34F4B9E7039B}"/>
              </a:ext>
            </a:extLst>
          </p:cNvPr>
          <p:cNvSpPr>
            <a:spLocks xmlns:a="http://schemas.openxmlformats.org/drawingml/2006/main" noGrp="1"/>
          </p:cNvSpPr>
          <p:nvPr/>
        </p:nvSpPr>
        <p:spPr>
          <a:xfrm xmlns:a="http://schemas.openxmlformats.org/drawingml/2006/main">
            <a:off x="8278368" y="2697480"/>
            <a:ext cx="131978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a:solidFill>
                  <a:srgbClr val="5C6B66"/>
                </a:solidFill>
                <a:latin typeface="Calibri"/>
                <a:ea typeface="Calibri"/>
                <a:cs typeface="Calibri"/>
              </a:rPr>
              <a:t>from real records</a:t>
            </a:r>
            <a:endParaRPr sz="1500"/>
          </a:p>
        </p:txBody>
      </p:sp>
      <p:sp>
        <p:nvSpPr>
          <p:cNvPr id="23" name="Shape 20">
            <a:extLst xmlns:a="http://schemas.openxmlformats.org/drawingml/2006/main">
              <a:ext uri="{FF2B5EF4-FFF2-40B4-BE49-F238E27FC236}">
                <a16:creationId xmlns:a16="http://schemas.microsoft.com/office/drawing/2014/main" id="{6A6C3BD5-101D-4A51-B9D4-2A760783FED5}"/>
              </a:ext>
            </a:extLst>
          </p:cNvPr>
          <p:cNvSpPr>
            <a:spLocks xmlns:a="http://schemas.openxmlformats.org/drawingml/2006/main" noGrp="1"/>
          </p:cNvSpPr>
          <p:nvPr/>
        </p:nvSpPr>
        <p:spPr>
          <a:xfrm xmlns:a="http://schemas.openxmlformats.org/drawingml/2006/main">
            <a:off x="9744456" y="2743200"/>
            <a:ext cx="292608"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24" name="Shape 21">
            <a:extLst xmlns:a="http://schemas.openxmlformats.org/drawingml/2006/main">
              <a:ext uri="{FF2B5EF4-FFF2-40B4-BE49-F238E27FC236}">
                <a16:creationId xmlns:a16="http://schemas.microsoft.com/office/drawing/2014/main" id="{9A333380-AD60-4535-8039-04332A453741}"/>
              </a:ext>
            </a:extLst>
          </p:cNvPr>
          <p:cNvSpPr>
            <a:spLocks xmlns:a="http://schemas.openxmlformats.org/drawingml/2006/main" noGrp="1"/>
          </p:cNvSpPr>
          <p:nvPr/>
        </p:nvSpPr>
        <p:spPr>
          <a:xfrm xmlns:a="http://schemas.openxmlformats.org/drawingml/2006/main">
            <a:off x="10073640" y="1828800"/>
            <a:ext cx="1539240" cy="1828800"/>
          </a:xfrm>
          <a:prstGeom xmlns:a="http://schemas.openxmlformats.org/drawingml/2006/main" prst="roundRect">
            <a:avLst>
              <a:gd name="adj" fmla="val 7129"/>
            </a:avLst>
          </a:prstGeom>
          <a:solidFill xmlns:a="http://schemas.openxmlformats.org/drawingml/2006/main">
            <a:srgbClr val="FFFFFF"/>
          </a:solidFill>
          <a:ln xmlns:a="http://schemas.openxmlformats.org/drawingml/2006/main" w="12700">
            <a:solidFill>
              <a:srgbClr val="3B9C5A"/>
            </a:solidFill>
            <a:prstDash val="solid"/>
          </a:ln>
        </p:spPr>
      </p:sp>
      <p:sp>
        <p:nvSpPr>
          <p:cNvPr id="25" name="Text 22">
            <a:extLst xmlns:a="http://schemas.openxmlformats.org/drawingml/2006/main">
              <a:ext uri="{FF2B5EF4-FFF2-40B4-BE49-F238E27FC236}">
                <a16:creationId xmlns:a16="http://schemas.microsoft.com/office/drawing/2014/main" id="{D93A922A-FC36-4640-9F1F-B40E63574C37}"/>
              </a:ext>
            </a:extLst>
          </p:cNvPr>
          <p:cNvSpPr>
            <a:spLocks xmlns:a="http://schemas.openxmlformats.org/drawingml/2006/main" noGrp="1"/>
          </p:cNvSpPr>
          <p:nvPr/>
        </p:nvSpPr>
        <p:spPr>
          <a:xfrm xmlns:a="http://schemas.openxmlformats.org/drawingml/2006/main">
            <a:off x="10183368" y="1965960"/>
            <a:ext cx="131978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6. Code checks reply</a:t>
            </a:r>
            <a:endParaRPr sz="1800"/>
          </a:p>
        </p:txBody>
      </p:sp>
      <p:sp>
        <p:nvSpPr>
          <p:cNvPr id="26" name="Text 23">
            <a:extLst xmlns:a="http://schemas.openxmlformats.org/drawingml/2006/main">
              <a:ext uri="{FF2B5EF4-FFF2-40B4-BE49-F238E27FC236}">
                <a16:creationId xmlns:a16="http://schemas.microsoft.com/office/drawing/2014/main" id="{1E0ED194-31A6-4620-8790-8283253C64AF}"/>
              </a:ext>
            </a:extLst>
          </p:cNvPr>
          <p:cNvSpPr>
            <a:spLocks xmlns:a="http://schemas.openxmlformats.org/drawingml/2006/main" noGrp="1"/>
          </p:cNvSpPr>
          <p:nvPr/>
        </p:nvSpPr>
        <p:spPr>
          <a:xfrm xmlns:a="http://schemas.openxmlformats.org/drawingml/2006/main">
            <a:off x="10183368" y="2697480"/>
            <a:ext cx="131978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a:solidFill>
                  <a:srgbClr val="5C6B66"/>
                </a:solidFill>
                <a:latin typeface="Calibri"/>
                <a:ea typeface="Calibri"/>
                <a:cs typeface="Calibri"/>
              </a:rPr>
              <a:t>before you see it</a:t>
            </a:r>
            <a:endParaRPr sz="1500"/>
          </a:p>
        </p:txBody>
      </p:sp>
      <p:sp>
        <p:nvSpPr>
          <p:cNvPr id="27" name="Text 24">
            <a:extLst xmlns:a="http://schemas.openxmlformats.org/drawingml/2006/main">
              <a:ext uri="{FF2B5EF4-FFF2-40B4-BE49-F238E27FC236}">
                <a16:creationId xmlns:a16="http://schemas.microsoft.com/office/drawing/2014/main" id="{5616B9F1-6482-452C-8165-98E3297C294C}"/>
              </a:ext>
            </a:extLst>
          </p:cNvPr>
          <p:cNvSpPr>
            <a:spLocks xmlns:a="http://schemas.openxmlformats.org/drawingml/2006/main" noGrp="1"/>
          </p:cNvSpPr>
          <p:nvPr/>
        </p:nvSpPr>
        <p:spPr>
          <a:xfrm xmlns:a="http://schemas.openxmlformats.org/drawingml/2006/main">
            <a:off x="548640" y="4206240"/>
            <a:ext cx="10972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800" b="1">
                <a:solidFill>
                  <a:srgbClr val="3B9C5A"/>
                </a:solidFill>
                <a:latin typeface="Bookman Old Style"/>
                <a:ea typeface="Bookman Old Style"/>
                <a:cs typeface="Bookman Old Style"/>
              </a:rPr>
              <a:t>The AI never walks into the kitchen.</a:t>
            </a:r>
            <a:endParaRPr sz="2800"/>
          </a:p>
        </p:txBody>
      </p:sp>
      <p:sp>
        <p:nvSpPr>
          <p:cNvPr id="28" name="Text 25">
            <a:extLst xmlns:a="http://schemas.openxmlformats.org/drawingml/2006/main">
              <a:ext uri="{FF2B5EF4-FFF2-40B4-BE49-F238E27FC236}">
                <a16:creationId xmlns:a16="http://schemas.microsoft.com/office/drawing/2014/main" id="{20A03FBE-F8E5-4659-A19F-C5DF20B364AA}"/>
              </a:ext>
            </a:extLst>
          </p:cNvPr>
          <p:cNvSpPr>
            <a:spLocks xmlns:a="http://schemas.openxmlformats.org/drawingml/2006/main" noGrp="1"/>
          </p:cNvSpPr>
          <p:nvPr/>
        </p:nvSpPr>
        <p:spPr>
          <a:xfrm xmlns:a="http://schemas.openxmlformats.org/drawingml/2006/main">
            <a:off x="548640" y="48463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a:solidFill>
                  <a:srgbClr val="5C6B66"/>
                </a:solidFill>
                <a:latin typeface="Calibri"/>
                <a:ea typeface="Calibri"/>
                <a:cs typeface="Calibri"/>
              </a:rPr>
              <a:t>The model proposes. The application executes.</a:t>
            </a:r>
            <a:endParaRPr sz="2000"/>
          </a:p>
        </p:txBody>
      </p:sp>
      <p:sp>
        <p:nvSpPr>
          <p:cNvPr id="29" name="Slide Number Placeholder 0">
            <a:extLst xmlns:a="http://schemas.openxmlformats.org/drawingml/2006/main">
              <a:ext uri="{FF2B5EF4-FFF2-40B4-BE49-F238E27FC236}">
                <a16:creationId xmlns:a16="http://schemas.microsoft.com/office/drawing/2014/main" id="{0F71AA45-BE96-4EED-95EA-C87F47D24FB6}"/>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EFD6AB9A-5F9E-5F59-51AB-3C8734130965}" type="slidenum">
              <a:rPr b="0"/>
              <a:t>4</a:t>
            </a:fld>
            <a:endParaRPr/>
          </a:p>
        </p:txBody>
      </p:sp>
    </p:spTree>
    <p:extLst>
      <p:ext uri="{BB962C8B-B14F-4D97-AF65-F5344CB8AC3E}">
        <p14:creationId xmlns:p14="http://schemas.microsoft.com/office/powerpoint/2010/main" val="843678878"/>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lesson-title">
            <a:extLst xmlns:a="http://schemas.openxmlformats.org/drawingml/2006/main">
              <a:ext uri="{FF2B5EF4-FFF2-40B4-BE49-F238E27FC236}">
                <a16:creationId xmlns:a16="http://schemas.microsoft.com/office/drawing/2014/main" id="{61C869E0-74DB-429C-B5A0-C0668FBBAAF4}"/>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Google AI Studio setup</a:t>
            </a:r>
          </a:p>
        </p:txBody>
      </p:sp>
      <p:sp>
        <p:nvSpPr>
          <p:cNvPr id="2" name="row-label-0">
            <a:extLst xmlns:a="http://schemas.openxmlformats.org/drawingml/2006/main">
              <a:ext uri="{FF2B5EF4-FFF2-40B4-BE49-F238E27FC236}">
                <a16:creationId xmlns:a16="http://schemas.microsoft.com/office/drawing/2014/main" id="{B301E8CC-1D4E-4CAD-9D20-BC7BD270A99C}"/>
              </a:ext>
            </a:extLst>
          </p:cNvPr>
          <p:cNvSpPr>
            <a:spLocks xmlns:a="http://schemas.openxmlformats.org/drawingml/2006/main" noGrp="1"/>
          </p:cNvSpPr>
          <p:nvPr/>
        </p:nvSpPr>
        <p:spPr>
          <a:xfrm xmlns:a="http://schemas.openxmlformats.org/drawingml/2006/main">
            <a:off x="666750" y="18097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Sign in</a:t>
            </a:r>
          </a:p>
        </p:txBody>
      </p:sp>
      <p:sp>
        <p:nvSpPr>
          <p:cNvPr id="3" name="row-body-0">
            <a:extLst xmlns:a="http://schemas.openxmlformats.org/drawingml/2006/main">
              <a:ext uri="{FF2B5EF4-FFF2-40B4-BE49-F238E27FC236}">
                <a16:creationId xmlns:a16="http://schemas.microsoft.com/office/drawing/2014/main" id="{D76E0614-7085-4805-8A43-123A4DC6B19B}"/>
              </a:ext>
            </a:extLst>
          </p:cNvPr>
          <p:cNvSpPr>
            <a:spLocks xmlns:a="http://schemas.openxmlformats.org/drawingml/2006/main" noGrp="1"/>
          </p:cNvSpPr>
          <p:nvPr/>
        </p:nvSpPr>
        <p:spPr>
          <a:xfrm xmlns:a="http://schemas.openxmlformats.org/drawingml/2006/main">
            <a:off x="3143250" y="18097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Open Google AI Studio in your browser.</a:t>
            </a:r>
          </a:p>
        </p:txBody>
      </p:sp>
      <p:sp>
        <p:nvSpPr>
          <p:cNvPr id="4" name="row-label-1">
            <a:extLst xmlns:a="http://schemas.openxmlformats.org/drawingml/2006/main">
              <a:ext uri="{FF2B5EF4-FFF2-40B4-BE49-F238E27FC236}">
                <a16:creationId xmlns:a16="http://schemas.microsoft.com/office/drawing/2014/main" id="{ED95F494-65F2-4DBE-94AE-F53715DF3ADE}"/>
              </a:ext>
            </a:extLst>
          </p:cNvPr>
          <p:cNvSpPr>
            <a:spLocks xmlns:a="http://schemas.openxmlformats.org/drawingml/2006/main" noGrp="1"/>
          </p:cNvSpPr>
          <p:nvPr/>
        </p:nvSpPr>
        <p:spPr>
          <a:xfrm xmlns:a="http://schemas.openxmlformats.org/drawingml/2006/main">
            <a:off x="666750" y="30670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API Keys</a:t>
            </a:r>
          </a:p>
        </p:txBody>
      </p:sp>
      <p:sp>
        <p:nvSpPr>
          <p:cNvPr id="5" name="row-body-1">
            <a:extLst xmlns:a="http://schemas.openxmlformats.org/drawingml/2006/main">
              <a:ext uri="{FF2B5EF4-FFF2-40B4-BE49-F238E27FC236}">
                <a16:creationId xmlns:a16="http://schemas.microsoft.com/office/drawing/2014/main" id="{EF5E409E-3E6C-4D31-BCEA-2FA6248A135A}"/>
              </a:ext>
            </a:extLst>
          </p:cNvPr>
          <p:cNvSpPr>
            <a:spLocks xmlns:a="http://schemas.openxmlformats.org/drawingml/2006/main" noGrp="1"/>
          </p:cNvSpPr>
          <p:nvPr/>
        </p:nvSpPr>
        <p:spPr>
          <a:xfrm xmlns:a="http://schemas.openxmlformats.org/drawingml/2006/main">
            <a:off x="3143250" y="30670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Use the default key or create one.</a:t>
            </a:r>
          </a:p>
        </p:txBody>
      </p:sp>
      <p:sp>
        <p:nvSpPr>
          <p:cNvPr id="6" name="row-label-2">
            <a:extLst xmlns:a="http://schemas.openxmlformats.org/drawingml/2006/main">
              <a:ext uri="{FF2B5EF4-FFF2-40B4-BE49-F238E27FC236}">
                <a16:creationId xmlns:a16="http://schemas.microsoft.com/office/drawing/2014/main" id="{D1C9E9D9-CDCF-4E65-93DD-FAC95C54DD5D}"/>
              </a:ext>
            </a:extLst>
          </p:cNvPr>
          <p:cNvSpPr>
            <a:spLocks xmlns:a="http://schemas.openxmlformats.org/drawingml/2006/main" noGrp="1"/>
          </p:cNvSpPr>
          <p:nvPr/>
        </p:nvSpPr>
        <p:spPr>
          <a:xfrm xmlns:a="http://schemas.openxmlformats.org/drawingml/2006/main">
            <a:off x="666750" y="43243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Free tier</a:t>
            </a:r>
          </a:p>
        </p:txBody>
      </p:sp>
      <p:sp>
        <p:nvSpPr>
          <p:cNvPr id="7" name="row-body-2">
            <a:extLst xmlns:a="http://schemas.openxmlformats.org/drawingml/2006/main">
              <a:ext uri="{FF2B5EF4-FFF2-40B4-BE49-F238E27FC236}">
                <a16:creationId xmlns:a16="http://schemas.microsoft.com/office/drawing/2014/main" id="{2819878B-1BDE-45F0-9B18-64E345F1E931}"/>
              </a:ext>
            </a:extLst>
          </p:cNvPr>
          <p:cNvSpPr>
            <a:spLocks xmlns:a="http://schemas.openxmlformats.org/drawingml/2006/main" noGrp="1"/>
          </p:cNvSpPr>
          <p:nvPr/>
        </p:nvSpPr>
        <p:spPr>
          <a:xfrm xmlns:a="http://schemas.openxmlformats.org/drawingml/2006/main">
            <a:off x="3143250" y="43243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Check the project tier and available model.</a:t>
            </a:r>
          </a:p>
        </p:txBody>
      </p:sp>
      <p:sp>
        <p:nvSpPr>
          <p:cNvPr id="8" name="takeaway">
            <a:extLst xmlns:a="http://schemas.openxmlformats.org/drawingml/2006/main">
              <a:ext uri="{FF2B5EF4-FFF2-40B4-BE49-F238E27FC236}">
                <a16:creationId xmlns:a16="http://schemas.microsoft.com/office/drawing/2014/main" id="{21719755-2C37-47AF-8A7A-EA7AE1DB4B95}"/>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Use the walkthrough even if you are following offline.</a:t>
            </a:r>
          </a:p>
        </p:txBody>
      </p:sp>
      <p:sp>
        <p:nvSpPr>
          <p:cNvPr id="9" name="footer">
            <a:extLst xmlns:a="http://schemas.openxmlformats.org/drawingml/2006/main">
              <a:ext uri="{FF2B5EF4-FFF2-40B4-BE49-F238E27FC236}">
                <a16:creationId xmlns:a16="http://schemas.microsoft.com/office/drawing/2014/main" id="{17F364E8-D91A-4C11-B080-4CA0196DA52B}"/>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10" name="slide-number">
            <a:extLst xmlns:a="http://schemas.openxmlformats.org/drawingml/2006/main">
              <a:ext uri="{FF2B5EF4-FFF2-40B4-BE49-F238E27FC236}">
                <a16:creationId xmlns:a16="http://schemas.microsoft.com/office/drawing/2014/main" id="{E23D2093-D939-4CEE-A986-EE931B3C311E}"/>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5</a:t>
            </a:r>
          </a:p>
        </p:txBody>
      </p:sp>
    </p:spTree>
    <p:extLst>
      <p:ext uri="{BB962C8B-B14F-4D97-AF65-F5344CB8AC3E}">
        <p14:creationId xmlns:p14="http://schemas.microsoft.com/office/powerpoint/2010/main" val="553684671"/>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lesson-title">
            <a:extLst xmlns:a="http://schemas.openxmlformats.org/drawingml/2006/main">
              <a:ext uri="{FF2B5EF4-FFF2-40B4-BE49-F238E27FC236}">
                <a16:creationId xmlns:a16="http://schemas.microsoft.com/office/drawing/2014/main" id="{164CFD2C-0AE4-435C-AC4F-037E7F94CCD8}"/>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Connect the prepared Python demo</a:t>
            </a:r>
          </a:p>
        </p:txBody>
      </p:sp>
      <p:sp>
        <p:nvSpPr>
          <p:cNvPr id="2" name="code-example">
            <a:extLst xmlns:a="http://schemas.openxmlformats.org/drawingml/2006/main">
              <a:ext uri="{FF2B5EF4-FFF2-40B4-BE49-F238E27FC236}">
                <a16:creationId xmlns:a16="http://schemas.microsoft.com/office/drawing/2014/main" id="{30D21C88-2A43-4D16-AE82-0110DFD44358}"/>
              </a:ext>
            </a:extLst>
          </p:cNvPr>
          <p:cNvSpPr>
            <a:spLocks xmlns:a="http://schemas.openxmlformats.org/drawingml/2006/main" noGrp="1"/>
          </p:cNvSpPr>
          <p:nvPr/>
        </p:nvSpPr>
        <p:spPr>
          <a:xfrm xmlns:a="http://schemas.openxmlformats.org/drawingml/2006/main">
            <a:off x="742950" y="1714500"/>
            <a:ext cx="1076325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3A32"/>
                </a:solidFill>
                <a:latin typeface="Consolas"/>
                <a:ea typeface="Consolas"/>
                <a:cs typeface="Consolas"/>
              </a:defRPr>
            </a:defPPr>
          </a:lstStyle>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starter/</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.env.example     variable names only</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.env             your private key</a:t>
            </a:r>
          </a:p>
          <a:p xmlns:a="http://schemas.openxmlformats.org/drawingml/2006/main">
            <a:r>
              <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GOOGLE_API_KEY=your_key_here</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GEMINI_MODEL=gemini-3.6-flash</a:t>
            </a:r>
          </a:p>
        </p:txBody>
      </p:sp>
      <p:sp>
        <p:nvSpPr>
          <p:cNvPr id="3" name="takeaway">
            <a:extLst xmlns:a="http://schemas.openxmlformats.org/drawingml/2006/main">
              <a:ext uri="{FF2B5EF4-FFF2-40B4-BE49-F238E27FC236}">
                <a16:creationId xmlns:a16="http://schemas.microsoft.com/office/drawing/2014/main" id="{E10EDB3F-515C-476A-B021-05D1C819856E}"/>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Never project or submit a real API key.</a:t>
            </a:r>
          </a:p>
        </p:txBody>
      </p:sp>
      <p:sp>
        <p:nvSpPr>
          <p:cNvPr id="4" name="footer">
            <a:extLst xmlns:a="http://schemas.openxmlformats.org/drawingml/2006/main">
              <a:ext uri="{FF2B5EF4-FFF2-40B4-BE49-F238E27FC236}">
                <a16:creationId xmlns:a16="http://schemas.microsoft.com/office/drawing/2014/main" id="{A4FBF11F-6A4C-4094-8F8E-6E739FB59E52}"/>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5" name="slide-number">
            <a:extLst xmlns:a="http://schemas.openxmlformats.org/drawingml/2006/main">
              <a:ext uri="{FF2B5EF4-FFF2-40B4-BE49-F238E27FC236}">
                <a16:creationId xmlns:a16="http://schemas.microsoft.com/office/drawing/2014/main" id="{1A0FBC39-325B-4F23-AA29-DB6651CD268B}"/>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6</a:t>
            </a:r>
          </a:p>
        </p:txBody>
      </p:sp>
    </p:spTree>
    <p:extLst>
      <p:ext uri="{BB962C8B-B14F-4D97-AF65-F5344CB8AC3E}">
        <p14:creationId xmlns:p14="http://schemas.microsoft.com/office/powerpoint/2010/main" val="424615880"/>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lesson-title">
            <a:extLst xmlns:a="http://schemas.openxmlformats.org/drawingml/2006/main">
              <a:ext uri="{FF2B5EF4-FFF2-40B4-BE49-F238E27FC236}">
                <a16:creationId xmlns:a16="http://schemas.microsoft.com/office/drawing/2014/main" id="{57FA9715-8FC2-40AA-BCF4-ED94A08FE8BE}"/>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Checkpoint: open the project folder</a:t>
            </a:r>
          </a:p>
        </p:txBody>
      </p:sp>
      <p:sp>
        <p:nvSpPr>
          <p:cNvPr id="2" name="code-example">
            <a:extLst xmlns:a="http://schemas.openxmlformats.org/drawingml/2006/main">
              <a:ext uri="{FF2B5EF4-FFF2-40B4-BE49-F238E27FC236}">
                <a16:creationId xmlns:a16="http://schemas.microsoft.com/office/drawing/2014/main" id="{5A641532-678F-4295-8B55-A9F6333F7DCB}"/>
              </a:ext>
            </a:extLst>
          </p:cNvPr>
          <p:cNvSpPr>
            <a:spLocks xmlns:a="http://schemas.openxmlformats.org/drawingml/2006/main" noGrp="1"/>
          </p:cNvSpPr>
          <p:nvPr/>
        </p:nvSpPr>
        <p:spPr>
          <a:xfrm xmlns:a="http://schemas.openxmlformats.org/drawingml/2006/main">
            <a:off x="742950" y="1714500"/>
            <a:ext cx="1076325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3A32"/>
                </a:solidFill>
                <a:latin typeface="Consolas"/>
                <a:ea typeface="Consolas"/>
                <a:cs typeface="Consolas"/>
              </a:defRPr>
            </a:defPPr>
          </a:lstStyle>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.venv\Scripts\python starter/agent.py --offline</a:t>
            </a:r>
          </a:p>
          <a:p xmlns:a="http://schemas.openxmlformats.org/drawingml/2006/main">
            <a:r>
              <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macOS / Linux:</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.venv/bin/python starter/agent.py --offline</a:t>
            </a:r>
          </a:p>
        </p:txBody>
      </p:sp>
      <p:sp>
        <p:nvSpPr>
          <p:cNvPr id="3" name="takeaway">
            <a:extLst xmlns:a="http://schemas.openxmlformats.org/drawingml/2006/main">
              <a:ext uri="{FF2B5EF4-FFF2-40B4-BE49-F238E27FC236}">
                <a16:creationId xmlns:a16="http://schemas.microsoft.com/office/drawing/2014/main" id="{5A69D428-6AC0-44FC-A16F-AF632155FA66}"/>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A working local run lets everyone continue without an API account.</a:t>
            </a:r>
          </a:p>
        </p:txBody>
      </p:sp>
      <p:sp>
        <p:nvSpPr>
          <p:cNvPr id="4" name="footer">
            <a:extLst xmlns:a="http://schemas.openxmlformats.org/drawingml/2006/main">
              <a:ext uri="{FF2B5EF4-FFF2-40B4-BE49-F238E27FC236}">
                <a16:creationId xmlns:a16="http://schemas.microsoft.com/office/drawing/2014/main" id="{355686C2-C96A-465A-86D9-B97C63D9CAAB}"/>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5" name="slide-number">
            <a:extLst xmlns:a="http://schemas.openxmlformats.org/drawingml/2006/main">
              <a:ext uri="{FF2B5EF4-FFF2-40B4-BE49-F238E27FC236}">
                <a16:creationId xmlns:a16="http://schemas.microsoft.com/office/drawing/2014/main" id="{10CC85B9-259D-4CCA-A45F-7750D2BCF886}"/>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7</a:t>
            </a:r>
          </a:p>
        </p:txBody>
      </p:sp>
    </p:spTree>
    <p:extLst>
      <p:ext uri="{BB962C8B-B14F-4D97-AF65-F5344CB8AC3E}">
        <p14:creationId xmlns:p14="http://schemas.microsoft.com/office/powerpoint/2010/main" val="1548148167"/>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lesson-title">
            <a:extLst xmlns:a="http://schemas.openxmlformats.org/drawingml/2006/main">
              <a:ext uri="{FF2B5EF4-FFF2-40B4-BE49-F238E27FC236}">
                <a16:creationId xmlns:a16="http://schemas.microsoft.com/office/drawing/2014/main" id="{F924CCF8-1FA9-44FD-B273-14A76E039256}"/>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Give each file one job</a:t>
            </a:r>
          </a:p>
        </p:txBody>
      </p:sp>
      <p:sp>
        <p:nvSpPr>
          <p:cNvPr id="2" name="code-example">
            <a:extLst xmlns:a="http://schemas.openxmlformats.org/drawingml/2006/main">
              <a:ext uri="{FF2B5EF4-FFF2-40B4-BE49-F238E27FC236}">
                <a16:creationId xmlns:a16="http://schemas.microsoft.com/office/drawing/2014/main" id="{29A15A2C-18AE-4E30-8C2B-B40472B785D0}"/>
              </a:ext>
            </a:extLst>
          </p:cNvPr>
          <p:cNvSpPr>
            <a:spLocks xmlns:a="http://schemas.openxmlformats.org/drawingml/2006/main" noGrp="1"/>
          </p:cNvSpPr>
          <p:nvPr/>
        </p:nvSpPr>
        <p:spPr>
          <a:xfrm xmlns:a="http://schemas.openxmlformats.org/drawingml/2006/main">
            <a:off x="742950" y="1714500"/>
            <a:ext cx="1076325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3A32"/>
                </a:solidFill>
                <a:latin typeface="Consolas"/>
                <a:ea typeface="Consolas"/>
                <a:cs typeface="Consolas"/>
              </a:defRPr>
            </a:defPPr>
          </a:lstStyle>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starter/</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README.md        how to run and practise</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AGENTS.md        coding-assistant instructions</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docs/PROJECT.md  expected behavior</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data/menu.json   fictional menu records</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agent.py         program we will change</a:t>
            </a:r>
          </a:p>
        </p:txBody>
      </p:sp>
      <p:sp>
        <p:nvSpPr>
          <p:cNvPr id="3" name="takeaway">
            <a:extLst xmlns:a="http://schemas.openxmlformats.org/drawingml/2006/main">
              <a:ext uri="{FF2B5EF4-FFF2-40B4-BE49-F238E27FC236}">
                <a16:creationId xmlns:a16="http://schemas.microsoft.com/office/drawing/2014/main" id="{D2386F66-5806-4FDC-B727-DD5B9804C6FA}"/>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Instructions, data and application code have different jobs.</a:t>
            </a:r>
          </a:p>
        </p:txBody>
      </p:sp>
      <p:sp>
        <p:nvSpPr>
          <p:cNvPr id="4" name="footer">
            <a:extLst xmlns:a="http://schemas.openxmlformats.org/drawingml/2006/main">
              <a:ext uri="{FF2B5EF4-FFF2-40B4-BE49-F238E27FC236}">
                <a16:creationId xmlns:a16="http://schemas.microsoft.com/office/drawing/2014/main" id="{4D04A759-C0CC-4662-B2A7-FD0AB1A8750E}"/>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5" name="slide-number">
            <a:extLst xmlns:a="http://schemas.openxmlformats.org/drawingml/2006/main">
              <a:ext uri="{FF2B5EF4-FFF2-40B4-BE49-F238E27FC236}">
                <a16:creationId xmlns:a16="http://schemas.microsoft.com/office/drawing/2014/main" id="{E11BF2E7-B20F-4555-9C41-54FAEB301B5C}"/>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8</a:t>
            </a:r>
          </a:p>
        </p:txBody>
      </p:sp>
    </p:spTree>
    <p:extLst>
      <p:ext uri="{BB962C8B-B14F-4D97-AF65-F5344CB8AC3E}">
        <p14:creationId xmlns:p14="http://schemas.microsoft.com/office/powerpoint/2010/main" val="893933536"/>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lesson-title">
            <a:extLst xmlns:a="http://schemas.openxmlformats.org/drawingml/2006/main">
              <a:ext uri="{FF2B5EF4-FFF2-40B4-BE49-F238E27FC236}">
                <a16:creationId xmlns:a16="http://schemas.microsoft.com/office/drawing/2014/main" id="{BBAB493D-3B9A-4623-AAA3-4FD6F89DDAE4}"/>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buNone/>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Markdown basics</a:t>
            </a:r>
          </a:p>
        </p:txBody>
      </p:sp>
      <p:sp>
        <p:nvSpPr>
          <p:cNvPr id="2" name="lesson-example">
            <a:extLst xmlns:a="http://schemas.openxmlformats.org/drawingml/2006/main">
              <a:ext uri="{FF2B5EF4-FFF2-40B4-BE49-F238E27FC236}">
                <a16:creationId xmlns:a16="http://schemas.microsoft.com/office/drawing/2014/main" id="{6B8C6529-81EA-4094-808E-6E9D2528E882}"/>
              </a:ext>
            </a:extLst>
          </p:cNvPr>
          <p:cNvSpPr>
            <a:spLocks xmlns:a="http://schemas.openxmlformats.org/drawingml/2006/main" noGrp="1"/>
          </p:cNvSpPr>
          <p:nvPr/>
        </p:nvSpPr>
        <p:spPr>
          <a:xfrm xmlns:a="http://schemas.openxmlformats.org/drawingml/2006/main">
            <a:off x="647700" y="1714500"/>
            <a:ext cx="5905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E3A32"/>
                </a:solidFill>
                <a:latin typeface="Consolas"/>
                <a:ea typeface="Consolas"/>
                <a:cs typeface="Consolas"/>
              </a:defRPr>
            </a:defPPr>
          </a:lstStyle>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 Campus Canteen Assistant</a:t>
            </a:r>
          </a:p>
          <a:p xmlns:a="http://schemas.openxmlformats.org/drawingml/2006/main">
            <a:r>
              <a:t/>
            </a:r>
          </a:p>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 Outcome</a:t>
            </a:r>
          </a:p>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Find available lunch within a budget.</a:t>
            </a:r>
          </a:p>
          <a:p xmlns:a="http://schemas.openxmlformats.org/drawingml/2006/main">
            <a:r>
              <a:t/>
            </a:r>
          </a:p>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 Check the real menu.</a:t>
            </a:r>
          </a:p>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 Ask when the budget is missing.</a:t>
            </a:r>
          </a:p>
          <a:p xmlns:a="http://schemas.openxmlformats.org/drawingml/2006/main">
            <a:r>
              <a:t/>
            </a:r>
          </a:p>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[Project brief](docs/PROJECT.md)</a:t>
            </a:r>
          </a:p>
        </p:txBody>
      </p:sp>
      <p:sp>
        <p:nvSpPr>
          <p:cNvPr id="3" name="lesson-explanation">
            <a:extLst xmlns:a="http://schemas.openxmlformats.org/drawingml/2006/main">
              <a:ext uri="{FF2B5EF4-FFF2-40B4-BE49-F238E27FC236}">
                <a16:creationId xmlns:a16="http://schemas.microsoft.com/office/drawing/2014/main" id="{38C7D8CB-AAEA-4756-841A-00564BF6C5AF}"/>
              </a:ext>
            </a:extLst>
          </p:cNvPr>
          <p:cNvSpPr>
            <a:spLocks xmlns:a="http://schemas.openxmlformats.org/drawingml/2006/main" noGrp="1"/>
          </p:cNvSpPr>
          <p:nvPr/>
        </p:nvSpPr>
        <p:spPr>
          <a:xfrm xmlns:a="http://schemas.openxmlformats.org/drawingml/2006/main">
            <a:off x="7067550" y="1714500"/>
            <a:ext cx="4381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D2B26"/>
                </a:solidFill>
                <a:latin typeface="Calibri"/>
                <a:ea typeface="Calibri"/>
                <a:cs typeface="Calibri"/>
              </a:defRPr>
            </a:defPPr>
          </a:lstStyle>
          <a:p xmlns:a="http://schemas.openxmlformats.org/drawingml/2006/main">
            <a:pPr>
              <a:buNone/>
              <a:defRPr sz="2100" b="0">
                <a:solidFill>
                  <a:srgbClr val="1D2B26"/>
                </a:solidFill>
                <a:latin typeface="Calibri"/>
                <a:ea typeface="Calibri"/>
                <a:cs typeface="Calibri"/>
              </a:defRPr>
            </a:pPr>
            <a:r>
              <a:rPr sz="2100" b="0">
                <a:solidFill>
                  <a:srgbClr val="1D2B26"/>
                </a:solidFill>
                <a:latin typeface="Calibri"/>
                <a:ea typeface="Calibri"/>
                <a:cs typeface="Calibri"/>
              </a:rPr>
              <a:t># gives a title</a:t>
            </a:r>
          </a:p>
          <a:p xmlns:a="http://schemas.openxmlformats.org/drawingml/2006/main">
            <a:pPr>
              <a:buNone/>
              <a:defRPr sz="2100" b="0">
                <a:solidFill>
                  <a:srgbClr val="1D2B26"/>
                </a:solidFill>
                <a:latin typeface="Calibri"/>
                <a:ea typeface="Calibri"/>
                <a:cs typeface="Calibri"/>
              </a:defRPr>
            </a:pPr>
            <a:r>
              <a:rPr sz="2100" b="0">
                <a:solidFill>
                  <a:srgbClr val="1D2B26"/>
                </a:solidFill>
                <a:latin typeface="Calibri"/>
                <a:ea typeface="Calibri"/>
                <a:cs typeface="Calibri"/>
              </a:rPr>
              <a:t>## starts a section</a:t>
            </a:r>
          </a:p>
          <a:p xmlns:a="http://schemas.openxmlformats.org/drawingml/2006/main">
            <a:pPr>
              <a:buNone/>
              <a:defRPr sz="2100" b="0">
                <a:solidFill>
                  <a:srgbClr val="1D2B26"/>
                </a:solidFill>
                <a:latin typeface="Calibri"/>
                <a:ea typeface="Calibri"/>
                <a:cs typeface="Calibri"/>
              </a:defRPr>
            </a:pPr>
            <a:r>
              <a:rPr sz="2100" b="0">
                <a:solidFill>
                  <a:srgbClr val="1D2B26"/>
                </a:solidFill>
                <a:latin typeface="Calibri"/>
                <a:ea typeface="Calibri"/>
                <a:cs typeface="Calibri"/>
              </a:rPr>
              <a:t>- makes a list</a:t>
            </a:r>
          </a:p>
          <a:p xmlns:a="http://schemas.openxmlformats.org/drawingml/2006/main">
            <a:r>
              <a:t/>
            </a:r>
          </a:p>
          <a:p xmlns:a="http://schemas.openxmlformats.org/drawingml/2006/main">
            <a:pPr>
              <a:buNone/>
              <a:defRPr sz="2100" b="0">
                <a:solidFill>
                  <a:srgbClr val="1D2B26"/>
                </a:solidFill>
                <a:latin typeface="Calibri"/>
                <a:ea typeface="Calibri"/>
                <a:cs typeface="Calibri"/>
              </a:defRPr>
            </a:pPr>
            <a:r>
              <a:rPr sz="2100" b="0">
                <a:solidFill>
                  <a:srgbClr val="1D2B26"/>
                </a:solidFill>
                <a:latin typeface="Calibri"/>
                <a:ea typeface="Calibri"/>
                <a:cs typeface="Calibri"/>
              </a:rPr>
              <a:t>Use fenced blocks for code.</a:t>
            </a:r>
          </a:p>
          <a:p xmlns:a="http://schemas.openxmlformats.org/drawingml/2006/main">
            <a:pPr>
              <a:buNone/>
              <a:defRPr sz="2100" b="0">
                <a:solidFill>
                  <a:srgbClr val="1D2B26"/>
                </a:solidFill>
                <a:latin typeface="Calibri"/>
                <a:ea typeface="Calibri"/>
                <a:cs typeface="Calibri"/>
              </a:defRPr>
            </a:pPr>
            <a:r>
              <a:rPr sz="2100" b="0">
                <a:solidFill>
                  <a:srgbClr val="1D2B26"/>
                </a:solidFill>
                <a:latin typeface="Calibri"/>
                <a:ea typeface="Calibri"/>
                <a:cs typeface="Calibri"/>
              </a:rPr>
              <a:t>Save as README.md, not .md.txt.</a:t>
            </a:r>
          </a:p>
        </p:txBody>
      </p:sp>
      <p:sp>
        <p:nvSpPr>
          <p:cNvPr id="4" name="footer">
            <a:extLst xmlns:a="http://schemas.openxmlformats.org/drawingml/2006/main">
              <a:ext uri="{FF2B5EF4-FFF2-40B4-BE49-F238E27FC236}">
                <a16:creationId xmlns:a16="http://schemas.microsoft.com/office/drawing/2014/main" id="{FD603022-DE52-4C97-B830-8D9E8A309F96}"/>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buNone/>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5" name="slide-number">
            <a:extLst xmlns:a="http://schemas.openxmlformats.org/drawingml/2006/main">
              <a:ext uri="{FF2B5EF4-FFF2-40B4-BE49-F238E27FC236}">
                <a16:creationId xmlns:a16="http://schemas.microsoft.com/office/drawing/2014/main" id="{14736A1B-9B43-4EE1-B859-1407E0DC582E}"/>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buNone/>
              <a:defRPr sz="1050" b="0">
                <a:solidFill>
                  <a:srgbClr val="5C6B66"/>
                </a:solidFill>
                <a:latin typeface="Calibri"/>
                <a:ea typeface="Calibri"/>
                <a:cs typeface="Calibri"/>
              </a:defRPr>
            </a:pPr>
            <a:r>
              <a:rPr sz="1050" b="0">
                <a:solidFill>
                  <a:srgbClr val="5C6B66"/>
                </a:solidFill>
                <a:latin typeface="Calibri"/>
                <a:ea typeface="Calibri"/>
                <a:cs typeface="Calibri"/>
              </a:rPr>
              <a:t>9</a:t>
            </a:r>
          </a:p>
        </p:txBody>
      </p:sp>
    </p:spTree>
    <p:extLst>
      <p:ext uri="{BB962C8B-B14F-4D97-AF65-F5344CB8AC3E}">
        <p14:creationId xmlns:p14="http://schemas.microsoft.com/office/powerpoint/2010/main" val="431471012"/>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lesson-title">
            <a:extLst xmlns:a="http://schemas.openxmlformats.org/drawingml/2006/main">
              <a:ext uri="{FF2B5EF4-FFF2-40B4-BE49-F238E27FC236}">
                <a16:creationId xmlns:a16="http://schemas.microsoft.com/office/drawing/2014/main" id="{C9401DCE-FDC7-4039-8CCB-BD941E4CD419}"/>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Write the outcome before asking for code</a:t>
            </a:r>
          </a:p>
        </p:txBody>
      </p:sp>
      <p:sp>
        <p:nvSpPr>
          <p:cNvPr id="2" name="row-label-0">
            <a:extLst xmlns:a="http://schemas.openxmlformats.org/drawingml/2006/main">
              <a:ext uri="{FF2B5EF4-FFF2-40B4-BE49-F238E27FC236}">
                <a16:creationId xmlns:a16="http://schemas.microsoft.com/office/drawing/2014/main" id="{2CC51617-F985-4A59-9DB3-06D551C7BB31}"/>
              </a:ext>
            </a:extLst>
          </p:cNvPr>
          <p:cNvSpPr>
            <a:spLocks xmlns:a="http://schemas.openxmlformats.org/drawingml/2006/main" noGrp="1"/>
          </p:cNvSpPr>
          <p:nvPr/>
        </p:nvSpPr>
        <p:spPr>
          <a:xfrm xmlns:a="http://schemas.openxmlformats.org/drawingml/2006/main">
            <a:off x="666750" y="18097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Outcome</a:t>
            </a:r>
          </a:p>
        </p:txBody>
      </p:sp>
      <p:sp>
        <p:nvSpPr>
          <p:cNvPr id="3" name="row-body-0">
            <a:extLst xmlns:a="http://schemas.openxmlformats.org/drawingml/2006/main">
              <a:ext uri="{FF2B5EF4-FFF2-40B4-BE49-F238E27FC236}">
                <a16:creationId xmlns:a16="http://schemas.microsoft.com/office/drawing/2014/main" id="{4B9A176C-AEBD-4985-A87F-5F695FFEFC76}"/>
              </a:ext>
            </a:extLst>
          </p:cNvPr>
          <p:cNvSpPr>
            <a:spLocks xmlns:a="http://schemas.openxmlformats.org/drawingml/2006/main" noGrp="1"/>
          </p:cNvSpPr>
          <p:nvPr/>
        </p:nvSpPr>
        <p:spPr>
          <a:xfrm xmlns:a="http://schemas.openxmlformats.org/drawingml/2006/main">
            <a:off x="3143250" y="18097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Use Rs 30 as the default lunch budget.</a:t>
            </a:r>
          </a:p>
        </p:txBody>
      </p:sp>
      <p:sp>
        <p:nvSpPr>
          <p:cNvPr id="4" name="row-label-1">
            <a:extLst xmlns:a="http://schemas.openxmlformats.org/drawingml/2006/main">
              <a:ext uri="{FF2B5EF4-FFF2-40B4-BE49-F238E27FC236}">
                <a16:creationId xmlns:a16="http://schemas.microsoft.com/office/drawing/2014/main" id="{A8D30D09-2E38-452E-963D-7AF0B7435A91}"/>
              </a:ext>
            </a:extLst>
          </p:cNvPr>
          <p:cNvSpPr>
            <a:spLocks xmlns:a="http://schemas.openxmlformats.org/drawingml/2006/main" noGrp="1"/>
          </p:cNvSpPr>
          <p:nvPr/>
        </p:nvSpPr>
        <p:spPr>
          <a:xfrm xmlns:a="http://schemas.openxmlformats.org/drawingml/2006/main">
            <a:off x="666750" y="30670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Normal</a:t>
            </a:r>
          </a:p>
        </p:txBody>
      </p:sp>
      <p:sp>
        <p:nvSpPr>
          <p:cNvPr id="5" name="row-body-1">
            <a:extLst xmlns:a="http://schemas.openxmlformats.org/drawingml/2006/main">
              <a:ext uri="{FF2B5EF4-FFF2-40B4-BE49-F238E27FC236}">
                <a16:creationId xmlns:a16="http://schemas.microsoft.com/office/drawing/2014/main" id="{A62E2E17-B341-437E-882F-782D27F5BBF5}"/>
              </a:ext>
            </a:extLst>
          </p:cNvPr>
          <p:cNvSpPr>
            <a:spLocks xmlns:a="http://schemas.openxmlformats.org/drawingml/2006/main" noGrp="1"/>
          </p:cNvSpPr>
          <p:nvPr/>
        </p:nvSpPr>
        <p:spPr>
          <a:xfrm xmlns:a="http://schemas.openxmlformats.org/drawingml/2006/main">
            <a:off x="3143250" y="30670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At Rs 80, the sandwich qualifies.</a:t>
            </a:r>
          </a:p>
        </p:txBody>
      </p:sp>
      <p:sp>
        <p:nvSpPr>
          <p:cNvPr id="6" name="row-label-2">
            <a:extLst xmlns:a="http://schemas.openxmlformats.org/drawingml/2006/main">
              <a:ext uri="{FF2B5EF4-FFF2-40B4-BE49-F238E27FC236}">
                <a16:creationId xmlns:a16="http://schemas.microsoft.com/office/drawing/2014/main" id="{7AAC25BD-D62E-4FCF-9D46-61D20AB43147}"/>
              </a:ext>
            </a:extLst>
          </p:cNvPr>
          <p:cNvSpPr>
            <a:spLocks xmlns:a="http://schemas.openxmlformats.org/drawingml/2006/main" noGrp="1"/>
          </p:cNvSpPr>
          <p:nvPr/>
        </p:nvSpPr>
        <p:spPr>
          <a:xfrm xmlns:a="http://schemas.openxmlformats.org/drawingml/2006/main">
            <a:off x="666750" y="43243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Boundary</a:t>
            </a:r>
          </a:p>
        </p:txBody>
      </p:sp>
      <p:sp>
        <p:nvSpPr>
          <p:cNvPr id="7" name="row-body-2">
            <a:extLst xmlns:a="http://schemas.openxmlformats.org/drawingml/2006/main">
              <a:ext uri="{FF2B5EF4-FFF2-40B4-BE49-F238E27FC236}">
                <a16:creationId xmlns:a16="http://schemas.microsoft.com/office/drawing/2014/main" id="{69FFB6EA-EA1D-40B0-BE57-0726F31E1ED7}"/>
              </a:ext>
            </a:extLst>
          </p:cNvPr>
          <p:cNvSpPr>
            <a:spLocks xmlns:a="http://schemas.openxmlformats.org/drawingml/2006/main" noGrp="1"/>
          </p:cNvSpPr>
          <p:nvPr/>
        </p:nvSpPr>
        <p:spPr>
          <a:xfrm xmlns:a="http://schemas.openxmlformats.org/drawingml/2006/main">
            <a:off x="3143250" y="43243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At Rs 30, no vegetarian dish qualifies.</a:t>
            </a:r>
          </a:p>
        </p:txBody>
      </p:sp>
      <p:sp>
        <p:nvSpPr>
          <p:cNvPr id="8" name="takeaway">
            <a:extLst xmlns:a="http://schemas.openxmlformats.org/drawingml/2006/main">
              <a:ext uri="{FF2B5EF4-FFF2-40B4-BE49-F238E27FC236}">
                <a16:creationId xmlns:a16="http://schemas.microsoft.com/office/drawing/2014/main" id="{0F03B6E2-9F2E-4037-B3E7-A1D91BD6E50C}"/>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Keep the menu and filtering rules unchanged.</a:t>
            </a:r>
          </a:p>
        </p:txBody>
      </p:sp>
      <p:sp>
        <p:nvSpPr>
          <p:cNvPr id="9" name="footer">
            <a:extLst xmlns:a="http://schemas.openxmlformats.org/drawingml/2006/main">
              <a:ext uri="{FF2B5EF4-FFF2-40B4-BE49-F238E27FC236}">
                <a16:creationId xmlns:a16="http://schemas.microsoft.com/office/drawing/2014/main" id="{31C36D74-3676-40DE-BF4B-264406C866DB}"/>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10" name="slide-number">
            <a:extLst xmlns:a="http://schemas.openxmlformats.org/drawingml/2006/main">
              <a:ext uri="{FF2B5EF4-FFF2-40B4-BE49-F238E27FC236}">
                <a16:creationId xmlns:a16="http://schemas.microsoft.com/office/drawing/2014/main" id="{B6BB5E2A-6AD9-4D6B-8494-27C659C72EB7}"/>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10</a:t>
            </a:r>
          </a:p>
        </p:txBody>
      </p:sp>
    </p:spTree>
    <p:extLst>
      <p:ext uri="{BB962C8B-B14F-4D97-AF65-F5344CB8AC3E}">
        <p14:creationId xmlns:p14="http://schemas.microsoft.com/office/powerpoint/2010/main" val="1554086762"/>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lesson-title">
            <a:extLst xmlns:a="http://schemas.openxmlformats.org/drawingml/2006/main">
              <a:ext uri="{FF2B5EF4-FFF2-40B4-BE49-F238E27FC236}">
                <a16:creationId xmlns:a16="http://schemas.microsoft.com/office/drawing/2014/main" id="{3E96B64F-4FE3-451A-922A-1406EE30AD35}"/>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Useful instructions for an AI coder</a:t>
            </a:r>
          </a:p>
        </p:txBody>
      </p:sp>
      <p:sp>
        <p:nvSpPr>
          <p:cNvPr id="2" name="code-example">
            <a:extLst xmlns:a="http://schemas.openxmlformats.org/drawingml/2006/main">
              <a:ext uri="{FF2B5EF4-FFF2-40B4-BE49-F238E27FC236}">
                <a16:creationId xmlns:a16="http://schemas.microsoft.com/office/drawing/2014/main" id="{6D8EF716-DBDB-4BDF-B709-F8A82C4A4524}"/>
              </a:ext>
            </a:extLst>
          </p:cNvPr>
          <p:cNvSpPr>
            <a:spLocks xmlns:a="http://schemas.openxmlformats.org/drawingml/2006/main" noGrp="1"/>
          </p:cNvSpPr>
          <p:nvPr/>
        </p:nvSpPr>
        <p:spPr>
          <a:xfrm xmlns:a="http://schemas.openxmlformats.org/drawingml/2006/main">
            <a:off x="742950" y="1714500"/>
            <a:ext cx="1076325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3A32"/>
                </a:solidFill>
                <a:latin typeface="Consolas"/>
                <a:ea typeface="Consolas"/>
                <a:cs typeface="Consolas"/>
              </a:defRPr>
            </a:defPPr>
          </a:lstStyle>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Campus Canteen</a:t>
            </a:r>
          </a:p>
          <a:p xmlns:a="http://schemas.openxmlformats.org/drawingml/2006/main">
            <a:r>
              <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Read docs/PROJECT.md before editing.</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Make one focused change.</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Keep menu records unchanged.</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Check the final answer, including failures.</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Report what you ran and what remains untested.</a:t>
            </a:r>
          </a:p>
        </p:txBody>
      </p:sp>
      <p:sp>
        <p:nvSpPr>
          <p:cNvPr id="3" name="takeaway">
            <a:extLst xmlns:a="http://schemas.openxmlformats.org/drawingml/2006/main">
              <a:ext uri="{FF2B5EF4-FFF2-40B4-BE49-F238E27FC236}">
                <a16:creationId xmlns:a16="http://schemas.microsoft.com/office/drawing/2014/main" id="{AD375D30-4DAF-44EB-B1BA-FC0F5C5CBE0C}"/>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Concrete instructions are easier to review than “be accurate”.</a:t>
            </a:r>
          </a:p>
        </p:txBody>
      </p:sp>
      <p:sp>
        <p:nvSpPr>
          <p:cNvPr id="4" name="footer">
            <a:extLst xmlns:a="http://schemas.openxmlformats.org/drawingml/2006/main">
              <a:ext uri="{FF2B5EF4-FFF2-40B4-BE49-F238E27FC236}">
                <a16:creationId xmlns:a16="http://schemas.microsoft.com/office/drawing/2014/main" id="{1B0FF2D6-57DC-4A7A-8D5E-9D820D2F64D6}"/>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5" name="slide-number">
            <a:extLst xmlns:a="http://schemas.openxmlformats.org/drawingml/2006/main">
              <a:ext uri="{FF2B5EF4-FFF2-40B4-BE49-F238E27FC236}">
                <a16:creationId xmlns:a16="http://schemas.microsoft.com/office/drawing/2014/main" id="{F1A83818-2E23-46EF-A976-3813FA436F02}"/>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11</a:t>
            </a:r>
          </a:p>
        </p:txBody>
      </p:sp>
    </p:spTree>
    <p:extLst>
      <p:ext uri="{BB962C8B-B14F-4D97-AF65-F5344CB8AC3E}">
        <p14:creationId xmlns:p14="http://schemas.microsoft.com/office/powerpoint/2010/main" val="961060768"/>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lesson-title">
            <a:extLst xmlns:a="http://schemas.openxmlformats.org/drawingml/2006/main">
              <a:ext uri="{FF2B5EF4-FFF2-40B4-BE49-F238E27FC236}">
                <a16:creationId xmlns:a16="http://schemas.microsoft.com/office/drawing/2014/main" id="{233FC82A-D41F-45D2-8826-B716F07768C2}"/>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Pair task: write five useful lines</a:t>
            </a:r>
          </a:p>
        </p:txBody>
      </p:sp>
      <p:sp>
        <p:nvSpPr>
          <p:cNvPr id="2" name="row-label-0">
            <a:extLst xmlns:a="http://schemas.openxmlformats.org/drawingml/2006/main">
              <a:ext uri="{FF2B5EF4-FFF2-40B4-BE49-F238E27FC236}">
                <a16:creationId xmlns:a16="http://schemas.microsoft.com/office/drawing/2014/main" id="{31F3AC44-C4A4-4C0C-9C10-34E022B91711}"/>
              </a:ext>
            </a:extLst>
          </p:cNvPr>
          <p:cNvSpPr>
            <a:spLocks xmlns:a="http://schemas.openxmlformats.org/drawingml/2006/main" noGrp="1"/>
          </p:cNvSpPr>
          <p:nvPr/>
        </p:nvSpPr>
        <p:spPr>
          <a:xfrm xmlns:a="http://schemas.openxmlformats.org/drawingml/2006/main">
            <a:off x="666750" y="18097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Purpose</a:t>
            </a:r>
          </a:p>
        </p:txBody>
      </p:sp>
      <p:sp>
        <p:nvSpPr>
          <p:cNvPr id="3" name="row-body-0">
            <a:extLst xmlns:a="http://schemas.openxmlformats.org/drawingml/2006/main">
              <a:ext uri="{FF2B5EF4-FFF2-40B4-BE49-F238E27FC236}">
                <a16:creationId xmlns:a16="http://schemas.microsoft.com/office/drawing/2014/main" id="{F1FE374F-8BE2-482E-A9E2-5ACE05E269EA}"/>
              </a:ext>
            </a:extLst>
          </p:cNvPr>
          <p:cNvSpPr>
            <a:spLocks xmlns:a="http://schemas.openxmlformats.org/drawingml/2006/main" noGrp="1"/>
          </p:cNvSpPr>
          <p:nvPr/>
        </p:nvSpPr>
        <p:spPr>
          <a:xfrm xmlns:a="http://schemas.openxmlformats.org/drawingml/2006/main">
            <a:off x="3143250" y="18097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What are we building?</a:t>
            </a:r>
          </a:p>
        </p:txBody>
      </p:sp>
      <p:sp>
        <p:nvSpPr>
          <p:cNvPr id="4" name="row-label-1">
            <a:extLst xmlns:a="http://schemas.openxmlformats.org/drawingml/2006/main">
              <a:ext uri="{FF2B5EF4-FFF2-40B4-BE49-F238E27FC236}">
                <a16:creationId xmlns:a16="http://schemas.microsoft.com/office/drawing/2014/main" id="{3A79356E-9327-4B23-ABAB-4E3D7848BE96}"/>
              </a:ext>
            </a:extLst>
          </p:cNvPr>
          <p:cNvSpPr>
            <a:spLocks xmlns:a="http://schemas.openxmlformats.org/drawingml/2006/main" noGrp="1"/>
          </p:cNvSpPr>
          <p:nvPr/>
        </p:nvSpPr>
        <p:spPr>
          <a:xfrm xmlns:a="http://schemas.openxmlformats.org/drawingml/2006/main">
            <a:off x="666750" y="30670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Boundary</a:t>
            </a:r>
          </a:p>
        </p:txBody>
      </p:sp>
      <p:sp>
        <p:nvSpPr>
          <p:cNvPr id="5" name="row-body-1">
            <a:extLst xmlns:a="http://schemas.openxmlformats.org/drawingml/2006/main">
              <a:ext uri="{FF2B5EF4-FFF2-40B4-BE49-F238E27FC236}">
                <a16:creationId xmlns:a16="http://schemas.microsoft.com/office/drawing/2014/main" id="{9619D756-447D-41E3-B41F-4C4465EE96B9}"/>
              </a:ext>
            </a:extLst>
          </p:cNvPr>
          <p:cNvSpPr>
            <a:spLocks xmlns:a="http://schemas.openxmlformats.org/drawingml/2006/main" noGrp="1"/>
          </p:cNvSpPr>
          <p:nvPr/>
        </p:nvSpPr>
        <p:spPr>
          <a:xfrm xmlns:a="http://schemas.openxmlformats.org/drawingml/2006/main">
            <a:off x="3143250" y="30670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What must the coder preserve?</a:t>
            </a:r>
          </a:p>
        </p:txBody>
      </p:sp>
      <p:sp>
        <p:nvSpPr>
          <p:cNvPr id="6" name="row-label-2">
            <a:extLst xmlns:a="http://schemas.openxmlformats.org/drawingml/2006/main">
              <a:ext uri="{FF2B5EF4-FFF2-40B4-BE49-F238E27FC236}">
                <a16:creationId xmlns:a16="http://schemas.microsoft.com/office/drawing/2014/main" id="{DDBB08F7-3C8B-47C0-9C64-99C63017A8F8}"/>
              </a:ext>
            </a:extLst>
          </p:cNvPr>
          <p:cNvSpPr>
            <a:spLocks xmlns:a="http://schemas.openxmlformats.org/drawingml/2006/main" noGrp="1"/>
          </p:cNvSpPr>
          <p:nvPr/>
        </p:nvSpPr>
        <p:spPr>
          <a:xfrm xmlns:a="http://schemas.openxmlformats.org/drawingml/2006/main">
            <a:off x="666750" y="43243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Evidence</a:t>
            </a:r>
          </a:p>
        </p:txBody>
      </p:sp>
      <p:sp>
        <p:nvSpPr>
          <p:cNvPr id="7" name="row-body-2">
            <a:extLst xmlns:a="http://schemas.openxmlformats.org/drawingml/2006/main">
              <a:ext uri="{FF2B5EF4-FFF2-40B4-BE49-F238E27FC236}">
                <a16:creationId xmlns:a16="http://schemas.microsoft.com/office/drawing/2014/main" id="{E2CF6637-BD13-460C-94A8-FB3429D85C9F}"/>
              </a:ext>
            </a:extLst>
          </p:cNvPr>
          <p:cNvSpPr>
            <a:spLocks xmlns:a="http://schemas.openxmlformats.org/drawingml/2006/main" noGrp="1"/>
          </p:cNvSpPr>
          <p:nvPr/>
        </p:nvSpPr>
        <p:spPr>
          <a:xfrm xmlns:a="http://schemas.openxmlformats.org/drawingml/2006/main">
            <a:off x="3143250" y="43243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What must it run and report?</a:t>
            </a:r>
          </a:p>
        </p:txBody>
      </p:sp>
      <p:sp>
        <p:nvSpPr>
          <p:cNvPr id="8" name="takeaway">
            <a:extLst xmlns:a="http://schemas.openxmlformats.org/drawingml/2006/main">
              <a:ext uri="{FF2B5EF4-FFF2-40B4-BE49-F238E27FC236}">
                <a16:creationId xmlns:a16="http://schemas.microsoft.com/office/drawing/2014/main" id="{B6AB1275-2E47-4301-9C43-DA5C417A5865}"/>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Share your most useful instruction with a partner.</a:t>
            </a:r>
          </a:p>
        </p:txBody>
      </p:sp>
      <p:sp>
        <p:nvSpPr>
          <p:cNvPr id="9" name="footer">
            <a:extLst xmlns:a="http://schemas.openxmlformats.org/drawingml/2006/main">
              <a:ext uri="{FF2B5EF4-FFF2-40B4-BE49-F238E27FC236}">
                <a16:creationId xmlns:a16="http://schemas.microsoft.com/office/drawing/2014/main" id="{957BCC79-D72F-45CA-ABB7-09FBCE330351}"/>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10" name="slide-number">
            <a:extLst xmlns:a="http://schemas.openxmlformats.org/drawingml/2006/main">
              <a:ext uri="{FF2B5EF4-FFF2-40B4-BE49-F238E27FC236}">
                <a16:creationId xmlns:a16="http://schemas.microsoft.com/office/drawing/2014/main" id="{6A330297-1C38-4F5A-8650-E2110133705D}"/>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12</a:t>
            </a:r>
          </a:p>
        </p:txBody>
      </p:sp>
    </p:spTree>
    <p:extLst>
      <p:ext uri="{BB962C8B-B14F-4D97-AF65-F5344CB8AC3E}">
        <p14:creationId xmlns:p14="http://schemas.microsoft.com/office/powerpoint/2010/main" val="325323756"/>
      </p:ext>
    </p:extLst>
  </p:cSld>
</p:sld>
</file>

<file path=ppt/slides/slide1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lesson-title">
            <a:extLst xmlns:a="http://schemas.openxmlformats.org/drawingml/2006/main">
              <a:ext uri="{FF2B5EF4-FFF2-40B4-BE49-F238E27FC236}">
                <a16:creationId xmlns:a16="http://schemas.microsoft.com/office/drawing/2014/main" id="{610C4CD1-5F37-4776-9B57-E184A29BFD85}"/>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Read one menu record</a:t>
            </a:r>
          </a:p>
        </p:txBody>
      </p:sp>
      <p:sp>
        <p:nvSpPr>
          <p:cNvPr id="2" name="code-example">
            <a:extLst xmlns:a="http://schemas.openxmlformats.org/drawingml/2006/main">
              <a:ext uri="{FF2B5EF4-FFF2-40B4-BE49-F238E27FC236}">
                <a16:creationId xmlns:a16="http://schemas.microsoft.com/office/drawing/2014/main" id="{DC98AB07-C0FD-4675-9A11-DB2F52670D19}"/>
              </a:ext>
            </a:extLst>
          </p:cNvPr>
          <p:cNvSpPr>
            <a:spLocks xmlns:a="http://schemas.openxmlformats.org/drawingml/2006/main" noGrp="1"/>
          </p:cNvSpPr>
          <p:nvPr/>
        </p:nvSpPr>
        <p:spPr>
          <a:xfrm xmlns:a="http://schemas.openxmlformats.org/drawingml/2006/main">
            <a:off x="742950" y="1714500"/>
            <a:ext cx="1076325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3A32"/>
                </a:solidFill>
                <a:latin typeface="Consolas"/>
                <a:ea typeface="Consolas"/>
                <a:cs typeface="Consolas"/>
              </a:defRPr>
            </a:defPPr>
          </a:lstStyle>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"name": "Veg sandwich",</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"price": 60,</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"vegetarian": true,</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"available": true</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a:t>
            </a:r>
          </a:p>
        </p:txBody>
      </p:sp>
      <p:sp>
        <p:nvSpPr>
          <p:cNvPr id="3" name="takeaway">
            <a:extLst xmlns:a="http://schemas.openxmlformats.org/drawingml/2006/main">
              <a:ext uri="{FF2B5EF4-FFF2-40B4-BE49-F238E27FC236}">
                <a16:creationId xmlns:a16="http://schemas.microsoft.com/office/drawing/2014/main" id="{48EDB81F-4F33-4B91-8282-9B01DE31FFFA}"/>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The program checks records. The assistant should not invent them.</a:t>
            </a:r>
          </a:p>
        </p:txBody>
      </p:sp>
      <p:sp>
        <p:nvSpPr>
          <p:cNvPr id="4" name="footer">
            <a:extLst xmlns:a="http://schemas.openxmlformats.org/drawingml/2006/main">
              <a:ext uri="{FF2B5EF4-FFF2-40B4-BE49-F238E27FC236}">
                <a16:creationId xmlns:a16="http://schemas.microsoft.com/office/drawing/2014/main" id="{E3B0DEE5-16A6-42AE-88B5-C34793105144}"/>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5" name="slide-number">
            <a:extLst xmlns:a="http://schemas.openxmlformats.org/drawingml/2006/main">
              <a:ext uri="{FF2B5EF4-FFF2-40B4-BE49-F238E27FC236}">
                <a16:creationId xmlns:a16="http://schemas.microsoft.com/office/drawing/2014/main" id="{AEDF7870-6C73-4490-A919-AB9C466DF179}"/>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13</a:t>
            </a:r>
          </a:p>
        </p:txBody>
      </p:sp>
    </p:spTree>
    <p:extLst>
      <p:ext uri="{BB962C8B-B14F-4D97-AF65-F5344CB8AC3E}">
        <p14:creationId xmlns:p14="http://schemas.microsoft.com/office/powerpoint/2010/main" val="17781425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3D7DEB-23E0-406D-84A2-05D337922794}"/>
              </a:ext>
            </a:extLst>
          </p:cNvPr>
          <p:cNvSpPr>
            <a:spLocks xmlns:a="http://schemas.openxmlformats.org/drawingml/2006/main" noGrp="1"/>
          </p:cNvSpPr>
          <p:nvPr/>
        </p:nvSpPr>
        <p:spPr>
          <a:xfrm xmlns:a="http://schemas.openxmlformats.org/drawingml/2006/main">
            <a:off x="548640" y="411480"/>
            <a:ext cx="11064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D2B26"/>
                </a:solidFill>
                <a:latin typeface="Bookman Old Style"/>
                <a:ea typeface="Bookman Old Style"/>
                <a:cs typeface="Bookman Old Style"/>
              </a:rPr>
              <a:t>Demo 1: a tool is just a function</a:t>
            </a:r>
            <a:endParaRPr sz="3200"/>
          </a:p>
        </p:txBody>
      </p:sp>
      <p:sp>
        <p:nvSpPr>
          <p:cNvPr id="4" name="Shape 1">
            <a:extLst xmlns:a="http://schemas.openxmlformats.org/drawingml/2006/main">
              <a:ext uri="{FF2B5EF4-FFF2-40B4-BE49-F238E27FC236}">
                <a16:creationId xmlns:a16="http://schemas.microsoft.com/office/drawing/2014/main" id="{D230D137-D6EB-4D06-85BA-8B80486AA280}"/>
              </a:ext>
            </a:extLst>
          </p:cNvPr>
          <p:cNvSpPr>
            <a:spLocks xmlns:a="http://schemas.openxmlformats.org/drawingml/2006/main" noGrp="1"/>
          </p:cNvSpPr>
          <p:nvPr/>
        </p:nvSpPr>
        <p:spPr>
          <a:xfrm xmlns:a="http://schemas.openxmlformats.org/drawingml/2006/main">
            <a:off x="548640" y="1645920"/>
            <a:ext cx="11064240" cy="2926080"/>
          </a:xfrm>
          <a:prstGeom xmlns:a="http://schemas.openxmlformats.org/drawingml/2006/main" prst="roundRect">
            <a:avLst>
              <a:gd name="adj" fmla="val 3125"/>
            </a:avLst>
          </a:prstGeom>
          <a:solidFill xmlns:a="http://schemas.openxmlformats.org/drawingml/2006/main">
            <a:srgbClr val="16302A"/>
          </a:solidFill>
          <a:ln xmlns:a="http://schemas.openxmlformats.org/drawingml/2006/main" w="12700">
            <a:solidFill>
              <a:srgbClr val="16302A"/>
            </a:solidFill>
            <a:prstDash val="solid"/>
          </a:ln>
        </p:spPr>
      </p:sp>
      <p:sp>
        <p:nvSpPr>
          <p:cNvPr id="5" name="Text 2">
            <a:extLst xmlns:a="http://schemas.openxmlformats.org/drawingml/2006/main">
              <a:ext uri="{FF2B5EF4-FFF2-40B4-BE49-F238E27FC236}">
                <a16:creationId xmlns:a16="http://schemas.microsoft.com/office/drawing/2014/main" id="{4126DACB-AFCF-4CDE-8E9F-33E9798FA8CC}"/>
              </a:ext>
            </a:extLst>
          </p:cNvPr>
          <p:cNvSpPr>
            <a:spLocks xmlns:a="http://schemas.openxmlformats.org/drawingml/2006/main" noGrp="1"/>
          </p:cNvSpPr>
          <p:nvPr/>
        </p:nvSpPr>
        <p:spPr>
          <a:xfrm xmlns:a="http://schemas.openxmlformats.org/drawingml/2006/main">
            <a:off x="822960" y="1874520"/>
            <a:ext cx="1051560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400"/>
              </a:spcAft>
              <a:buNone/>
            </a:pPr>
            <a:r>
              <a:rPr sz="2000" b="1">
                <a:solidFill>
                  <a:srgbClr val="F2B33D"/>
                </a:solidFill>
                <a:latin typeface="Consolas"/>
                <a:ea typeface="Consolas"/>
                <a:cs typeface="Consolas"/>
              </a:rPr>
              <a:t>&gt;&gt;&gt; find_food(max_price=80, vegetarian=True)</a:t>
            </a:r>
            <a:endParaRPr sz="2000"/>
          </a:p>
          <a:p xmlns:a="http://schemas.openxmlformats.org/drawingml/2006/main">
            <a:pPr marL="0" indent="0">
              <a:spcAft>
                <a:spcPts val="400"/>
              </a:spcAft>
              <a:buNone/>
            </a:pPr>
            <a:r>
              <a:rPr sz="2000">
                <a:solidFill>
                  <a:srgbClr val="F4F2EC"/>
                </a:solidFill>
                <a:latin typeface="Consolas"/>
                <a:ea typeface="Consolas"/>
                <a:cs typeface="Consolas"/>
              </a:rPr>
              <a:t>{ "status": "ok",</a:t>
            </a:r>
            <a:endParaRPr sz="2000"/>
          </a:p>
          <a:p xmlns:a="http://schemas.openxmlformats.org/drawingml/2006/main">
            <a:pPr marL="0" indent="0">
              <a:spcAft>
                <a:spcPts val="400"/>
              </a:spcAft>
              <a:buNone/>
            </a:pPr>
            <a:r>
              <a:rPr sz="2000">
                <a:solidFill>
                  <a:srgbClr val="F4F2EC"/>
                </a:solidFill>
                <a:latin typeface="Consolas"/>
                <a:ea typeface="Consolas"/>
                <a:cs typeface="Consolas"/>
              </a:rPr>
              <a:t>  "filters": { "max_price": 80, "vegetarian": true,</a:t>
            </a:r>
            <a:endParaRPr sz="2000"/>
          </a:p>
          <a:p xmlns:a="http://schemas.openxmlformats.org/drawingml/2006/main">
            <a:pPr marL="0" indent="0">
              <a:spcAft>
                <a:spcPts val="400"/>
              </a:spcAft>
              <a:buNone/>
            </a:pPr>
            <a:r>
              <a:rPr sz="2000">
                <a:solidFill>
                  <a:srgbClr val="F4F2EC"/>
                </a:solidFill>
                <a:latin typeface="Consolas"/>
                <a:ea typeface="Consolas"/>
                <a:cs typeface="Consolas"/>
              </a:rPr>
              <a:t>               "in_stock_only": true },</a:t>
            </a:r>
            <a:endParaRPr sz="2000"/>
          </a:p>
          <a:p xmlns:a="http://schemas.openxmlformats.org/drawingml/2006/main">
            <a:pPr marL="0" indent="0">
              <a:spcAft>
                <a:spcPts val="400"/>
              </a:spcAft>
              <a:buNone/>
            </a:pPr>
            <a:r>
              <a:rPr sz="2000" b="1">
                <a:solidFill>
                  <a:srgbClr val="8FD6A3"/>
                </a:solidFill>
                <a:latin typeface="Consolas"/>
                <a:ea typeface="Consolas"/>
                <a:cs typeface="Consolas"/>
              </a:rPr>
              <a:t>  "matches": [ { "name": "Veg sandwich", "price": 60 } ] }</a:t>
            </a:r>
            <a:endParaRPr sz="2000"/>
          </a:p>
        </p:txBody>
      </p:sp>
      <p:sp>
        <p:nvSpPr>
          <p:cNvPr id="6" name="Text 3">
            <a:extLst xmlns:a="http://schemas.openxmlformats.org/drawingml/2006/main">
              <a:ext uri="{FF2B5EF4-FFF2-40B4-BE49-F238E27FC236}">
                <a16:creationId xmlns:a16="http://schemas.microsoft.com/office/drawing/2014/main" id="{669EB8D0-9E96-49B9-A2C2-2D141295BFB2}"/>
              </a:ext>
            </a:extLst>
          </p:cNvPr>
          <p:cNvSpPr>
            <a:spLocks xmlns:a="http://schemas.openxmlformats.org/drawingml/2006/main" noGrp="1"/>
          </p:cNvSpPr>
          <p:nvPr/>
        </p:nvSpPr>
        <p:spPr>
          <a:xfrm xmlns:a="http://schemas.openxmlformats.org/drawingml/2006/main">
            <a:off x="548640" y="4937760"/>
            <a:ext cx="10972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3B9C5A"/>
                </a:solidFill>
                <a:latin typeface="Calibri"/>
                <a:ea typeface="Calibri"/>
                <a:cs typeface="Calibri"/>
              </a:rPr>
              <a:t>Price, veg and stock rules live HERE, in code. Not in the AI.</a:t>
            </a:r>
            <a:endParaRPr sz="2400"/>
          </a:p>
        </p:txBody>
      </p:sp>
      <p:sp>
        <p:nvSpPr>
          <p:cNvPr id="25" name="Slide Number Placeholder 0">
            <a:extLst xmlns:a="http://schemas.openxmlformats.org/drawingml/2006/main">
              <a:ext uri="{FF2B5EF4-FFF2-40B4-BE49-F238E27FC236}">
                <a16:creationId xmlns:a16="http://schemas.microsoft.com/office/drawing/2014/main" id="{ED4288C4-CECB-40DC-A761-37444EF0E2E9}"/>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327921A4-25C4-3DB4-06B1-32693CEE2241}" type="slidenum">
              <a:rPr b="0"/>
              <a:t>14</a:t>
            </a:fld>
            <a:endParaRPr/>
          </a:p>
        </p:txBody>
      </p:sp>
    </p:spTree>
    <p:extLst>
      <p:ext uri="{BB962C8B-B14F-4D97-AF65-F5344CB8AC3E}">
        <p14:creationId xmlns:p14="http://schemas.microsoft.com/office/powerpoint/2010/main" val="34073809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23B294-43AE-43A9-A8A7-E5987F2BF175}"/>
              </a:ext>
            </a:extLst>
          </p:cNvPr>
          <p:cNvSpPr>
            <a:spLocks xmlns:a="http://schemas.openxmlformats.org/drawingml/2006/main" noGrp="1"/>
          </p:cNvSpPr>
          <p:nvPr/>
        </p:nvSpPr>
        <p:spPr>
          <a:xfrm xmlns:a="http://schemas.openxmlformats.org/drawingml/2006/main">
            <a:off x="548640" y="411480"/>
            <a:ext cx="11064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D2B26"/>
                </a:solidFill>
                <a:latin typeface="Bookman Old Style"/>
                <a:ea typeface="Bookman Old Style"/>
                <a:cs typeface="Bookman Old Style"/>
              </a:rPr>
              <a:t>ReAct: think, act, look, repeat</a:t>
            </a:r>
            <a:endParaRPr sz="3200"/>
          </a:p>
        </p:txBody>
      </p:sp>
      <p:sp>
        <p:nvSpPr>
          <p:cNvPr id="4" name="Shape 1">
            <a:extLst xmlns:a="http://schemas.openxmlformats.org/drawingml/2006/main">
              <a:ext uri="{FF2B5EF4-FFF2-40B4-BE49-F238E27FC236}">
                <a16:creationId xmlns:a16="http://schemas.microsoft.com/office/drawing/2014/main" id="{A0E3DF55-1322-4AB8-AC06-081AD1B40BD9}"/>
              </a:ext>
            </a:extLst>
          </p:cNvPr>
          <p:cNvSpPr>
            <a:spLocks xmlns:a="http://schemas.openxmlformats.org/drawingml/2006/main" noGrp="1"/>
          </p:cNvSpPr>
          <p:nvPr/>
        </p:nvSpPr>
        <p:spPr>
          <a:xfrm xmlns:a="http://schemas.openxmlformats.org/drawingml/2006/main">
            <a:off x="822960" y="1737360"/>
            <a:ext cx="2103120" cy="2103120"/>
          </a:xfrm>
          <a:prstGeom xmlns:a="http://schemas.openxmlformats.org/drawingml/2006/main" prst="ellipse">
            <a:avLst/>
          </a:prstGeom>
          <a:solidFill xmlns:a="http://schemas.openxmlformats.org/drawingml/2006/main">
            <a:srgbClr val="FFFFFF"/>
          </a:solidFill>
          <a:ln xmlns:a="http://schemas.openxmlformats.org/drawingml/2006/main" w="38100">
            <a:solidFill>
              <a:srgbClr val="3B9C5A"/>
            </a:solidFill>
            <a:prstDash val="solid"/>
          </a:ln>
        </p:spPr>
      </p:sp>
      <p:sp>
        <p:nvSpPr>
          <p:cNvPr id="5" name="Text 2">
            <a:extLst xmlns:a="http://schemas.openxmlformats.org/drawingml/2006/main">
              <a:ext uri="{FF2B5EF4-FFF2-40B4-BE49-F238E27FC236}">
                <a16:creationId xmlns:a16="http://schemas.microsoft.com/office/drawing/2014/main" id="{366E8DB3-2658-4A73-ABA9-F3354BE26E2A}"/>
              </a:ext>
            </a:extLst>
          </p:cNvPr>
          <p:cNvSpPr>
            <a:spLocks xmlns:a="http://schemas.openxmlformats.org/drawingml/2006/main" noGrp="1"/>
          </p:cNvSpPr>
          <p:nvPr/>
        </p:nvSpPr>
        <p:spPr>
          <a:xfrm xmlns:a="http://schemas.openxmlformats.org/drawingml/2006/main">
            <a:off x="822960" y="233172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600" b="1">
                <a:solidFill>
                  <a:srgbClr val="1D2B26"/>
                </a:solidFill>
                <a:latin typeface="Bookman Old Style"/>
                <a:ea typeface="Bookman Old Style"/>
                <a:cs typeface="Bookman Old Style"/>
              </a:rPr>
              <a:t>Think</a:t>
            </a:r>
            <a:endParaRPr sz="2600"/>
          </a:p>
        </p:txBody>
      </p:sp>
      <p:sp>
        <p:nvSpPr>
          <p:cNvPr id="6" name="Text 3">
            <a:extLst xmlns:a="http://schemas.openxmlformats.org/drawingml/2006/main">
              <a:ext uri="{FF2B5EF4-FFF2-40B4-BE49-F238E27FC236}">
                <a16:creationId xmlns:a16="http://schemas.microsoft.com/office/drawing/2014/main" id="{AAF6F5C6-AC33-42F2-8A12-E26777093517}"/>
              </a:ext>
            </a:extLst>
          </p:cNvPr>
          <p:cNvSpPr>
            <a:spLocks xmlns:a="http://schemas.openxmlformats.org/drawingml/2006/main" noGrp="1"/>
          </p:cNvSpPr>
          <p:nvPr/>
        </p:nvSpPr>
        <p:spPr>
          <a:xfrm xmlns:a="http://schemas.openxmlformats.org/drawingml/2006/main">
            <a:off x="822960" y="2926080"/>
            <a:ext cx="2103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a:solidFill>
                  <a:srgbClr val="5C6B66"/>
                </a:solidFill>
                <a:latin typeface="Calibri"/>
                <a:ea typeface="Calibri"/>
                <a:cs typeface="Calibri"/>
              </a:rPr>
              <a:t>what do I need?</a:t>
            </a:r>
            <a:endParaRPr sz="1600"/>
          </a:p>
        </p:txBody>
      </p:sp>
      <p:sp>
        <p:nvSpPr>
          <p:cNvPr id="7" name="Shape 4">
            <a:extLst xmlns:a="http://schemas.openxmlformats.org/drawingml/2006/main">
              <a:ext uri="{FF2B5EF4-FFF2-40B4-BE49-F238E27FC236}">
                <a16:creationId xmlns:a16="http://schemas.microsoft.com/office/drawing/2014/main" id="{28E2DB84-EC7E-4AAF-B3A9-587D1D5BBE49}"/>
              </a:ext>
            </a:extLst>
          </p:cNvPr>
          <p:cNvSpPr>
            <a:spLocks xmlns:a="http://schemas.openxmlformats.org/drawingml/2006/main" noGrp="1"/>
          </p:cNvSpPr>
          <p:nvPr/>
        </p:nvSpPr>
        <p:spPr>
          <a:xfrm xmlns:a="http://schemas.openxmlformats.org/drawingml/2006/main">
            <a:off x="2971800" y="2788920"/>
            <a:ext cx="548640"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8" name="Shape 5">
            <a:extLst xmlns:a="http://schemas.openxmlformats.org/drawingml/2006/main">
              <a:ext uri="{FF2B5EF4-FFF2-40B4-BE49-F238E27FC236}">
                <a16:creationId xmlns:a16="http://schemas.microsoft.com/office/drawing/2014/main" id="{890628B7-5207-48AC-885B-861AD0710B1E}"/>
              </a:ext>
            </a:extLst>
          </p:cNvPr>
          <p:cNvSpPr>
            <a:spLocks xmlns:a="http://schemas.openxmlformats.org/drawingml/2006/main" noGrp="1"/>
          </p:cNvSpPr>
          <p:nvPr/>
        </p:nvSpPr>
        <p:spPr>
          <a:xfrm xmlns:a="http://schemas.openxmlformats.org/drawingml/2006/main">
            <a:off x="3611880" y="1737360"/>
            <a:ext cx="2103120" cy="2103120"/>
          </a:xfrm>
          <a:prstGeom xmlns:a="http://schemas.openxmlformats.org/drawingml/2006/main" prst="ellipse">
            <a:avLst/>
          </a:prstGeom>
          <a:solidFill xmlns:a="http://schemas.openxmlformats.org/drawingml/2006/main">
            <a:srgbClr val="FFFFFF"/>
          </a:solidFill>
          <a:ln xmlns:a="http://schemas.openxmlformats.org/drawingml/2006/main" w="38100">
            <a:solidFill>
              <a:srgbClr val="3B9C5A"/>
            </a:solidFill>
            <a:prstDash val="solid"/>
          </a:ln>
        </p:spPr>
      </p:sp>
      <p:sp>
        <p:nvSpPr>
          <p:cNvPr id="9" name="Text 6">
            <a:extLst xmlns:a="http://schemas.openxmlformats.org/drawingml/2006/main">
              <a:ext uri="{FF2B5EF4-FFF2-40B4-BE49-F238E27FC236}">
                <a16:creationId xmlns:a16="http://schemas.microsoft.com/office/drawing/2014/main" id="{4A855802-BCDD-4A89-9ADF-3AA155874D86}"/>
              </a:ext>
            </a:extLst>
          </p:cNvPr>
          <p:cNvSpPr>
            <a:spLocks xmlns:a="http://schemas.openxmlformats.org/drawingml/2006/main" noGrp="1"/>
          </p:cNvSpPr>
          <p:nvPr/>
        </p:nvSpPr>
        <p:spPr>
          <a:xfrm xmlns:a="http://schemas.openxmlformats.org/drawingml/2006/main">
            <a:off x="3611880" y="233172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600" b="1">
                <a:solidFill>
                  <a:srgbClr val="1D2B26"/>
                </a:solidFill>
                <a:latin typeface="Bookman Old Style"/>
                <a:ea typeface="Bookman Old Style"/>
                <a:cs typeface="Bookman Old Style"/>
              </a:rPr>
              <a:t>Act</a:t>
            </a:r>
            <a:endParaRPr sz="2600"/>
          </a:p>
        </p:txBody>
      </p:sp>
      <p:sp>
        <p:nvSpPr>
          <p:cNvPr id="10" name="Text 7">
            <a:extLst xmlns:a="http://schemas.openxmlformats.org/drawingml/2006/main">
              <a:ext uri="{FF2B5EF4-FFF2-40B4-BE49-F238E27FC236}">
                <a16:creationId xmlns:a16="http://schemas.microsoft.com/office/drawing/2014/main" id="{E113331E-A635-41BC-BC61-B8DC5A59DD54}"/>
              </a:ext>
            </a:extLst>
          </p:cNvPr>
          <p:cNvSpPr>
            <a:spLocks xmlns:a="http://schemas.openxmlformats.org/drawingml/2006/main" noGrp="1"/>
          </p:cNvSpPr>
          <p:nvPr/>
        </p:nvSpPr>
        <p:spPr>
          <a:xfrm xmlns:a="http://schemas.openxmlformats.org/drawingml/2006/main">
            <a:off x="3611880" y="2926080"/>
            <a:ext cx="2103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a:solidFill>
                  <a:srgbClr val="5C6B66"/>
                </a:solidFill>
                <a:latin typeface="Calibri"/>
                <a:ea typeface="Calibri"/>
                <a:cs typeface="Calibri"/>
              </a:rPr>
              <a:t>ask for a tool</a:t>
            </a:r>
            <a:endParaRPr sz="1600"/>
          </a:p>
        </p:txBody>
      </p:sp>
      <p:sp>
        <p:nvSpPr>
          <p:cNvPr id="11" name="Shape 8">
            <a:extLst xmlns:a="http://schemas.openxmlformats.org/drawingml/2006/main">
              <a:ext uri="{FF2B5EF4-FFF2-40B4-BE49-F238E27FC236}">
                <a16:creationId xmlns:a16="http://schemas.microsoft.com/office/drawing/2014/main" id="{C7412FE3-8FA2-4C46-B861-EAB88631CFD5}"/>
              </a:ext>
            </a:extLst>
          </p:cNvPr>
          <p:cNvSpPr>
            <a:spLocks xmlns:a="http://schemas.openxmlformats.org/drawingml/2006/main" noGrp="1"/>
          </p:cNvSpPr>
          <p:nvPr/>
        </p:nvSpPr>
        <p:spPr>
          <a:xfrm xmlns:a="http://schemas.openxmlformats.org/drawingml/2006/main">
            <a:off x="5760720" y="2788920"/>
            <a:ext cx="548640"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12" name="Shape 9">
            <a:extLst xmlns:a="http://schemas.openxmlformats.org/drawingml/2006/main">
              <a:ext uri="{FF2B5EF4-FFF2-40B4-BE49-F238E27FC236}">
                <a16:creationId xmlns:a16="http://schemas.microsoft.com/office/drawing/2014/main" id="{D1C6428D-769C-494A-AB84-F7BCA577F02C}"/>
              </a:ext>
            </a:extLst>
          </p:cNvPr>
          <p:cNvSpPr>
            <a:spLocks xmlns:a="http://schemas.openxmlformats.org/drawingml/2006/main" noGrp="1"/>
          </p:cNvSpPr>
          <p:nvPr/>
        </p:nvSpPr>
        <p:spPr>
          <a:xfrm xmlns:a="http://schemas.openxmlformats.org/drawingml/2006/main">
            <a:off x="6400800" y="1737360"/>
            <a:ext cx="2103120" cy="2103120"/>
          </a:xfrm>
          <a:prstGeom xmlns:a="http://schemas.openxmlformats.org/drawingml/2006/main" prst="ellipse">
            <a:avLst/>
          </a:prstGeom>
          <a:solidFill xmlns:a="http://schemas.openxmlformats.org/drawingml/2006/main">
            <a:srgbClr val="FFFFFF"/>
          </a:solidFill>
          <a:ln xmlns:a="http://schemas.openxmlformats.org/drawingml/2006/main" w="38100">
            <a:solidFill>
              <a:srgbClr val="3B9C5A"/>
            </a:solidFill>
            <a:prstDash val="solid"/>
          </a:ln>
        </p:spPr>
      </p:sp>
      <p:sp>
        <p:nvSpPr>
          <p:cNvPr id="13" name="Text 10">
            <a:extLst xmlns:a="http://schemas.openxmlformats.org/drawingml/2006/main">
              <a:ext uri="{FF2B5EF4-FFF2-40B4-BE49-F238E27FC236}">
                <a16:creationId xmlns:a16="http://schemas.microsoft.com/office/drawing/2014/main" id="{614FCC38-6F87-4570-9F26-FD02152448A3}"/>
              </a:ext>
            </a:extLst>
          </p:cNvPr>
          <p:cNvSpPr>
            <a:spLocks xmlns:a="http://schemas.openxmlformats.org/drawingml/2006/main" noGrp="1"/>
          </p:cNvSpPr>
          <p:nvPr/>
        </p:nvSpPr>
        <p:spPr>
          <a:xfrm xmlns:a="http://schemas.openxmlformats.org/drawingml/2006/main">
            <a:off x="6400800" y="233172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600" b="1">
                <a:solidFill>
                  <a:srgbClr val="1D2B26"/>
                </a:solidFill>
                <a:latin typeface="Bookman Old Style"/>
                <a:ea typeface="Bookman Old Style"/>
                <a:cs typeface="Bookman Old Style"/>
              </a:rPr>
              <a:t>Look</a:t>
            </a:r>
            <a:endParaRPr sz="2600"/>
          </a:p>
        </p:txBody>
      </p:sp>
      <p:sp>
        <p:nvSpPr>
          <p:cNvPr id="14" name="Text 11">
            <a:extLst xmlns:a="http://schemas.openxmlformats.org/drawingml/2006/main">
              <a:ext uri="{FF2B5EF4-FFF2-40B4-BE49-F238E27FC236}">
                <a16:creationId xmlns:a16="http://schemas.microsoft.com/office/drawing/2014/main" id="{ACA318DB-0202-402B-B4B5-6291F2A5F035}"/>
              </a:ext>
            </a:extLst>
          </p:cNvPr>
          <p:cNvSpPr>
            <a:spLocks xmlns:a="http://schemas.openxmlformats.org/drawingml/2006/main" noGrp="1"/>
          </p:cNvSpPr>
          <p:nvPr/>
        </p:nvSpPr>
        <p:spPr>
          <a:xfrm xmlns:a="http://schemas.openxmlformats.org/drawingml/2006/main">
            <a:off x="6400800" y="2926080"/>
            <a:ext cx="2103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a:solidFill>
                  <a:srgbClr val="5C6B66"/>
                </a:solidFill>
                <a:latin typeface="Calibri"/>
                <a:ea typeface="Calibri"/>
                <a:cs typeface="Calibri"/>
              </a:rPr>
              <a:t>read the result</a:t>
            </a:r>
            <a:endParaRPr sz="1600"/>
          </a:p>
        </p:txBody>
      </p:sp>
      <p:sp>
        <p:nvSpPr>
          <p:cNvPr id="15" name="Shape 12">
            <a:extLst xmlns:a="http://schemas.openxmlformats.org/drawingml/2006/main">
              <a:ext uri="{FF2B5EF4-FFF2-40B4-BE49-F238E27FC236}">
                <a16:creationId xmlns:a16="http://schemas.microsoft.com/office/drawing/2014/main" id="{127F9E71-1CC7-4ED7-A42D-26447A10E8B4}"/>
              </a:ext>
            </a:extLst>
          </p:cNvPr>
          <p:cNvSpPr>
            <a:spLocks xmlns:a="http://schemas.openxmlformats.org/drawingml/2006/main" noGrp="1"/>
          </p:cNvSpPr>
          <p:nvPr/>
        </p:nvSpPr>
        <p:spPr>
          <a:xfrm xmlns:a="http://schemas.openxmlformats.org/drawingml/2006/main">
            <a:off x="8549640" y="2788920"/>
            <a:ext cx="548640"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16" name="Shape 13">
            <a:extLst xmlns:a="http://schemas.openxmlformats.org/drawingml/2006/main">
              <a:ext uri="{FF2B5EF4-FFF2-40B4-BE49-F238E27FC236}">
                <a16:creationId xmlns:a16="http://schemas.microsoft.com/office/drawing/2014/main" id="{4B78F980-E495-483E-93F7-6DD9A698BBBE}"/>
              </a:ext>
            </a:extLst>
          </p:cNvPr>
          <p:cNvSpPr>
            <a:spLocks xmlns:a="http://schemas.openxmlformats.org/drawingml/2006/main" noGrp="1"/>
          </p:cNvSpPr>
          <p:nvPr/>
        </p:nvSpPr>
        <p:spPr>
          <a:xfrm xmlns:a="http://schemas.openxmlformats.org/drawingml/2006/main">
            <a:off x="9189720" y="1737360"/>
            <a:ext cx="2103120" cy="2103120"/>
          </a:xfrm>
          <a:prstGeom xmlns:a="http://schemas.openxmlformats.org/drawingml/2006/main" prst="ellipse">
            <a:avLst/>
          </a:prstGeom>
          <a:solidFill xmlns:a="http://schemas.openxmlformats.org/drawingml/2006/main">
            <a:srgbClr val="F2B33D"/>
          </a:solidFill>
          <a:ln xmlns:a="http://schemas.openxmlformats.org/drawingml/2006/main" w="38100">
            <a:solidFill>
              <a:srgbClr val="3B9C5A"/>
            </a:solidFill>
            <a:prstDash val="solid"/>
          </a:ln>
        </p:spPr>
      </p:sp>
      <p:sp>
        <p:nvSpPr>
          <p:cNvPr id="17" name="Text 14">
            <a:extLst xmlns:a="http://schemas.openxmlformats.org/drawingml/2006/main">
              <a:ext uri="{FF2B5EF4-FFF2-40B4-BE49-F238E27FC236}">
                <a16:creationId xmlns:a16="http://schemas.microsoft.com/office/drawing/2014/main" id="{CAE8E3EA-904C-4D68-AC75-DF4FDD07AD27}"/>
              </a:ext>
            </a:extLst>
          </p:cNvPr>
          <p:cNvSpPr>
            <a:spLocks xmlns:a="http://schemas.openxmlformats.org/drawingml/2006/main" noGrp="1"/>
          </p:cNvSpPr>
          <p:nvPr/>
        </p:nvSpPr>
        <p:spPr>
          <a:xfrm xmlns:a="http://schemas.openxmlformats.org/drawingml/2006/main">
            <a:off x="9189720" y="233172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600" b="1">
                <a:solidFill>
                  <a:srgbClr val="1D2B26"/>
                </a:solidFill>
                <a:latin typeface="Bookman Old Style"/>
                <a:ea typeface="Bookman Old Style"/>
                <a:cs typeface="Bookman Old Style"/>
              </a:rPr>
              <a:t>Repeat</a:t>
            </a:r>
            <a:endParaRPr sz="2600"/>
          </a:p>
        </p:txBody>
      </p:sp>
      <p:sp>
        <p:nvSpPr>
          <p:cNvPr id="18" name="Text 15">
            <a:extLst xmlns:a="http://schemas.openxmlformats.org/drawingml/2006/main">
              <a:ext uri="{FF2B5EF4-FFF2-40B4-BE49-F238E27FC236}">
                <a16:creationId xmlns:a16="http://schemas.microsoft.com/office/drawing/2014/main" id="{CE6964D8-8E0B-489C-9E17-C532CF8C4FEB}"/>
              </a:ext>
            </a:extLst>
          </p:cNvPr>
          <p:cNvSpPr>
            <a:spLocks xmlns:a="http://schemas.openxmlformats.org/drawingml/2006/main" noGrp="1"/>
          </p:cNvSpPr>
          <p:nvPr/>
        </p:nvSpPr>
        <p:spPr>
          <a:xfrm xmlns:a="http://schemas.openxmlformats.org/drawingml/2006/main">
            <a:off x="9189720" y="2926080"/>
            <a:ext cx="2103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a:solidFill>
                  <a:srgbClr val="5C6B66"/>
                </a:solidFill>
                <a:latin typeface="Calibri"/>
                <a:ea typeface="Calibri"/>
                <a:cs typeface="Calibri"/>
              </a:rPr>
              <a:t>or answer</a:t>
            </a:r>
            <a:endParaRPr sz="1600"/>
          </a:p>
        </p:txBody>
      </p:sp>
      <p:sp>
        <p:nvSpPr>
          <p:cNvPr id="19" name="Text 16">
            <a:extLst xmlns:a="http://schemas.openxmlformats.org/drawingml/2006/main">
              <a:ext uri="{FF2B5EF4-FFF2-40B4-BE49-F238E27FC236}">
                <a16:creationId xmlns:a16="http://schemas.microsoft.com/office/drawing/2014/main" id="{714CAEA6-2943-479A-988B-60DC795E3D2D}"/>
              </a:ext>
            </a:extLst>
          </p:cNvPr>
          <p:cNvSpPr>
            <a:spLocks xmlns:a="http://schemas.openxmlformats.org/drawingml/2006/main" noGrp="1"/>
          </p:cNvSpPr>
          <p:nvPr/>
        </p:nvSpPr>
        <p:spPr>
          <a:xfrm xmlns:a="http://schemas.openxmlformats.org/drawingml/2006/main">
            <a:off x="548640" y="4297680"/>
            <a:ext cx="10972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800" b="1">
                <a:solidFill>
                  <a:srgbClr val="1D2B26"/>
                </a:solidFill>
                <a:latin typeface="Bookman Old Style"/>
                <a:ea typeface="Bookman Old Style"/>
                <a:cs typeface="Bookman Old Style"/>
              </a:rPr>
              <a:t>Exactly how you find your lost charger.</a:t>
            </a:r>
            <a:endParaRPr sz="2800"/>
          </a:p>
        </p:txBody>
      </p:sp>
      <p:sp>
        <p:nvSpPr>
          <p:cNvPr id="20" name="Text 17">
            <a:extLst xmlns:a="http://schemas.openxmlformats.org/drawingml/2006/main">
              <a:ext uri="{FF2B5EF4-FFF2-40B4-BE49-F238E27FC236}">
                <a16:creationId xmlns:a16="http://schemas.microsoft.com/office/drawing/2014/main" id="{ABAFC9D3-2182-4A7D-82FB-967EDF50F40A}"/>
              </a:ext>
            </a:extLst>
          </p:cNvPr>
          <p:cNvSpPr>
            <a:spLocks xmlns:a="http://schemas.openxmlformats.org/drawingml/2006/main" noGrp="1"/>
          </p:cNvSpPr>
          <p:nvPr/>
        </p:nvSpPr>
        <p:spPr>
          <a:xfrm xmlns:a="http://schemas.openxmlformats.org/drawingml/2006/main">
            <a:off x="548640" y="498348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a:solidFill>
                  <a:srgbClr val="5C6B66"/>
                </a:solidFill>
                <a:latin typeface="Calibri"/>
                <a:ea typeface="Calibri"/>
                <a:cs typeface="Calibri"/>
              </a:rPr>
              <a:t>We see what it asks for and what comes back. Not its private thoughts.</a:t>
            </a:r>
            <a:endParaRPr sz="1800"/>
          </a:p>
        </p:txBody>
      </p:sp>
      <p:sp>
        <p:nvSpPr>
          <p:cNvPr id="25" name="Slide Number Placeholder 0">
            <a:extLst xmlns:a="http://schemas.openxmlformats.org/drawingml/2006/main">
              <a:ext uri="{FF2B5EF4-FFF2-40B4-BE49-F238E27FC236}">
                <a16:creationId xmlns:a16="http://schemas.microsoft.com/office/drawing/2014/main" id="{B297E129-FB75-4595-B0BE-0BE4445E1B01}"/>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EA83FA91-883A-0168-8075-96CEB9DCA3C2}" type="slidenum">
              <a:rPr b="0"/>
              <a:t>15</a:t>
            </a:fld>
            <a:endParaRPr/>
          </a:p>
        </p:txBody>
      </p:sp>
    </p:spTree>
    <p:extLst>
      <p:ext uri="{BB962C8B-B14F-4D97-AF65-F5344CB8AC3E}">
        <p14:creationId xmlns:p14="http://schemas.microsoft.com/office/powerpoint/2010/main" val="105708953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26BD37A-AB5D-4D4E-93FC-FFD354EC13DF}"/>
              </a:ext>
            </a:extLst>
          </p:cNvPr>
          <p:cNvSpPr>
            <a:spLocks xmlns:a="http://schemas.openxmlformats.org/drawingml/2006/main" noGrp="1"/>
          </p:cNvSpPr>
          <p:nvPr/>
        </p:nvSpPr>
        <p:spPr>
          <a:xfrm xmlns:a="http://schemas.openxmlformats.org/drawingml/2006/main">
            <a:off x="548640" y="411480"/>
            <a:ext cx="11064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D2B26"/>
                </a:solidFill>
                <a:latin typeface="Bookman Old Style"/>
                <a:ea typeface="Bookman Old Style"/>
                <a:cs typeface="Bookman Old Style"/>
              </a:rPr>
              <a:t>Game: predict the next tool</a:t>
            </a:r>
            <a:endParaRPr sz="3200"/>
          </a:p>
        </p:txBody>
      </p:sp>
      <p:sp>
        <p:nvSpPr>
          <p:cNvPr id="4" name="Shape 1">
            <a:extLst xmlns:a="http://schemas.openxmlformats.org/drawingml/2006/main">
              <a:ext uri="{FF2B5EF4-FFF2-40B4-BE49-F238E27FC236}">
                <a16:creationId xmlns:a16="http://schemas.microsoft.com/office/drawing/2014/main" id="{38A8A912-FD4A-41AA-AFE3-A256B3D4BD68}"/>
              </a:ext>
            </a:extLst>
          </p:cNvPr>
          <p:cNvSpPr>
            <a:spLocks xmlns:a="http://schemas.openxmlformats.org/drawingml/2006/main" noGrp="1"/>
          </p:cNvSpPr>
          <p:nvPr/>
        </p:nvSpPr>
        <p:spPr>
          <a:xfrm xmlns:a="http://schemas.openxmlformats.org/drawingml/2006/main">
            <a:off x="548640" y="1645920"/>
            <a:ext cx="11064240" cy="3840480"/>
          </a:xfrm>
          <a:prstGeom xmlns:a="http://schemas.openxmlformats.org/drawingml/2006/main" prst="roundRect">
            <a:avLst>
              <a:gd name="adj" fmla="val 2381"/>
            </a:avLst>
          </a:prstGeom>
          <a:solidFill xmlns:a="http://schemas.openxmlformats.org/drawingml/2006/main">
            <a:srgbClr val="16302A"/>
          </a:solidFill>
          <a:ln xmlns:a="http://schemas.openxmlformats.org/drawingml/2006/main" w="12700">
            <a:solidFill>
              <a:srgbClr val="16302A"/>
            </a:solidFill>
            <a:prstDash val="solid"/>
          </a:ln>
        </p:spPr>
      </p:sp>
      <p:sp>
        <p:nvSpPr>
          <p:cNvPr id="5" name="Text 2">
            <a:extLst xmlns:a="http://schemas.openxmlformats.org/drawingml/2006/main">
              <a:ext uri="{FF2B5EF4-FFF2-40B4-BE49-F238E27FC236}">
                <a16:creationId xmlns:a16="http://schemas.microsoft.com/office/drawing/2014/main" id="{374CC01E-B76F-4BB2-9AF8-027A0B7697DE}"/>
              </a:ext>
            </a:extLst>
          </p:cNvPr>
          <p:cNvSpPr>
            <a:spLocks xmlns:a="http://schemas.openxmlformats.org/drawingml/2006/main" noGrp="1"/>
          </p:cNvSpPr>
          <p:nvPr/>
        </p:nvSpPr>
        <p:spPr>
          <a:xfrm xmlns:a="http://schemas.openxmlformats.org/drawingml/2006/main">
            <a:off x="822960" y="1874520"/>
            <a:ext cx="10515600" cy="3383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400"/>
              </a:spcAft>
              <a:buNone/>
            </a:pPr>
            <a:r>
              <a:rPr sz="1800">
                <a:solidFill>
                  <a:srgbClr val="F4F2EC"/>
                </a:solidFill>
                <a:latin typeface="Consolas"/>
                <a:ea typeface="Consolas"/>
                <a:cs typeface="Consolas"/>
              </a:rPr>
              <a:t>[YOU]          Veg lunch under Rs 80, and is the canteen open?</a:t>
            </a:r>
            <a:endParaRPr sz="1800"/>
          </a:p>
          <a:p xmlns:a="http://schemas.openxmlformats.org/drawingml/2006/main">
            <a:pPr marL="0" indent="0">
              <a:spcAft>
                <a:spcPts val="400"/>
              </a:spcAft>
              <a:buNone/>
            </a:pPr>
            <a:r>
              <a:rPr sz="1800" b="1">
                <a:solidFill>
                  <a:srgbClr val="F2B33D"/>
                </a:solidFill>
                <a:latin typeface="Consolas"/>
                <a:ea typeface="Consolas"/>
                <a:cs typeface="Consolas"/>
              </a:rPr>
              <a:t>[MODEL ASKS]   find_food(max_price=80, vegetarian=true)</a:t>
            </a:r>
            <a:endParaRPr sz="1800"/>
          </a:p>
          <a:p xmlns:a="http://schemas.openxmlformats.org/drawingml/2006/main">
            <a:pPr marL="0" indent="0">
              <a:spcAft>
                <a:spcPts val="400"/>
              </a:spcAft>
              <a:buNone/>
            </a:pPr>
            <a:r>
              <a:rPr sz="1800">
                <a:solidFill>
                  <a:srgbClr val="8FD6A3"/>
                </a:solidFill>
                <a:latin typeface="Consolas"/>
                <a:ea typeface="Consolas"/>
                <a:cs typeface="Consolas"/>
              </a:rPr>
              <a:t>[TOOL RESULT]  matches: [ Veg sandwich, Rs 60 ]</a:t>
            </a:r>
            <a:endParaRPr sz="1800"/>
          </a:p>
          <a:p xmlns:a="http://schemas.openxmlformats.org/drawingml/2006/main">
            <a:pPr marL="0" indent="0">
              <a:spcAft>
                <a:spcPts val="400"/>
              </a:spcAft>
              <a:buNone/>
            </a:pPr>
            <a:r>
              <a:rPr sz="1800" b="1">
                <a:solidFill>
                  <a:srgbClr val="F2B33D"/>
                </a:solidFill>
                <a:latin typeface="Consolas"/>
                <a:ea typeface="Consolas"/>
                <a:cs typeface="Consolas"/>
              </a:rPr>
              <a:t>[MODEL ASKS]   get_canteen_hours()</a:t>
            </a:r>
            <a:endParaRPr sz="1800"/>
          </a:p>
          <a:p xmlns:a="http://schemas.openxmlformats.org/drawingml/2006/main">
            <a:pPr marL="0" indent="0">
              <a:spcAft>
                <a:spcPts val="400"/>
              </a:spcAft>
              <a:buNone/>
            </a:pPr>
            <a:r>
              <a:rPr sz="1800">
                <a:solidFill>
                  <a:srgbClr val="8FD6A3"/>
                </a:solidFill>
                <a:latin typeface="Consolas"/>
                <a:ea typeface="Consolas"/>
                <a:cs typeface="Consolas"/>
              </a:rPr>
              <a:t>[TOOL RESULT]  open_now: true, closes 16:00</a:t>
            </a:r>
            <a:endParaRPr sz="1800"/>
          </a:p>
          <a:p xmlns:a="http://schemas.openxmlformats.org/drawingml/2006/main">
            <a:pPr marL="0" indent="0">
              <a:spcAft>
                <a:spcPts val="400"/>
              </a:spcAft>
              <a:buNone/>
            </a:pPr>
            <a:r>
              <a:rPr sz="1800" b="1">
                <a:solidFill>
                  <a:srgbClr val="F4F2EC"/>
                </a:solidFill>
                <a:latin typeface="Consolas"/>
                <a:ea typeface="Consolas"/>
                <a:cs typeface="Consolas"/>
              </a:rPr>
              <a:t>[ANSWER]       Veg sandwich (Rs 60). Open now, closes at 4 pm.</a:t>
            </a:r>
            <a:endParaRPr sz="1800"/>
          </a:p>
          <a:p xmlns:a="http://schemas.openxmlformats.org/drawingml/2006/main">
            <a:pPr marL="0" indent="0">
              <a:spcAft>
                <a:spcPts val="400"/>
              </a:spcAft>
              <a:buNone/>
            </a:pPr>
            <a:endParaRPr sz="1800"/>
          </a:p>
          <a:p xmlns:a="http://schemas.openxmlformats.org/drawingml/2006/main">
            <a:pPr marL="0" indent="0">
              <a:spcAft>
                <a:spcPts val="400"/>
              </a:spcAft>
              <a:buNone/>
            </a:pPr>
            <a:r>
              <a:rPr sz="1800">
                <a:solidFill>
                  <a:srgbClr val="9FB3AC"/>
                </a:solidFill>
                <a:latin typeface="Consolas"/>
                <a:ea typeface="Consolas"/>
                <a:cs typeface="Consolas"/>
              </a:rPr>
              <a:t>-- 3 model calls, 2 tool calls</a:t>
            </a:r>
            <a:endParaRPr sz="1800"/>
          </a:p>
        </p:txBody>
      </p:sp>
      <p:sp>
        <p:nvSpPr>
          <p:cNvPr id="6" name="Text 3">
            <a:extLst xmlns:a="http://schemas.openxmlformats.org/drawingml/2006/main">
              <a:ext uri="{FF2B5EF4-FFF2-40B4-BE49-F238E27FC236}">
                <a16:creationId xmlns:a16="http://schemas.microsoft.com/office/drawing/2014/main" id="{539CB7E8-703C-4B6A-845A-66F128532849}"/>
              </a:ext>
            </a:extLst>
          </p:cNvPr>
          <p:cNvSpPr>
            <a:spLocks xmlns:a="http://schemas.openxmlformats.org/drawingml/2006/main" noGrp="1"/>
          </p:cNvSpPr>
          <p:nvPr/>
        </p:nvSpPr>
        <p:spPr>
          <a:xfrm xmlns:a="http://schemas.openxmlformats.org/drawingml/2006/main">
            <a:off x="548640" y="571500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E4572E"/>
                </a:solidFill>
                <a:latin typeface="Calibri"/>
                <a:ea typeface="Calibri"/>
                <a:cs typeface="Calibri"/>
              </a:rPr>
              <a:t>Guess right, win a chocolate. (Real chocolate. Not AI-generated.)</a:t>
            </a:r>
            <a:endParaRPr sz="1800"/>
          </a:p>
        </p:txBody>
      </p:sp>
      <p:sp>
        <p:nvSpPr>
          <p:cNvPr id="25" name="Slide Number Placeholder 0">
            <a:extLst xmlns:a="http://schemas.openxmlformats.org/drawingml/2006/main">
              <a:ext uri="{FF2B5EF4-FFF2-40B4-BE49-F238E27FC236}">
                <a16:creationId xmlns:a16="http://schemas.microsoft.com/office/drawing/2014/main" id="{0D4F3D76-4FF6-4045-8466-A77C80D9E370}"/>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DC9C7607-4BA3-B4DC-A00F-2E67A9FCFF7E}" type="slidenum">
              <a:rPr b="0"/>
              <a:t>16</a:t>
            </a:fld>
            <a:endParaRPr/>
          </a:p>
        </p:txBody>
      </p:sp>
    </p:spTree>
    <p:extLst>
      <p:ext uri="{BB962C8B-B14F-4D97-AF65-F5344CB8AC3E}">
        <p14:creationId xmlns:p14="http://schemas.microsoft.com/office/powerpoint/2010/main" val="1480679750"/>
      </p:ext>
    </p:extLst>
  </p:cSld>
</p:sld>
</file>

<file path=ppt/slides/slide1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lesson-title">
            <a:extLst xmlns:a="http://schemas.openxmlformats.org/drawingml/2006/main">
              <a:ext uri="{FF2B5EF4-FFF2-40B4-BE49-F238E27FC236}">
                <a16:creationId xmlns:a16="http://schemas.microsoft.com/office/drawing/2014/main" id="{310D5820-A21F-4AAF-96E2-CACCE988AE44}"/>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Pair task: make one small code change</a:t>
            </a:r>
          </a:p>
        </p:txBody>
      </p:sp>
      <p:sp>
        <p:nvSpPr>
          <p:cNvPr id="2" name="row-label-0">
            <a:extLst xmlns:a="http://schemas.openxmlformats.org/drawingml/2006/main">
              <a:ext uri="{FF2B5EF4-FFF2-40B4-BE49-F238E27FC236}">
                <a16:creationId xmlns:a16="http://schemas.microsoft.com/office/drawing/2014/main" id="{0E1DA9F4-D881-42CC-97EB-D334739FFFBE}"/>
              </a:ext>
            </a:extLst>
          </p:cNvPr>
          <p:cNvSpPr>
            <a:spLocks xmlns:a="http://schemas.openxmlformats.org/drawingml/2006/main" noGrp="1"/>
          </p:cNvSpPr>
          <p:nvPr/>
        </p:nvSpPr>
        <p:spPr>
          <a:xfrm xmlns:a="http://schemas.openxmlformats.org/drawingml/2006/main">
            <a:off x="666750" y="18097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Copy</a:t>
            </a:r>
          </a:p>
        </p:txBody>
      </p:sp>
      <p:sp>
        <p:nvSpPr>
          <p:cNvPr id="3" name="row-body-0">
            <a:extLst xmlns:a="http://schemas.openxmlformats.org/drawingml/2006/main">
              <a:ext uri="{FF2B5EF4-FFF2-40B4-BE49-F238E27FC236}">
                <a16:creationId xmlns:a16="http://schemas.microsoft.com/office/drawing/2014/main" id="{BF6271E9-63D9-4EDB-9A06-7F470BE6B9C9}"/>
              </a:ext>
            </a:extLst>
          </p:cNvPr>
          <p:cNvSpPr>
            <a:spLocks xmlns:a="http://schemas.openxmlformats.org/drawingml/2006/main" noGrp="1"/>
          </p:cNvSpPr>
          <p:nvPr/>
        </p:nvSpPr>
        <p:spPr>
          <a:xfrm xmlns:a="http://schemas.openxmlformats.org/drawingml/2006/main">
            <a:off x="3143250" y="18097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Copy starter/agent.py as practice_agent.py beside it.</a:t>
            </a:r>
          </a:p>
        </p:txBody>
      </p:sp>
      <p:sp>
        <p:nvSpPr>
          <p:cNvPr id="4" name="row-label-1">
            <a:extLst xmlns:a="http://schemas.openxmlformats.org/drawingml/2006/main">
              <a:ext uri="{FF2B5EF4-FFF2-40B4-BE49-F238E27FC236}">
                <a16:creationId xmlns:a16="http://schemas.microsoft.com/office/drawing/2014/main" id="{6409DA3A-43AE-4793-9543-F70026EB8016}"/>
              </a:ext>
            </a:extLst>
          </p:cNvPr>
          <p:cNvSpPr>
            <a:spLocks xmlns:a="http://schemas.openxmlformats.org/drawingml/2006/main" noGrp="1"/>
          </p:cNvSpPr>
          <p:nvPr/>
        </p:nvSpPr>
        <p:spPr>
          <a:xfrm xmlns:a="http://schemas.openxmlformats.org/drawingml/2006/main">
            <a:off x="666750" y="30670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Change</a:t>
            </a:r>
          </a:p>
        </p:txBody>
      </p:sp>
      <p:sp>
        <p:nvSpPr>
          <p:cNvPr id="5" name="row-body-1">
            <a:extLst xmlns:a="http://schemas.openxmlformats.org/drawingml/2006/main">
              <a:ext uri="{FF2B5EF4-FFF2-40B4-BE49-F238E27FC236}">
                <a16:creationId xmlns:a16="http://schemas.microsoft.com/office/drawing/2014/main" id="{AC7FA336-3541-4394-81E1-A88CCA0C0F91}"/>
              </a:ext>
            </a:extLst>
          </p:cNvPr>
          <p:cNvSpPr>
            <a:spLocks xmlns:a="http://schemas.openxmlformats.org/drawingml/2006/main" noGrp="1"/>
          </p:cNvSpPr>
          <p:nvPr/>
        </p:nvSpPr>
        <p:spPr>
          <a:xfrm xmlns:a="http://schemas.openxmlformats.org/drawingml/2006/main">
            <a:off x="3143250" y="30670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Only QUESTION: Rs 80 becomes Rs 30.</a:t>
            </a:r>
          </a:p>
        </p:txBody>
      </p:sp>
      <p:sp>
        <p:nvSpPr>
          <p:cNvPr id="6" name="row-label-2">
            <a:extLst xmlns:a="http://schemas.openxmlformats.org/drawingml/2006/main">
              <a:ext uri="{FF2B5EF4-FFF2-40B4-BE49-F238E27FC236}">
                <a16:creationId xmlns:a16="http://schemas.microsoft.com/office/drawing/2014/main" id="{7261AFB0-20B6-4803-82F4-B4CA7E8BD876}"/>
              </a:ext>
            </a:extLst>
          </p:cNvPr>
          <p:cNvSpPr>
            <a:spLocks xmlns:a="http://schemas.openxmlformats.org/drawingml/2006/main" noGrp="1"/>
          </p:cNvSpPr>
          <p:nvPr/>
        </p:nvSpPr>
        <p:spPr>
          <a:xfrm xmlns:a="http://schemas.openxmlformats.org/drawingml/2006/main">
            <a:off x="666750" y="43243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Check</a:t>
            </a:r>
          </a:p>
        </p:txBody>
      </p:sp>
      <p:sp>
        <p:nvSpPr>
          <p:cNvPr id="7" name="row-body-2">
            <a:extLst xmlns:a="http://schemas.openxmlformats.org/drawingml/2006/main">
              <a:ext uri="{FF2B5EF4-FFF2-40B4-BE49-F238E27FC236}">
                <a16:creationId xmlns:a16="http://schemas.microsoft.com/office/drawing/2014/main" id="{435CAA5D-A2C6-447E-9AD3-CE7B3D79920B}"/>
              </a:ext>
            </a:extLst>
          </p:cNvPr>
          <p:cNvSpPr>
            <a:spLocks xmlns:a="http://schemas.openxmlformats.org/drawingml/2006/main" noGrp="1"/>
          </p:cNvSpPr>
          <p:nvPr/>
        </p:nvSpPr>
        <p:spPr>
          <a:xfrm xmlns:a="http://schemas.openxmlformats.org/drawingml/2006/main">
            <a:off x="3143250" y="43243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Run the copy with --offline. Explain the result.</a:t>
            </a:r>
          </a:p>
        </p:txBody>
      </p:sp>
      <p:sp>
        <p:nvSpPr>
          <p:cNvPr id="8" name="takeaway">
            <a:extLst xmlns:a="http://schemas.openxmlformats.org/drawingml/2006/main">
              <a:ext uri="{FF2B5EF4-FFF2-40B4-BE49-F238E27FC236}">
                <a16:creationId xmlns:a16="http://schemas.microsoft.com/office/drawing/2014/main" id="{6965A122-ACE2-4643-850D-CB4C3AFF8DC2}"/>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Read the diff before running an AI-generated edit.</a:t>
            </a:r>
          </a:p>
        </p:txBody>
      </p:sp>
      <p:sp>
        <p:nvSpPr>
          <p:cNvPr id="9" name="footer">
            <a:extLst xmlns:a="http://schemas.openxmlformats.org/drawingml/2006/main">
              <a:ext uri="{FF2B5EF4-FFF2-40B4-BE49-F238E27FC236}">
                <a16:creationId xmlns:a16="http://schemas.microsoft.com/office/drawing/2014/main" id="{1E814BBB-567D-41DC-B47A-0CE3CA1615C3}"/>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10" name="slide-number">
            <a:extLst xmlns:a="http://schemas.openxmlformats.org/drawingml/2006/main">
              <a:ext uri="{FF2B5EF4-FFF2-40B4-BE49-F238E27FC236}">
                <a16:creationId xmlns:a16="http://schemas.microsoft.com/office/drawing/2014/main" id="{A5B7FD0E-7E44-465B-91FB-3440EFA2571C}"/>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17</a:t>
            </a:r>
          </a:p>
        </p:txBody>
      </p:sp>
    </p:spTree>
    <p:extLst>
      <p:ext uri="{BB962C8B-B14F-4D97-AF65-F5344CB8AC3E}">
        <p14:creationId xmlns:p14="http://schemas.microsoft.com/office/powerpoint/2010/main" val="56862635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747FEB5-03FD-4C11-9573-12D1BD89AF66}"/>
              </a:ext>
            </a:extLst>
          </p:cNvPr>
          <p:cNvSpPr>
            <a:spLocks xmlns:a="http://schemas.openxmlformats.org/drawingml/2006/main" noGrp="1"/>
          </p:cNvSpPr>
          <p:nvPr/>
        </p:nvSpPr>
        <p:spPr>
          <a:xfrm xmlns:a="http://schemas.openxmlformats.org/drawingml/2006/main">
            <a:off x="822960" y="1828800"/>
            <a:ext cx="1051560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1D2B26"/>
                </a:solidFill>
                <a:latin typeface="Bookman Old Style"/>
                <a:ea typeface="Bookman Old Style"/>
                <a:cs typeface="Bookman Old Style"/>
              </a:rPr>
              <a:t>5-minute break</a:t>
            </a:r>
            <a:endParaRPr sz="4400"/>
          </a:p>
        </p:txBody>
      </p:sp>
      <p:sp>
        <p:nvSpPr>
          <p:cNvPr id="3" name="Text 1">
            <a:extLst xmlns:a="http://schemas.openxmlformats.org/drawingml/2006/main">
              <a:ext uri="{FF2B5EF4-FFF2-40B4-BE49-F238E27FC236}">
                <a16:creationId xmlns:a16="http://schemas.microsoft.com/office/drawing/2014/main" id="{3B2C6D77-F10B-43CA-8CEC-DDDAAD64913E}"/>
              </a:ext>
            </a:extLst>
          </p:cNvPr>
          <p:cNvSpPr>
            <a:spLocks xmlns:a="http://schemas.openxmlformats.org/drawingml/2006/main" noGrp="1"/>
          </p:cNvSpPr>
          <p:nvPr/>
        </p:nvSpPr>
        <p:spPr>
          <a:xfrm xmlns:a="http://schemas.openxmlformats.org/drawingml/2006/main">
            <a:off x="822960" y="4389120"/>
            <a:ext cx="105156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a:solidFill>
                  <a:srgbClr val="1D2B26"/>
                </a:solidFill>
                <a:latin typeface="Calibri"/>
                <a:ea typeface="Calibri"/>
                <a:cs typeface="Calibri"/>
              </a:rPr>
              <a:t>Back at 12:05. Keep your practice file open.</a:t>
            </a:r>
            <a:endParaRPr sz="2400"/>
          </a:p>
        </p:txBody>
      </p:sp>
    </p:spTree>
    <p:extLst>
      <p:ext uri="{BB962C8B-B14F-4D97-AF65-F5344CB8AC3E}">
        <p14:creationId xmlns:p14="http://schemas.microsoft.com/office/powerpoint/2010/main" val="1915722540"/>
      </p:ext>
    </p:extLst>
  </p:cSld>
</p:sld>
</file>

<file path=ppt/slides/slide1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lesson-title">
            <a:extLst xmlns:a="http://schemas.openxmlformats.org/drawingml/2006/main">
              <a:ext uri="{FF2B5EF4-FFF2-40B4-BE49-F238E27FC236}">
                <a16:creationId xmlns:a16="http://schemas.microsoft.com/office/drawing/2014/main" id="{69BA9A89-D97D-46DF-BAD2-2F8FB28E9EF9}"/>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buNone/>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Review the path to the user</a:t>
            </a:r>
          </a:p>
        </p:txBody>
      </p:sp>
      <p:sp>
        <p:nvSpPr>
          <p:cNvPr id="2" name="row-label-0">
            <a:extLst xmlns:a="http://schemas.openxmlformats.org/drawingml/2006/main">
              <a:ext uri="{FF2B5EF4-FFF2-40B4-BE49-F238E27FC236}">
                <a16:creationId xmlns:a16="http://schemas.microsoft.com/office/drawing/2014/main" id="{642F4F05-52CA-4C29-BD0D-9B1F8D3A3BBD}"/>
              </a:ext>
            </a:extLst>
          </p:cNvPr>
          <p:cNvSpPr>
            <a:spLocks xmlns:a="http://schemas.openxmlformats.org/drawingml/2006/main" noGrp="1"/>
          </p:cNvSpPr>
          <p:nvPr/>
        </p:nvSpPr>
        <p:spPr>
          <a:xfrm xmlns:a="http://schemas.openxmlformats.org/drawingml/2006/main">
            <a:off x="666750" y="171450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buNone/>
              <a:defRPr sz="2175" b="1">
                <a:solidFill>
                  <a:srgbClr val="3B9C5A"/>
                </a:solidFill>
                <a:latin typeface="Calibri"/>
                <a:ea typeface="Calibri"/>
                <a:cs typeface="Calibri"/>
              </a:defRPr>
            </a:pPr>
            <a:r>
              <a:rPr sz="2175" b="1">
                <a:solidFill>
                  <a:srgbClr val="3B9C5A"/>
                </a:solidFill>
                <a:latin typeface="Calibri"/>
                <a:ea typeface="Calibri"/>
                <a:cs typeface="Calibri"/>
              </a:rPr>
              <a:t>Requirement</a:t>
            </a:r>
          </a:p>
        </p:txBody>
      </p:sp>
      <p:sp>
        <p:nvSpPr>
          <p:cNvPr id="3" name="row-body-0">
            <a:extLst xmlns:a="http://schemas.openxmlformats.org/drawingml/2006/main">
              <a:ext uri="{FF2B5EF4-FFF2-40B4-BE49-F238E27FC236}">
                <a16:creationId xmlns:a16="http://schemas.microsoft.com/office/drawing/2014/main" id="{BA301DFD-6668-4508-BB20-6B482640DAC8}"/>
              </a:ext>
            </a:extLst>
          </p:cNvPr>
          <p:cNvSpPr>
            <a:spLocks xmlns:a="http://schemas.openxmlformats.org/drawingml/2006/main" noGrp="1"/>
          </p:cNvSpPr>
          <p:nvPr/>
        </p:nvSpPr>
        <p:spPr>
          <a:xfrm xmlns:a="http://schemas.openxmlformats.org/drawingml/2006/main">
            <a:off x="3143250" y="1714500"/>
            <a:ext cx="8210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buNone/>
              <a:defRPr sz="2175" b="0">
                <a:solidFill>
                  <a:srgbClr val="1D2B26"/>
                </a:solidFill>
                <a:latin typeface="Calibri"/>
                <a:ea typeface="Calibri"/>
                <a:cs typeface="Calibri"/>
              </a:defRPr>
            </a:pPr>
            <a:r>
              <a:rPr sz="2175" b="0">
                <a:solidFill>
                  <a:srgbClr val="1D2B26"/>
                </a:solidFill>
                <a:latin typeface="Calibri"/>
                <a:ea typeface="Calibri"/>
                <a:cs typeface="Calibri"/>
              </a:rPr>
              <a:t>What must this change do?</a:t>
            </a:r>
          </a:p>
        </p:txBody>
      </p:sp>
      <p:sp>
        <p:nvSpPr>
          <p:cNvPr id="4" name="row-label-1">
            <a:extLst xmlns:a="http://schemas.openxmlformats.org/drawingml/2006/main">
              <a:ext uri="{FF2B5EF4-FFF2-40B4-BE49-F238E27FC236}">
                <a16:creationId xmlns:a16="http://schemas.microsoft.com/office/drawing/2014/main" id="{7561702C-DE2A-4FED-B7D4-5D7B795BDCA1}"/>
              </a:ext>
            </a:extLst>
          </p:cNvPr>
          <p:cNvSpPr>
            <a:spLocks xmlns:a="http://schemas.openxmlformats.org/drawingml/2006/main" noGrp="1"/>
          </p:cNvSpPr>
          <p:nvPr/>
        </p:nvSpPr>
        <p:spPr>
          <a:xfrm xmlns:a="http://schemas.openxmlformats.org/drawingml/2006/main">
            <a:off x="666750" y="27241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buNone/>
              <a:defRPr sz="2175" b="1">
                <a:solidFill>
                  <a:srgbClr val="3B9C5A"/>
                </a:solidFill>
                <a:latin typeface="Calibri"/>
                <a:ea typeface="Calibri"/>
                <a:cs typeface="Calibri"/>
              </a:defRPr>
            </a:pPr>
            <a:r>
              <a:rPr sz="2175" b="1">
                <a:solidFill>
                  <a:srgbClr val="3B9C5A"/>
                </a:solidFill>
                <a:latin typeface="Calibri"/>
                <a:ea typeface="Calibri"/>
                <a:cs typeface="Calibri"/>
              </a:rPr>
              <a:t>Diff</a:t>
            </a:r>
          </a:p>
        </p:txBody>
      </p:sp>
      <p:sp>
        <p:nvSpPr>
          <p:cNvPr id="5" name="row-body-1">
            <a:extLst xmlns:a="http://schemas.openxmlformats.org/drawingml/2006/main">
              <a:ext uri="{FF2B5EF4-FFF2-40B4-BE49-F238E27FC236}">
                <a16:creationId xmlns:a16="http://schemas.microsoft.com/office/drawing/2014/main" id="{D185139E-6683-460F-9B68-2523F33384B9}"/>
              </a:ext>
            </a:extLst>
          </p:cNvPr>
          <p:cNvSpPr>
            <a:spLocks xmlns:a="http://schemas.openxmlformats.org/drawingml/2006/main" noGrp="1"/>
          </p:cNvSpPr>
          <p:nvPr/>
        </p:nvSpPr>
        <p:spPr>
          <a:xfrm xmlns:a="http://schemas.openxmlformats.org/drawingml/2006/main">
            <a:off x="3143250" y="2724150"/>
            <a:ext cx="8210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buNone/>
              <a:defRPr sz="2175" b="0">
                <a:solidFill>
                  <a:srgbClr val="1D2B26"/>
                </a:solidFill>
                <a:latin typeface="Calibri"/>
                <a:ea typeface="Calibri"/>
                <a:cs typeface="Calibri"/>
              </a:defRPr>
            </a:pPr>
            <a:r>
              <a:rPr sz="2175" b="0">
                <a:solidFill>
                  <a:srgbClr val="1D2B26"/>
                </a:solidFill>
                <a:latin typeface="Calibri"/>
                <a:ea typeface="Calibri"/>
                <a:cs typeface="Calibri"/>
              </a:rPr>
              <a:t>What changed, including removed lines?</a:t>
            </a:r>
          </a:p>
        </p:txBody>
      </p:sp>
      <p:sp>
        <p:nvSpPr>
          <p:cNvPr id="6" name="row-label-2">
            <a:extLst xmlns:a="http://schemas.openxmlformats.org/drawingml/2006/main">
              <a:ext uri="{FF2B5EF4-FFF2-40B4-BE49-F238E27FC236}">
                <a16:creationId xmlns:a16="http://schemas.microsoft.com/office/drawing/2014/main" id="{AC82BBD0-8847-451E-8831-1FD6284E27BB}"/>
              </a:ext>
            </a:extLst>
          </p:cNvPr>
          <p:cNvSpPr>
            <a:spLocks xmlns:a="http://schemas.openxmlformats.org/drawingml/2006/main" noGrp="1"/>
          </p:cNvSpPr>
          <p:nvPr/>
        </p:nvSpPr>
        <p:spPr>
          <a:xfrm xmlns:a="http://schemas.openxmlformats.org/drawingml/2006/main">
            <a:off x="666750" y="373380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buNone/>
              <a:defRPr sz="2175" b="1">
                <a:solidFill>
                  <a:srgbClr val="3B9C5A"/>
                </a:solidFill>
                <a:latin typeface="Calibri"/>
                <a:ea typeface="Calibri"/>
                <a:cs typeface="Calibri"/>
              </a:defRPr>
            </a:pPr>
            <a:r>
              <a:rPr sz="2175" b="1">
                <a:solidFill>
                  <a:srgbClr val="3B9C5A"/>
                </a:solidFill>
                <a:latin typeface="Calibri"/>
                <a:ea typeface="Calibri"/>
                <a:cs typeface="Calibri"/>
              </a:rPr>
              <a:t>Flow</a:t>
            </a:r>
          </a:p>
        </p:txBody>
      </p:sp>
      <p:sp>
        <p:nvSpPr>
          <p:cNvPr id="7" name="row-body-2">
            <a:extLst xmlns:a="http://schemas.openxmlformats.org/drawingml/2006/main">
              <a:ext uri="{FF2B5EF4-FFF2-40B4-BE49-F238E27FC236}">
                <a16:creationId xmlns:a16="http://schemas.microsoft.com/office/drawing/2014/main" id="{A5E8AE89-693B-490F-B1F9-85C94F960CF2}"/>
              </a:ext>
            </a:extLst>
          </p:cNvPr>
          <p:cNvSpPr>
            <a:spLocks xmlns:a="http://schemas.openxmlformats.org/drawingml/2006/main" noGrp="1"/>
          </p:cNvSpPr>
          <p:nvPr/>
        </p:nvSpPr>
        <p:spPr>
          <a:xfrm xmlns:a="http://schemas.openxmlformats.org/drawingml/2006/main">
            <a:off x="3143250" y="3733800"/>
            <a:ext cx="8210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buNone/>
              <a:defRPr sz="2175" b="0">
                <a:solidFill>
                  <a:srgbClr val="1D2B26"/>
                </a:solidFill>
                <a:latin typeface="Calibri"/>
                <a:ea typeface="Calibri"/>
                <a:cs typeface="Calibri"/>
              </a:defRPr>
            </a:pPr>
            <a:r>
              <a:rPr sz="2175" b="0">
                <a:solidFill>
                  <a:srgbClr val="1D2B26"/>
                </a:solidFill>
                <a:latin typeface="Calibri"/>
                <a:ea typeface="Calibri"/>
                <a:cs typeface="Calibri"/>
              </a:rPr>
              <a:t>Input → validation → tool → result → answer</a:t>
            </a:r>
          </a:p>
        </p:txBody>
      </p:sp>
      <p:sp>
        <p:nvSpPr>
          <p:cNvPr id="8" name="row-label-3">
            <a:extLst xmlns:a="http://schemas.openxmlformats.org/drawingml/2006/main">
              <a:ext uri="{FF2B5EF4-FFF2-40B4-BE49-F238E27FC236}">
                <a16:creationId xmlns:a16="http://schemas.microsoft.com/office/drawing/2014/main" id="{174E6344-9AAA-4EA0-B3E7-D2F8171BB3F1}"/>
              </a:ext>
            </a:extLst>
          </p:cNvPr>
          <p:cNvSpPr>
            <a:spLocks xmlns:a="http://schemas.openxmlformats.org/drawingml/2006/main" noGrp="1"/>
          </p:cNvSpPr>
          <p:nvPr/>
        </p:nvSpPr>
        <p:spPr>
          <a:xfrm xmlns:a="http://schemas.openxmlformats.org/drawingml/2006/main">
            <a:off x="666750" y="47434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buNone/>
              <a:defRPr sz="2175" b="1">
                <a:solidFill>
                  <a:srgbClr val="3B9C5A"/>
                </a:solidFill>
                <a:latin typeface="Calibri"/>
                <a:ea typeface="Calibri"/>
                <a:cs typeface="Calibri"/>
              </a:defRPr>
            </a:pPr>
            <a:r>
              <a:rPr sz="2175" b="1">
                <a:solidFill>
                  <a:srgbClr val="3B9C5A"/>
                </a:solidFill>
                <a:latin typeface="Calibri"/>
                <a:ea typeface="Calibri"/>
                <a:cs typeface="Calibri"/>
              </a:rPr>
              <a:t>Evidence</a:t>
            </a:r>
          </a:p>
        </p:txBody>
      </p:sp>
      <p:sp>
        <p:nvSpPr>
          <p:cNvPr id="9" name="row-body-3">
            <a:extLst xmlns:a="http://schemas.openxmlformats.org/drawingml/2006/main">
              <a:ext uri="{FF2B5EF4-FFF2-40B4-BE49-F238E27FC236}">
                <a16:creationId xmlns:a16="http://schemas.microsoft.com/office/drawing/2014/main" id="{61494945-ABC6-42B9-A27D-533FAB058611}"/>
              </a:ext>
            </a:extLst>
          </p:cNvPr>
          <p:cNvSpPr>
            <a:spLocks xmlns:a="http://schemas.openxmlformats.org/drawingml/2006/main" noGrp="1"/>
          </p:cNvSpPr>
          <p:nvPr/>
        </p:nvSpPr>
        <p:spPr>
          <a:xfrm xmlns:a="http://schemas.openxmlformats.org/drawingml/2006/main">
            <a:off x="3143250" y="4743450"/>
            <a:ext cx="8210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buNone/>
              <a:defRPr sz="2175" b="0">
                <a:solidFill>
                  <a:srgbClr val="1D2B26"/>
                </a:solidFill>
                <a:latin typeface="Calibri"/>
                <a:ea typeface="Calibri"/>
                <a:cs typeface="Calibri"/>
              </a:defRPr>
            </a:pPr>
            <a:r>
              <a:rPr sz="2175" b="0">
                <a:solidFill>
                  <a:srgbClr val="1D2B26"/>
                </a:solidFill>
                <a:latin typeface="Calibri"/>
                <a:ea typeface="Calibri"/>
                <a:cs typeface="Calibri"/>
              </a:rPr>
              <a:t>Normal, boundary and failed-source checks</a:t>
            </a:r>
          </a:p>
        </p:txBody>
      </p:sp>
      <p:sp>
        <p:nvSpPr>
          <p:cNvPr id="10" name="lesson-takeaway">
            <a:extLst xmlns:a="http://schemas.openxmlformats.org/drawingml/2006/main">
              <a:ext uri="{FF2B5EF4-FFF2-40B4-BE49-F238E27FC236}">
                <a16:creationId xmlns:a16="http://schemas.microsoft.com/office/drawing/2014/main" id="{9193D63B-2E54-477F-9537-85189C5BA074}"/>
              </a:ext>
            </a:extLst>
          </p:cNvPr>
          <p:cNvSpPr>
            <a:spLocks xmlns:a="http://schemas.openxmlformats.org/drawingml/2006/main" noGrp="1"/>
          </p:cNvSpPr>
          <p:nvPr/>
        </p:nvSpPr>
        <p:spPr>
          <a:xfrm xmlns:a="http://schemas.openxmlformats.org/drawingml/2006/main">
            <a:off x="666750" y="58102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buNone/>
              <a:defRPr sz="1800" b="1">
                <a:solidFill>
                  <a:srgbClr val="1E3A32"/>
                </a:solidFill>
                <a:latin typeface="Calibri"/>
                <a:ea typeface="Calibri"/>
                <a:cs typeface="Calibri"/>
              </a:defRPr>
            </a:pPr>
            <a:r>
              <a:rPr sz="1800" b="1">
                <a:solidFill>
                  <a:srgbClr val="1E3A32"/>
                </a:solidFill>
                <a:latin typeface="Calibri"/>
                <a:ea typeface="Calibri"/>
                <a:cs typeface="Calibri"/>
              </a:rPr>
              <a:t>Use the editor's diff view; in a Git project, inspect git diff.</a:t>
            </a:r>
          </a:p>
        </p:txBody>
      </p:sp>
      <p:sp>
        <p:nvSpPr>
          <p:cNvPr id="11" name="footer">
            <a:extLst xmlns:a="http://schemas.openxmlformats.org/drawingml/2006/main">
              <a:ext uri="{FF2B5EF4-FFF2-40B4-BE49-F238E27FC236}">
                <a16:creationId xmlns:a16="http://schemas.microsoft.com/office/drawing/2014/main" id="{51F7DE5B-D95A-46DD-A887-86D511F14486}"/>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buNone/>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12" name="slide-number">
            <a:extLst xmlns:a="http://schemas.openxmlformats.org/drawingml/2006/main">
              <a:ext uri="{FF2B5EF4-FFF2-40B4-BE49-F238E27FC236}">
                <a16:creationId xmlns:a16="http://schemas.microsoft.com/office/drawing/2014/main" id="{02EE37BA-9E23-4862-9394-3A7E1BA35F21}"/>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buNone/>
              <a:defRPr sz="1050" b="0">
                <a:solidFill>
                  <a:srgbClr val="5C6B66"/>
                </a:solidFill>
                <a:latin typeface="Calibri"/>
                <a:ea typeface="Calibri"/>
                <a:cs typeface="Calibri"/>
              </a:defRPr>
            </a:pPr>
            <a:r>
              <a:rPr sz="1050" b="0">
                <a:solidFill>
                  <a:srgbClr val="5C6B66"/>
                </a:solidFill>
                <a:latin typeface="Calibri"/>
                <a:ea typeface="Calibri"/>
                <a:cs typeface="Calibri"/>
              </a:rPr>
              <a:t>19</a:t>
            </a:r>
          </a:p>
        </p:txBody>
      </p:sp>
    </p:spTree>
    <p:extLst>
      <p:ext uri="{BB962C8B-B14F-4D97-AF65-F5344CB8AC3E}">
        <p14:creationId xmlns:p14="http://schemas.microsoft.com/office/powerpoint/2010/main" val="2142211984"/>
      </p:ext>
    </p:extLst>
  </p:cSld>
</p:sld>
</file>

<file path=ppt/slides/slide2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lesson-title">
            <a:extLst xmlns:a="http://schemas.openxmlformats.org/drawingml/2006/main">
              <a:ext uri="{FF2B5EF4-FFF2-40B4-BE49-F238E27FC236}">
                <a16:creationId xmlns:a16="http://schemas.microsoft.com/office/drawing/2014/main" id="{7C1232DE-2C76-476F-859A-D8FD8BE90D25}"/>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buNone/>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24 tests passed. The answer was still wrong.</a:t>
            </a:r>
          </a:p>
        </p:txBody>
      </p:sp>
      <p:sp>
        <p:nvSpPr>
          <p:cNvPr id="2" name="lesson-example">
            <a:extLst xmlns:a="http://schemas.openxmlformats.org/drawingml/2006/main">
              <a:ext uri="{FF2B5EF4-FFF2-40B4-BE49-F238E27FC236}">
                <a16:creationId xmlns:a16="http://schemas.microsoft.com/office/drawing/2014/main" id="{B3D7033B-5F5D-4520-A6D9-AB5B6B5359F7}"/>
              </a:ext>
            </a:extLst>
          </p:cNvPr>
          <p:cNvSpPr>
            <a:spLocks xmlns:a="http://schemas.openxmlformats.org/drawingml/2006/main" noGrp="1"/>
          </p:cNvSpPr>
          <p:nvPr/>
        </p:nvSpPr>
        <p:spPr>
          <a:xfrm xmlns:a="http://schemas.openxmlformats.org/drawingml/2006/main">
            <a:off x="647700" y="1714500"/>
            <a:ext cx="5905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E3A32"/>
                </a:solidFill>
                <a:latin typeface="Consolas"/>
                <a:ea typeface="Consolas"/>
                <a:cs typeface="Consolas"/>
              </a:defRPr>
            </a:defPPr>
          </a:lstStyle>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recommended_dishes: ["Veg sandwich"]</a:t>
            </a:r>
          </a:p>
          <a:p xmlns:a="http://schemas.openxmlformats.org/drawingml/2006/main">
            <a:r>
              <a:t/>
            </a:r>
          </a:p>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message:</a:t>
            </a:r>
          </a:p>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"Try the Paneer Tikka Wrap.</a:t>
            </a:r>
          </a:p>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Open until 22:00."</a:t>
            </a:r>
          </a:p>
          <a:p xmlns:a="http://schemas.openxmlformats.org/drawingml/2006/main">
            <a:r>
              <a:t/>
            </a:r>
          </a:p>
          <a:p xmlns:a="http://schemas.openxmlformats.org/drawingml/2006/main">
            <a:pPr>
              <a:buNone/>
              <a:defRPr sz="1875" b="0">
                <a:solidFill>
                  <a:srgbClr val="1E3A32"/>
                </a:solidFill>
                <a:latin typeface="Consolas"/>
                <a:ea typeface="Consolas"/>
                <a:cs typeface="Consolas"/>
              </a:defRPr>
            </a:pPr>
            <a:r>
              <a:rPr sz="1875" b="0">
                <a:solidFill>
                  <a:srgbClr val="1E3A32"/>
                </a:solidFill>
                <a:latin typeface="Consolas"/>
                <a:ea typeface="Consolas"/>
                <a:cs typeface="Consolas"/>
              </a:rPr>
              <a:t>The checked list was valid.</a:t>
            </a:r>
          </a:p>
        </p:txBody>
      </p:sp>
      <p:sp>
        <p:nvSpPr>
          <p:cNvPr id="3" name="lesson-explanation">
            <a:extLst xmlns:a="http://schemas.openxmlformats.org/drawingml/2006/main">
              <a:ext uri="{FF2B5EF4-FFF2-40B4-BE49-F238E27FC236}">
                <a16:creationId xmlns:a16="http://schemas.microsoft.com/office/drawing/2014/main" id="{F02EC2FD-1E31-469D-B781-75A19D6EE6AB}"/>
              </a:ext>
            </a:extLst>
          </p:cNvPr>
          <p:cNvSpPr>
            <a:spLocks xmlns:a="http://schemas.openxmlformats.org/drawingml/2006/main" noGrp="1"/>
          </p:cNvSpPr>
          <p:nvPr/>
        </p:nvSpPr>
        <p:spPr>
          <a:xfrm xmlns:a="http://schemas.openxmlformats.org/drawingml/2006/main">
            <a:off x="7067550" y="1714500"/>
            <a:ext cx="4381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D2B26"/>
                </a:solidFill>
                <a:latin typeface="Calibri"/>
                <a:ea typeface="Calibri"/>
                <a:cs typeface="Calibri"/>
              </a:defRPr>
            </a:defPPr>
          </a:lstStyle>
          <a:p xmlns:a="http://schemas.openxmlformats.org/drawingml/2006/main">
            <a:pPr>
              <a:buNone/>
              <a:defRPr sz="2100" b="0">
                <a:solidFill>
                  <a:srgbClr val="1D2B26"/>
                </a:solidFill>
                <a:latin typeface="Calibri"/>
                <a:ea typeface="Calibri"/>
                <a:cs typeface="Calibri"/>
              </a:defRPr>
            </a:pPr>
            <a:r>
              <a:rPr sz="2100" b="0">
                <a:solidFill>
                  <a:srgbClr val="1D2B26"/>
                </a:solidFill>
                <a:latin typeface="Calibri"/>
                <a:ea typeface="Calibri"/>
                <a:cs typeface="Calibri"/>
              </a:rPr>
              <a:t>check(reply["recommended_dishes"])</a:t>
            </a:r>
          </a:p>
          <a:p xmlns:a="http://schemas.openxmlformats.org/drawingml/2006/main">
            <a:pPr>
              <a:buNone/>
              <a:defRPr sz="2100" b="0">
                <a:solidFill>
                  <a:srgbClr val="1D2B26"/>
                </a:solidFill>
                <a:latin typeface="Calibri"/>
                <a:ea typeface="Calibri"/>
                <a:cs typeface="Calibri"/>
              </a:defRPr>
            </a:pPr>
            <a:r>
              <a:rPr sz="2100" b="0">
                <a:solidFill>
                  <a:srgbClr val="1D2B26"/>
                </a:solidFill>
                <a:latin typeface="Calibri"/>
                <a:ea typeface="Calibri"/>
                <a:cs typeface="Calibri"/>
              </a:rPr>
              <a:t>return reply["message"]</a:t>
            </a:r>
          </a:p>
          <a:p xmlns:a="http://schemas.openxmlformats.org/drawingml/2006/main">
            <a:r>
              <a:t/>
            </a:r>
          </a:p>
          <a:p xmlns:a="http://schemas.openxmlformats.org/drawingml/2006/main">
            <a:pPr>
              <a:buNone/>
              <a:defRPr sz="2100" b="0">
                <a:solidFill>
                  <a:srgbClr val="1D2B26"/>
                </a:solidFill>
                <a:latin typeface="Calibri"/>
                <a:ea typeface="Calibri"/>
                <a:cs typeface="Calibri"/>
              </a:defRPr>
            </a:pPr>
            <a:r>
              <a:rPr sz="2100" b="0">
                <a:solidFill>
                  <a:srgbClr val="1D2B26"/>
                </a:solidFill>
                <a:latin typeface="Calibri"/>
                <a:ea typeface="Calibri"/>
                <a:cs typeface="Calibri"/>
              </a:rPr>
              <a:t>Which value reaches the user?</a:t>
            </a:r>
          </a:p>
          <a:p xmlns:a="http://schemas.openxmlformats.org/drawingml/2006/main">
            <a:pPr>
              <a:buNone/>
              <a:defRPr sz="2100" b="0">
                <a:solidFill>
                  <a:srgbClr val="1D2B26"/>
                </a:solidFill>
                <a:latin typeface="Calibri"/>
                <a:ea typeface="Calibri"/>
                <a:cs typeface="Calibri"/>
              </a:defRPr>
            </a:pPr>
            <a:r>
              <a:rPr sz="2100" b="0">
                <a:solidFill>
                  <a:srgbClr val="1D2B26"/>
                </a:solidFill>
                <a:latin typeface="Calibri"/>
                <a:ea typeface="Calibri"/>
                <a:cs typeface="Calibri"/>
              </a:rPr>
              <a:t>What test did we miss?</a:t>
            </a:r>
          </a:p>
        </p:txBody>
      </p:sp>
      <p:sp>
        <p:nvSpPr>
          <p:cNvPr id="4" name="footer">
            <a:extLst xmlns:a="http://schemas.openxmlformats.org/drawingml/2006/main">
              <a:ext uri="{FF2B5EF4-FFF2-40B4-BE49-F238E27FC236}">
                <a16:creationId xmlns:a16="http://schemas.microsoft.com/office/drawing/2014/main" id="{B442305E-20AE-4976-BB27-392233E70FD8}"/>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buNone/>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5" name="slide-number">
            <a:extLst xmlns:a="http://schemas.openxmlformats.org/drawingml/2006/main">
              <a:ext uri="{FF2B5EF4-FFF2-40B4-BE49-F238E27FC236}">
                <a16:creationId xmlns:a16="http://schemas.microsoft.com/office/drawing/2014/main" id="{B009AF04-44D0-42DC-B6F2-8B4BD474E597}"/>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buNone/>
              <a:defRPr sz="1050" b="0">
                <a:solidFill>
                  <a:srgbClr val="5C6B66"/>
                </a:solidFill>
                <a:latin typeface="Calibri"/>
                <a:ea typeface="Calibri"/>
                <a:cs typeface="Calibri"/>
              </a:defRPr>
            </a:pPr>
            <a:r>
              <a:rPr sz="1050" b="0">
                <a:solidFill>
                  <a:srgbClr val="5C6B66"/>
                </a:solidFill>
                <a:latin typeface="Calibri"/>
                <a:ea typeface="Calibri"/>
                <a:cs typeface="Calibri"/>
              </a:rPr>
              <a:t>20</a:t>
            </a:r>
          </a:p>
        </p:txBody>
      </p:sp>
    </p:spTree>
    <p:extLst>
      <p:ext uri="{BB962C8B-B14F-4D97-AF65-F5344CB8AC3E}">
        <p14:creationId xmlns:p14="http://schemas.microsoft.com/office/powerpoint/2010/main" val="1291730871"/>
      </p:ext>
    </p:extLst>
  </p:cSld>
</p:sld>
</file>

<file path=ppt/slides/slide2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lesson-title">
            <a:extLst xmlns:a="http://schemas.openxmlformats.org/drawingml/2006/main">
              <a:ext uri="{FF2B5EF4-FFF2-40B4-BE49-F238E27FC236}">
                <a16:creationId xmlns:a16="http://schemas.microsoft.com/office/drawing/2014/main" id="{97CA3D0E-A241-410E-B75E-4609364C8715}"/>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Pair review: find the unchecked value</a:t>
            </a:r>
          </a:p>
        </p:txBody>
      </p:sp>
      <p:sp>
        <p:nvSpPr>
          <p:cNvPr id="2" name="code-example">
            <a:extLst xmlns:a="http://schemas.openxmlformats.org/drawingml/2006/main">
              <a:ext uri="{FF2B5EF4-FFF2-40B4-BE49-F238E27FC236}">
                <a16:creationId xmlns:a16="http://schemas.microsoft.com/office/drawing/2014/main" id="{6AFA0C85-BEE0-486B-B092-A97154366552}"/>
              </a:ext>
            </a:extLst>
          </p:cNvPr>
          <p:cNvSpPr>
            <a:spLocks xmlns:a="http://schemas.openxmlformats.org/drawingml/2006/main" noGrp="1"/>
          </p:cNvSpPr>
          <p:nvPr/>
        </p:nvSpPr>
        <p:spPr>
          <a:xfrm xmlns:a="http://schemas.openxmlformats.org/drawingml/2006/main">
            <a:off x="742950" y="1714500"/>
            <a:ext cx="1076325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3A32"/>
                </a:solidFill>
                <a:latin typeface="Consolas"/>
                <a:ea typeface="Consolas"/>
                <a:cs typeface="Consolas"/>
              </a:defRPr>
            </a:defPPr>
          </a:lstStyle>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check(reply["recommended_dishes"])</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return reply["message"]</a:t>
            </a:r>
          </a:p>
          <a:p xmlns:a="http://schemas.openxmlformats.org/drawingml/2006/main">
            <a:r>
              <a:t/>
            </a:r>
          </a:p>
          <a:p xmlns:a="http://schemas.openxmlformats.org/drawingml/2006/main">
            <a:pPr>
              <a:defRPr sz="1950" b="0">
                <a:solidFill>
                  <a:srgbClr val="1E3A32"/>
                </a:solidFill>
                <a:latin typeface="Consolas"/>
                <a:ea typeface="Consolas"/>
                <a:cs typeface="Consolas"/>
              </a:defRPr>
            </a:pPr>
            <a:r>
              <a:rPr sz="1950" b="0">
                <a:solidFill>
                  <a:srgbClr val="1E3A32"/>
                </a:solidFill>
                <a:latin typeface="Consolas"/>
                <a:ea typeface="Consolas"/>
                <a:cs typeface="Consolas"/>
              </a:rPr>
              <a:t># The list can be valid while the message is wrong.</a:t>
            </a:r>
          </a:p>
        </p:txBody>
      </p:sp>
      <p:sp>
        <p:nvSpPr>
          <p:cNvPr id="3" name="takeaway">
            <a:extLst xmlns:a="http://schemas.openxmlformats.org/drawingml/2006/main">
              <a:ext uri="{FF2B5EF4-FFF2-40B4-BE49-F238E27FC236}">
                <a16:creationId xmlns:a16="http://schemas.microsoft.com/office/drawing/2014/main" id="{E935A49B-23F6-4769-883B-23EFC5817EA9}"/>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What exact value reaches the student?</a:t>
            </a:r>
          </a:p>
        </p:txBody>
      </p:sp>
      <p:sp>
        <p:nvSpPr>
          <p:cNvPr id="4" name="footer">
            <a:extLst xmlns:a="http://schemas.openxmlformats.org/drawingml/2006/main">
              <a:ext uri="{FF2B5EF4-FFF2-40B4-BE49-F238E27FC236}">
                <a16:creationId xmlns:a16="http://schemas.microsoft.com/office/drawing/2014/main" id="{BF0F2EFB-374C-4DFA-A2B8-37117B6EBD77}"/>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5" name="slide-number">
            <a:extLst xmlns:a="http://schemas.openxmlformats.org/drawingml/2006/main">
              <a:ext uri="{FF2B5EF4-FFF2-40B4-BE49-F238E27FC236}">
                <a16:creationId xmlns:a16="http://schemas.microsoft.com/office/drawing/2014/main" id="{9194093D-8771-4B12-A84E-7CB2A9E639BC}"/>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21</a:t>
            </a:r>
          </a:p>
        </p:txBody>
      </p:sp>
    </p:spTree>
    <p:extLst>
      <p:ext uri="{BB962C8B-B14F-4D97-AF65-F5344CB8AC3E}">
        <p14:creationId xmlns:p14="http://schemas.microsoft.com/office/powerpoint/2010/main" val="43774838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BE27B58-A6A0-44CE-BA4D-702006F8C647}"/>
              </a:ext>
            </a:extLst>
          </p:cNvPr>
          <p:cNvSpPr>
            <a:spLocks xmlns:a="http://schemas.openxmlformats.org/drawingml/2006/main" noGrp="1"/>
          </p:cNvSpPr>
          <p:nvPr/>
        </p:nvSpPr>
        <p:spPr>
          <a:xfrm xmlns:a="http://schemas.openxmlformats.org/drawingml/2006/main">
            <a:off x="548640" y="411480"/>
            <a:ext cx="11064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D2B26"/>
                </a:solidFill>
                <a:latin typeface="Bookman Old Style"/>
                <a:ea typeface="Bookman Old Style"/>
                <a:cs typeface="Bookman Old Style"/>
              </a:rPr>
              <a:t>Overconfident AI strikes again</a:t>
            </a:r>
            <a:endParaRPr sz="3200"/>
          </a:p>
        </p:txBody>
      </p:sp>
      <p:sp>
        <p:nvSpPr>
          <p:cNvPr id="4" name="Shape 1">
            <a:extLst xmlns:a="http://schemas.openxmlformats.org/drawingml/2006/main">
              <a:ext uri="{FF2B5EF4-FFF2-40B4-BE49-F238E27FC236}">
                <a16:creationId xmlns:a16="http://schemas.microsoft.com/office/drawing/2014/main" id="{A406EBA1-0D8D-44A4-8682-3959EC41855A}"/>
              </a:ext>
            </a:extLst>
          </p:cNvPr>
          <p:cNvSpPr>
            <a:spLocks xmlns:a="http://schemas.openxmlformats.org/drawingml/2006/main" noGrp="1"/>
          </p:cNvSpPr>
          <p:nvPr/>
        </p:nvSpPr>
        <p:spPr>
          <a:xfrm xmlns:a="http://schemas.openxmlformats.org/drawingml/2006/main">
            <a:off x="548640" y="1554480"/>
            <a:ext cx="2491740" cy="1325880"/>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2700">
            <a:solidFill>
              <a:srgbClr val="3B9C5A"/>
            </a:solidFill>
            <a:prstDash val="solid"/>
          </a:ln>
        </p:spPr>
      </p:sp>
      <p:sp>
        <p:nvSpPr>
          <p:cNvPr id="5" name="Text 2">
            <a:extLst xmlns:a="http://schemas.openxmlformats.org/drawingml/2006/main">
              <a:ext uri="{FF2B5EF4-FFF2-40B4-BE49-F238E27FC236}">
                <a16:creationId xmlns:a16="http://schemas.microsoft.com/office/drawing/2014/main" id="{5B8C0BF9-C9D1-4832-9F9E-769FF5E007D0}"/>
              </a:ext>
            </a:extLst>
          </p:cNvPr>
          <p:cNvSpPr>
            <a:spLocks xmlns:a="http://schemas.openxmlformats.org/drawingml/2006/main" noGrp="1"/>
          </p:cNvSpPr>
          <p:nvPr/>
        </p:nvSpPr>
        <p:spPr>
          <a:xfrm xmlns:a="http://schemas.openxmlformats.org/drawingml/2006/main">
            <a:off x="658368" y="1691640"/>
            <a:ext cx="227228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Read request</a:t>
            </a:r>
            <a:endParaRPr sz="1800"/>
          </a:p>
        </p:txBody>
      </p:sp>
      <p:sp>
        <p:nvSpPr>
          <p:cNvPr id="6" name="Text 3">
            <a:extLst xmlns:a="http://schemas.openxmlformats.org/drawingml/2006/main">
              <a:ext uri="{FF2B5EF4-FFF2-40B4-BE49-F238E27FC236}">
                <a16:creationId xmlns:a16="http://schemas.microsoft.com/office/drawing/2014/main" id="{147B1C2E-6AB5-4216-9C27-392D1269FD99}"/>
              </a:ext>
            </a:extLst>
          </p:cNvPr>
          <p:cNvSpPr>
            <a:spLocks xmlns:a="http://schemas.openxmlformats.org/drawingml/2006/main" noGrp="1"/>
          </p:cNvSpPr>
          <p:nvPr/>
        </p:nvSpPr>
        <p:spPr>
          <a:xfrm xmlns:a="http://schemas.openxmlformats.org/drawingml/2006/main">
            <a:off x="658368" y="2423160"/>
            <a:ext cx="22722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a:solidFill>
                  <a:srgbClr val="5C6B66"/>
                </a:solidFill>
                <a:latin typeface="Calibri"/>
                <a:ea typeface="Calibri"/>
                <a:cs typeface="Calibri"/>
              </a:rPr>
              <a:t>code</a:t>
            </a:r>
            <a:endParaRPr sz="1500"/>
          </a:p>
        </p:txBody>
      </p:sp>
      <p:sp>
        <p:nvSpPr>
          <p:cNvPr id="7" name="Shape 4">
            <a:extLst xmlns:a="http://schemas.openxmlformats.org/drawingml/2006/main">
              <a:ext uri="{FF2B5EF4-FFF2-40B4-BE49-F238E27FC236}">
                <a16:creationId xmlns:a16="http://schemas.microsoft.com/office/drawing/2014/main" id="{4FC12573-DD8E-415D-8761-5D0F6B936FE7}"/>
              </a:ext>
            </a:extLst>
          </p:cNvPr>
          <p:cNvSpPr>
            <a:spLocks xmlns:a="http://schemas.openxmlformats.org/drawingml/2006/main" noGrp="1"/>
          </p:cNvSpPr>
          <p:nvPr/>
        </p:nvSpPr>
        <p:spPr>
          <a:xfrm xmlns:a="http://schemas.openxmlformats.org/drawingml/2006/main">
            <a:off x="3076956" y="2217420"/>
            <a:ext cx="292608"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8" name="Shape 5">
            <a:extLst xmlns:a="http://schemas.openxmlformats.org/drawingml/2006/main">
              <a:ext uri="{FF2B5EF4-FFF2-40B4-BE49-F238E27FC236}">
                <a16:creationId xmlns:a16="http://schemas.microsoft.com/office/drawing/2014/main" id="{DE1F9F1A-CE38-4542-A89B-3F6336B39826}"/>
              </a:ext>
            </a:extLst>
          </p:cNvPr>
          <p:cNvSpPr>
            <a:spLocks xmlns:a="http://schemas.openxmlformats.org/drawingml/2006/main" noGrp="1"/>
          </p:cNvSpPr>
          <p:nvPr/>
        </p:nvSpPr>
        <p:spPr>
          <a:xfrm xmlns:a="http://schemas.openxmlformats.org/drawingml/2006/main">
            <a:off x="3406140" y="1554480"/>
            <a:ext cx="2491740" cy="1325880"/>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2700">
            <a:solidFill>
              <a:srgbClr val="3B9C5A"/>
            </a:solidFill>
            <a:prstDash val="solid"/>
          </a:ln>
        </p:spPr>
      </p:sp>
      <p:sp>
        <p:nvSpPr>
          <p:cNvPr id="9" name="Text 6">
            <a:extLst xmlns:a="http://schemas.openxmlformats.org/drawingml/2006/main">
              <a:ext uri="{FF2B5EF4-FFF2-40B4-BE49-F238E27FC236}">
                <a16:creationId xmlns:a16="http://schemas.microsoft.com/office/drawing/2014/main" id="{5AD7166F-06B6-47E5-81C2-F9A68F141510}"/>
              </a:ext>
            </a:extLst>
          </p:cNvPr>
          <p:cNvSpPr>
            <a:spLocks xmlns:a="http://schemas.openxmlformats.org/drawingml/2006/main" noGrp="1"/>
          </p:cNvSpPr>
          <p:nvPr/>
        </p:nvSpPr>
        <p:spPr>
          <a:xfrm xmlns:a="http://schemas.openxmlformats.org/drawingml/2006/main">
            <a:off x="3515868" y="1691640"/>
            <a:ext cx="227228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ReAct agent</a:t>
            </a:r>
            <a:endParaRPr sz="1800"/>
          </a:p>
        </p:txBody>
      </p:sp>
      <p:sp>
        <p:nvSpPr>
          <p:cNvPr id="10" name="Text 7">
            <a:extLst xmlns:a="http://schemas.openxmlformats.org/drawingml/2006/main">
              <a:ext uri="{FF2B5EF4-FFF2-40B4-BE49-F238E27FC236}">
                <a16:creationId xmlns:a16="http://schemas.microsoft.com/office/drawing/2014/main" id="{BF8C91F0-869B-4382-A967-A78CA6E75BA9}"/>
              </a:ext>
            </a:extLst>
          </p:cNvPr>
          <p:cNvSpPr>
            <a:spLocks xmlns:a="http://schemas.openxmlformats.org/drawingml/2006/main" noGrp="1"/>
          </p:cNvSpPr>
          <p:nvPr/>
        </p:nvSpPr>
        <p:spPr>
          <a:xfrm xmlns:a="http://schemas.openxmlformats.org/drawingml/2006/main">
            <a:off x="3515868" y="2423160"/>
            <a:ext cx="22722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a:solidFill>
                  <a:srgbClr val="5C6B66"/>
                </a:solidFill>
                <a:latin typeface="Calibri"/>
                <a:ea typeface="Calibri"/>
                <a:cs typeface="Calibri"/>
              </a:rPr>
              <a:t>AI picks tools</a:t>
            </a:r>
            <a:endParaRPr sz="1500"/>
          </a:p>
        </p:txBody>
      </p:sp>
      <p:sp>
        <p:nvSpPr>
          <p:cNvPr id="11" name="Shape 8">
            <a:extLst xmlns:a="http://schemas.openxmlformats.org/drawingml/2006/main">
              <a:ext uri="{FF2B5EF4-FFF2-40B4-BE49-F238E27FC236}">
                <a16:creationId xmlns:a16="http://schemas.microsoft.com/office/drawing/2014/main" id="{33EA9CD0-66B4-4EF8-BD51-BE4C1FADA65D}"/>
              </a:ext>
            </a:extLst>
          </p:cNvPr>
          <p:cNvSpPr>
            <a:spLocks xmlns:a="http://schemas.openxmlformats.org/drawingml/2006/main" noGrp="1"/>
          </p:cNvSpPr>
          <p:nvPr/>
        </p:nvSpPr>
        <p:spPr>
          <a:xfrm xmlns:a="http://schemas.openxmlformats.org/drawingml/2006/main">
            <a:off x="5934456" y="2217420"/>
            <a:ext cx="292608"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12" name="Shape 9">
            <a:extLst xmlns:a="http://schemas.openxmlformats.org/drawingml/2006/main">
              <a:ext uri="{FF2B5EF4-FFF2-40B4-BE49-F238E27FC236}">
                <a16:creationId xmlns:a16="http://schemas.microsoft.com/office/drawing/2014/main" id="{913D4A39-50DE-461E-B412-F72982D12AA6}"/>
              </a:ext>
            </a:extLst>
          </p:cNvPr>
          <p:cNvSpPr>
            <a:spLocks xmlns:a="http://schemas.openxmlformats.org/drawingml/2006/main" noGrp="1"/>
          </p:cNvSpPr>
          <p:nvPr/>
        </p:nvSpPr>
        <p:spPr>
          <a:xfrm xmlns:a="http://schemas.openxmlformats.org/drawingml/2006/main">
            <a:off x="6263640" y="1554480"/>
            <a:ext cx="2491740" cy="1325880"/>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2700">
            <a:solidFill>
              <a:srgbClr val="3B9C5A"/>
            </a:solidFill>
            <a:prstDash val="solid"/>
          </a:ln>
        </p:spPr>
      </p:sp>
      <p:sp>
        <p:nvSpPr>
          <p:cNvPr id="13" name="Text 10">
            <a:extLst xmlns:a="http://schemas.openxmlformats.org/drawingml/2006/main">
              <a:ext uri="{FF2B5EF4-FFF2-40B4-BE49-F238E27FC236}">
                <a16:creationId xmlns:a16="http://schemas.microsoft.com/office/drawing/2014/main" id="{B2D919A9-E0A0-420E-BC08-6AA3FDC2ED51}"/>
              </a:ext>
            </a:extLst>
          </p:cNvPr>
          <p:cNvSpPr>
            <a:spLocks xmlns:a="http://schemas.openxmlformats.org/drawingml/2006/main" noGrp="1"/>
          </p:cNvSpPr>
          <p:nvPr/>
        </p:nvSpPr>
        <p:spPr>
          <a:xfrm xmlns:a="http://schemas.openxmlformats.org/drawingml/2006/main">
            <a:off x="6373368" y="1691640"/>
            <a:ext cx="227228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Verify</a:t>
            </a:r>
            <a:endParaRPr sz="1800"/>
          </a:p>
        </p:txBody>
      </p:sp>
      <p:sp>
        <p:nvSpPr>
          <p:cNvPr id="14" name="Text 11">
            <a:extLst xmlns:a="http://schemas.openxmlformats.org/drawingml/2006/main">
              <a:ext uri="{FF2B5EF4-FFF2-40B4-BE49-F238E27FC236}">
                <a16:creationId xmlns:a16="http://schemas.microsoft.com/office/drawing/2014/main" id="{18F91E16-158F-4C4C-BA29-608C9011F407}"/>
              </a:ext>
            </a:extLst>
          </p:cNvPr>
          <p:cNvSpPr>
            <a:spLocks xmlns:a="http://schemas.openxmlformats.org/drawingml/2006/main" noGrp="1"/>
          </p:cNvSpPr>
          <p:nvPr/>
        </p:nvSpPr>
        <p:spPr>
          <a:xfrm xmlns:a="http://schemas.openxmlformats.org/drawingml/2006/main">
            <a:off x="6373368" y="2423160"/>
            <a:ext cx="22722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a:solidFill>
                  <a:srgbClr val="5C6B66"/>
                </a:solidFill>
                <a:latin typeface="Calibri"/>
                <a:ea typeface="Calibri"/>
                <a:cs typeface="Calibri"/>
              </a:rPr>
              <a:t>code checks every dish</a:t>
            </a:r>
            <a:endParaRPr sz="1500"/>
          </a:p>
        </p:txBody>
      </p:sp>
      <p:sp>
        <p:nvSpPr>
          <p:cNvPr id="15" name="Shape 12">
            <a:extLst xmlns:a="http://schemas.openxmlformats.org/drawingml/2006/main">
              <a:ext uri="{FF2B5EF4-FFF2-40B4-BE49-F238E27FC236}">
                <a16:creationId xmlns:a16="http://schemas.microsoft.com/office/drawing/2014/main" id="{A84C8630-84F1-4674-AEEB-08E4270B36E2}"/>
              </a:ext>
            </a:extLst>
          </p:cNvPr>
          <p:cNvSpPr>
            <a:spLocks xmlns:a="http://schemas.openxmlformats.org/drawingml/2006/main" noGrp="1"/>
          </p:cNvSpPr>
          <p:nvPr/>
        </p:nvSpPr>
        <p:spPr>
          <a:xfrm xmlns:a="http://schemas.openxmlformats.org/drawingml/2006/main">
            <a:off x="8791956" y="2217420"/>
            <a:ext cx="292608" cy="0"/>
          </a:xfrm>
          <a:prstGeom xmlns:a="http://schemas.openxmlformats.org/drawingml/2006/main" prst="line">
            <a:avLst/>
          </a:prstGeom>
          <a:noFill xmlns:a="http://schemas.openxmlformats.org/drawingml/2006/main"/>
          <a:ln xmlns:a="http://schemas.openxmlformats.org/drawingml/2006/main" w="28575">
            <a:solidFill>
              <a:srgbClr val="3B9C5A"/>
            </a:solidFill>
            <a:prstDash val="solid"/>
            <a:tailEnd type="triangle"/>
          </a:ln>
        </p:spPr>
      </p:sp>
      <p:sp>
        <p:nvSpPr>
          <p:cNvPr id="16" name="Shape 13">
            <a:extLst xmlns:a="http://schemas.openxmlformats.org/drawingml/2006/main">
              <a:ext uri="{FF2B5EF4-FFF2-40B4-BE49-F238E27FC236}">
                <a16:creationId xmlns:a16="http://schemas.microsoft.com/office/drawing/2014/main" id="{9F72E33C-AC6D-4D4E-8955-5360DEA43FC7}"/>
              </a:ext>
            </a:extLst>
          </p:cNvPr>
          <p:cNvSpPr>
            <a:spLocks xmlns:a="http://schemas.openxmlformats.org/drawingml/2006/main" noGrp="1"/>
          </p:cNvSpPr>
          <p:nvPr/>
        </p:nvSpPr>
        <p:spPr>
          <a:xfrm xmlns:a="http://schemas.openxmlformats.org/drawingml/2006/main">
            <a:off x="9121140" y="1554480"/>
            <a:ext cx="2491740" cy="1325880"/>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2700">
            <a:solidFill>
              <a:srgbClr val="3B9C5A"/>
            </a:solidFill>
            <a:prstDash val="solid"/>
          </a:ln>
        </p:spPr>
      </p:sp>
      <p:sp>
        <p:nvSpPr>
          <p:cNvPr id="17" name="Text 14">
            <a:extLst xmlns:a="http://schemas.openxmlformats.org/drawingml/2006/main">
              <a:ext uri="{FF2B5EF4-FFF2-40B4-BE49-F238E27FC236}">
                <a16:creationId xmlns:a16="http://schemas.microsoft.com/office/drawing/2014/main" id="{233312FA-1E4A-4101-BDAF-B1A36E2B7DCE}"/>
              </a:ext>
            </a:extLst>
          </p:cNvPr>
          <p:cNvSpPr>
            <a:spLocks xmlns:a="http://schemas.openxmlformats.org/drawingml/2006/main" noGrp="1"/>
          </p:cNvSpPr>
          <p:nvPr/>
        </p:nvSpPr>
        <p:spPr>
          <a:xfrm xmlns:a="http://schemas.openxmlformats.org/drawingml/2006/main">
            <a:off x="9230868" y="1691640"/>
            <a:ext cx="227228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Answer</a:t>
            </a:r>
            <a:endParaRPr sz="1800"/>
          </a:p>
        </p:txBody>
      </p:sp>
      <p:sp>
        <p:nvSpPr>
          <p:cNvPr id="18" name="Text 15">
            <a:extLst xmlns:a="http://schemas.openxmlformats.org/drawingml/2006/main">
              <a:ext uri="{FF2B5EF4-FFF2-40B4-BE49-F238E27FC236}">
                <a16:creationId xmlns:a16="http://schemas.microsoft.com/office/drawing/2014/main" id="{CE0B77F5-E73C-46E6-9897-7C7218CC71BE}"/>
              </a:ext>
            </a:extLst>
          </p:cNvPr>
          <p:cNvSpPr>
            <a:spLocks xmlns:a="http://schemas.openxmlformats.org/drawingml/2006/main" noGrp="1"/>
          </p:cNvSpPr>
          <p:nvPr/>
        </p:nvSpPr>
        <p:spPr>
          <a:xfrm xmlns:a="http://schemas.openxmlformats.org/drawingml/2006/main">
            <a:off x="9230868" y="2423160"/>
            <a:ext cx="22722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a:solidFill>
                  <a:srgbClr val="5C6B66"/>
                </a:solidFill>
                <a:latin typeface="Calibri"/>
                <a:ea typeface="Calibri"/>
                <a:cs typeface="Calibri"/>
              </a:rPr>
              <a:t>only safe picks</a:t>
            </a:r>
            <a:endParaRPr sz="1500"/>
          </a:p>
        </p:txBody>
      </p:sp>
      <p:sp>
        <p:nvSpPr>
          <p:cNvPr id="19" name="Shape 16">
            <a:extLst xmlns:a="http://schemas.openxmlformats.org/drawingml/2006/main">
              <a:ext uri="{FF2B5EF4-FFF2-40B4-BE49-F238E27FC236}">
                <a16:creationId xmlns:a16="http://schemas.microsoft.com/office/drawing/2014/main" id="{EE498140-D19F-4BDF-9467-49B7566047DF}"/>
              </a:ext>
            </a:extLst>
          </p:cNvPr>
          <p:cNvSpPr>
            <a:spLocks xmlns:a="http://schemas.openxmlformats.org/drawingml/2006/main" noGrp="1"/>
          </p:cNvSpPr>
          <p:nvPr/>
        </p:nvSpPr>
        <p:spPr>
          <a:xfrm xmlns:a="http://schemas.openxmlformats.org/drawingml/2006/main">
            <a:off x="548640" y="3154680"/>
            <a:ext cx="11064240" cy="2103120"/>
          </a:xfrm>
          <a:prstGeom xmlns:a="http://schemas.openxmlformats.org/drawingml/2006/main" prst="roundRect">
            <a:avLst>
              <a:gd name="adj" fmla="val 4348"/>
            </a:avLst>
          </a:prstGeom>
          <a:solidFill xmlns:a="http://schemas.openxmlformats.org/drawingml/2006/main">
            <a:srgbClr val="16302A"/>
          </a:solidFill>
          <a:ln xmlns:a="http://schemas.openxmlformats.org/drawingml/2006/main" w="12700">
            <a:solidFill>
              <a:srgbClr val="16302A"/>
            </a:solidFill>
            <a:prstDash val="solid"/>
          </a:ln>
        </p:spPr>
      </p:sp>
      <p:sp>
        <p:nvSpPr>
          <p:cNvPr id="20" name="Text 17">
            <a:extLst xmlns:a="http://schemas.openxmlformats.org/drawingml/2006/main">
              <a:ext uri="{FF2B5EF4-FFF2-40B4-BE49-F238E27FC236}">
                <a16:creationId xmlns:a16="http://schemas.microsoft.com/office/drawing/2014/main" id="{86820D98-C157-4F84-A31E-E7FEFCE8F050}"/>
              </a:ext>
            </a:extLst>
          </p:cNvPr>
          <p:cNvSpPr>
            <a:spLocks xmlns:a="http://schemas.openxmlformats.org/drawingml/2006/main" noGrp="1"/>
          </p:cNvSpPr>
          <p:nvPr/>
        </p:nvSpPr>
        <p:spPr>
          <a:xfrm xmlns:a="http://schemas.openxmlformats.org/drawingml/2006/main">
            <a:off x="822960" y="3383280"/>
            <a:ext cx="105156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400"/>
              </a:spcAft>
              <a:buNone/>
            </a:pPr>
            <a:r>
              <a:rPr sz="1800">
                <a:solidFill>
                  <a:srgbClr val="F4F2EC"/>
                </a:solidFill>
                <a:latin typeface="Consolas"/>
                <a:ea typeface="Consolas"/>
                <a:cs typeface="Consolas"/>
              </a:rPr>
              <a:t>AGENT SAID:   ['Veg sandwich', 'Paneer Tikka Wrap']</a:t>
            </a:r>
            <a:endParaRPr sz="1800"/>
          </a:p>
          <a:p xmlns:a="http://schemas.openxmlformats.org/drawingml/2006/main">
            <a:pPr marL="0" indent="0">
              <a:spcAft>
                <a:spcPts val="400"/>
              </a:spcAft>
              <a:buNone/>
            </a:pPr>
            <a:r>
              <a:rPr sz="1800" b="1">
                <a:solidFill>
                  <a:srgbClr val="F7A58A"/>
                </a:solidFill>
                <a:latin typeface="Consolas"/>
                <a:ea typeface="Consolas"/>
                <a:cs typeface="Consolas"/>
              </a:rPr>
              <a:t>CODE CAUGHT:  'Paneer Tikka Wrap' is not on the menu</a:t>
            </a:r>
            <a:endParaRPr sz="1800"/>
          </a:p>
          <a:p xmlns:a="http://schemas.openxmlformats.org/drawingml/2006/main">
            <a:pPr marL="0" indent="0">
              <a:spcAft>
                <a:spcPts val="400"/>
              </a:spcAft>
              <a:buNone/>
            </a:pPr>
            <a:r>
              <a:rPr sz="1800">
                <a:solidFill>
                  <a:srgbClr val="F4F2EC"/>
                </a:solidFill>
                <a:latin typeface="Consolas"/>
                <a:ea typeface="Consolas"/>
                <a:cs typeface="Consolas"/>
              </a:rPr>
              <a:t>ANSWER:       I double-checked the recommendation.</a:t>
            </a:r>
            <a:endParaRPr sz="1800"/>
          </a:p>
          <a:p xmlns:a="http://schemas.openxmlformats.org/drawingml/2006/main">
            <a:pPr marL="0" indent="0">
              <a:spcAft>
                <a:spcPts val="400"/>
              </a:spcAft>
              <a:buNone/>
            </a:pPr>
            <a:r>
              <a:rPr sz="1800" b="1">
                <a:solidFill>
                  <a:srgbClr val="8FD6A3"/>
                </a:solidFill>
                <a:latin typeface="Consolas"/>
                <a:ea typeface="Consolas"/>
                <a:cs typeface="Consolas"/>
              </a:rPr>
              <a:t>              Veg sandwich (Rs 60). Open; closes 16:00.</a:t>
            </a:r>
            <a:endParaRPr sz="1800"/>
          </a:p>
        </p:txBody>
      </p:sp>
      <p:sp>
        <p:nvSpPr>
          <p:cNvPr id="21" name="Text 18">
            <a:extLst xmlns:a="http://schemas.openxmlformats.org/drawingml/2006/main">
              <a:ext uri="{FF2B5EF4-FFF2-40B4-BE49-F238E27FC236}">
                <a16:creationId xmlns:a16="http://schemas.microsoft.com/office/drawing/2014/main" id="{ACCC9164-1FEC-4B05-B5D1-59F84FEE723B}"/>
              </a:ext>
            </a:extLst>
          </p:cNvPr>
          <p:cNvSpPr>
            <a:spLocks xmlns:a="http://schemas.openxmlformats.org/drawingml/2006/main" noGrp="1"/>
          </p:cNvSpPr>
          <p:nvPr/>
        </p:nvSpPr>
        <p:spPr>
          <a:xfrm xmlns:a="http://schemas.openxmlformats.org/drawingml/2006/main">
            <a:off x="548640" y="544068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3B9C5A"/>
                </a:solidFill>
                <a:latin typeface="Calibri"/>
                <a:ea typeface="Calibri"/>
                <a:cs typeface="Calibri"/>
              </a:rPr>
              <a:t>Canteen Bhaiya 1, Overconfident AI 0.   (Mistake simulated for teaching.)</a:t>
            </a:r>
            <a:endParaRPr sz="2000"/>
          </a:p>
        </p:txBody>
      </p:sp>
      <p:sp>
        <p:nvSpPr>
          <p:cNvPr id="25" name="Slide Number Placeholder 0">
            <a:extLst xmlns:a="http://schemas.openxmlformats.org/drawingml/2006/main">
              <a:ext uri="{FF2B5EF4-FFF2-40B4-BE49-F238E27FC236}">
                <a16:creationId xmlns:a16="http://schemas.microsoft.com/office/drawing/2014/main" id="{DC0C6024-1BF3-41B1-86A5-C2E9796E7FD1}"/>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0BB18BA8-60F4-C50D-CD9B-1BB87D3E8506}" type="slidenum">
              <a:rPr b="0"/>
              <a:t>22</a:t>
            </a:fld>
            <a:endParaRPr/>
          </a:p>
        </p:txBody>
      </p:sp>
    </p:spTree>
    <p:extLst>
      <p:ext uri="{BB962C8B-B14F-4D97-AF65-F5344CB8AC3E}">
        <p14:creationId xmlns:p14="http://schemas.microsoft.com/office/powerpoint/2010/main" val="899122013"/>
      </p:ext>
    </p:extLst>
  </p:cSld>
</p:sld>
</file>

<file path=ppt/slides/slide2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lesson-title">
            <a:extLst xmlns:a="http://schemas.openxmlformats.org/drawingml/2006/main">
              <a:ext uri="{FF2B5EF4-FFF2-40B4-BE49-F238E27FC236}">
                <a16:creationId xmlns:a16="http://schemas.microsoft.com/office/drawing/2014/main" id="{E96495CE-BF05-4C25-A8E3-E4009D2DE292}"/>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A check must match the claim</a:t>
            </a:r>
          </a:p>
        </p:txBody>
      </p:sp>
      <p:sp>
        <p:nvSpPr>
          <p:cNvPr id="2" name="row-label-0">
            <a:extLst xmlns:a="http://schemas.openxmlformats.org/drawingml/2006/main">
              <a:ext uri="{FF2B5EF4-FFF2-40B4-BE49-F238E27FC236}">
                <a16:creationId xmlns:a16="http://schemas.microsoft.com/office/drawing/2014/main" id="{70AF2F11-7CBD-4A52-8603-FC3FC04FF2C3}"/>
              </a:ext>
            </a:extLst>
          </p:cNvPr>
          <p:cNvSpPr>
            <a:spLocks xmlns:a="http://schemas.openxmlformats.org/drawingml/2006/main" noGrp="1"/>
          </p:cNvSpPr>
          <p:nvPr/>
        </p:nvSpPr>
        <p:spPr>
          <a:xfrm xmlns:a="http://schemas.openxmlformats.org/drawingml/2006/main">
            <a:off x="666750" y="18097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Valid result</a:t>
            </a:r>
          </a:p>
        </p:txBody>
      </p:sp>
      <p:sp>
        <p:nvSpPr>
          <p:cNvPr id="3" name="row-body-0">
            <a:extLst xmlns:a="http://schemas.openxmlformats.org/drawingml/2006/main">
              <a:ext uri="{FF2B5EF4-FFF2-40B4-BE49-F238E27FC236}">
                <a16:creationId xmlns:a16="http://schemas.microsoft.com/office/drawing/2014/main" id="{91A6FFD0-314D-4F93-9417-FDB4E09C9A61}"/>
              </a:ext>
            </a:extLst>
          </p:cNvPr>
          <p:cNvSpPr>
            <a:spLocks xmlns:a="http://schemas.openxmlformats.org/drawingml/2006/main" noGrp="1"/>
          </p:cNvSpPr>
          <p:nvPr/>
        </p:nvSpPr>
        <p:spPr>
          <a:xfrm xmlns:a="http://schemas.openxmlformats.org/drawingml/2006/main">
            <a:off x="3143250" y="18097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Check the student’s budget, diet and stock.</a:t>
            </a:r>
          </a:p>
        </p:txBody>
      </p:sp>
      <p:sp>
        <p:nvSpPr>
          <p:cNvPr id="4" name="row-label-1">
            <a:extLst xmlns:a="http://schemas.openxmlformats.org/drawingml/2006/main">
              <a:ext uri="{FF2B5EF4-FFF2-40B4-BE49-F238E27FC236}">
                <a16:creationId xmlns:a16="http://schemas.microsoft.com/office/drawing/2014/main" id="{EAF25824-AEFD-4CEB-AA59-1644BE7DDAC1}"/>
              </a:ext>
            </a:extLst>
          </p:cNvPr>
          <p:cNvSpPr>
            <a:spLocks xmlns:a="http://schemas.openxmlformats.org/drawingml/2006/main" noGrp="1"/>
          </p:cNvSpPr>
          <p:nvPr/>
        </p:nvSpPr>
        <p:spPr>
          <a:xfrm xmlns:a="http://schemas.openxmlformats.org/drawingml/2006/main">
            <a:off x="666750" y="30670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Empty result</a:t>
            </a:r>
          </a:p>
        </p:txBody>
      </p:sp>
      <p:sp>
        <p:nvSpPr>
          <p:cNvPr id="5" name="row-body-1">
            <a:extLst xmlns:a="http://schemas.openxmlformats.org/drawingml/2006/main">
              <a:ext uri="{FF2B5EF4-FFF2-40B4-BE49-F238E27FC236}">
                <a16:creationId xmlns:a16="http://schemas.microsoft.com/office/drawing/2014/main" id="{2F34DA67-8DEE-4843-87A4-E9CA186CE3CC}"/>
              </a:ext>
            </a:extLst>
          </p:cNvPr>
          <p:cNvSpPr>
            <a:spLocks xmlns:a="http://schemas.openxmlformats.org/drawingml/2006/main" noGrp="1"/>
          </p:cNvSpPr>
          <p:nvPr/>
        </p:nvSpPr>
        <p:spPr>
          <a:xfrm xmlns:a="http://schemas.openxmlformats.org/drawingml/2006/main">
            <a:off x="3143250" y="30670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Say which request was actually checked.</a:t>
            </a:r>
          </a:p>
        </p:txBody>
      </p:sp>
      <p:sp>
        <p:nvSpPr>
          <p:cNvPr id="6" name="row-label-2">
            <a:extLst xmlns:a="http://schemas.openxmlformats.org/drawingml/2006/main">
              <a:ext uri="{FF2B5EF4-FFF2-40B4-BE49-F238E27FC236}">
                <a16:creationId xmlns:a16="http://schemas.microsoft.com/office/drawing/2014/main" id="{6F994CC1-26C9-45B9-A028-61395AA2F175}"/>
              </a:ext>
            </a:extLst>
          </p:cNvPr>
          <p:cNvSpPr>
            <a:spLocks xmlns:a="http://schemas.openxmlformats.org/drawingml/2006/main" noGrp="1"/>
          </p:cNvSpPr>
          <p:nvPr/>
        </p:nvSpPr>
        <p:spPr>
          <a:xfrm xmlns:a="http://schemas.openxmlformats.org/drawingml/2006/main">
            <a:off x="666750" y="43243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Failed lookup</a:t>
            </a:r>
          </a:p>
        </p:txBody>
      </p:sp>
      <p:sp>
        <p:nvSpPr>
          <p:cNvPr id="7" name="row-body-2">
            <a:extLst xmlns:a="http://schemas.openxmlformats.org/drawingml/2006/main">
              <a:ext uri="{FF2B5EF4-FFF2-40B4-BE49-F238E27FC236}">
                <a16:creationId xmlns:a16="http://schemas.microsoft.com/office/drawing/2014/main" id="{890E1316-71B6-4EF6-9153-C7D21972FA05}"/>
              </a:ext>
            </a:extLst>
          </p:cNvPr>
          <p:cNvSpPr>
            <a:spLocks xmlns:a="http://schemas.openxmlformats.org/drawingml/2006/main" noGrp="1"/>
          </p:cNvSpPr>
          <p:nvPr/>
        </p:nvSpPr>
        <p:spPr>
          <a:xfrm xmlns:a="http://schemas.openxmlformats.org/drawingml/2006/main">
            <a:off x="3143250" y="43243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Report unavailable information.</a:t>
            </a:r>
          </a:p>
        </p:txBody>
      </p:sp>
      <p:sp>
        <p:nvSpPr>
          <p:cNvPr id="8" name="takeaway">
            <a:extLst xmlns:a="http://schemas.openxmlformats.org/drawingml/2006/main">
              <a:ext uri="{FF2B5EF4-FFF2-40B4-BE49-F238E27FC236}">
                <a16:creationId xmlns:a16="http://schemas.microsoft.com/office/drawing/2014/main" id="{431E48AC-0621-46B6-8850-A74BA5307024}"/>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A confident paragraph is not evidence.</a:t>
            </a:r>
          </a:p>
        </p:txBody>
      </p:sp>
      <p:sp>
        <p:nvSpPr>
          <p:cNvPr id="9" name="footer">
            <a:extLst xmlns:a="http://schemas.openxmlformats.org/drawingml/2006/main">
              <a:ext uri="{FF2B5EF4-FFF2-40B4-BE49-F238E27FC236}">
                <a16:creationId xmlns:a16="http://schemas.microsoft.com/office/drawing/2014/main" id="{763EC7A2-5F5B-4396-A07B-4431ACBAA367}"/>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10" name="slide-number">
            <a:extLst xmlns:a="http://schemas.openxmlformats.org/drawingml/2006/main">
              <a:ext uri="{FF2B5EF4-FFF2-40B4-BE49-F238E27FC236}">
                <a16:creationId xmlns:a16="http://schemas.microsoft.com/office/drawing/2014/main" id="{5065DC05-1A16-48D7-8421-32039EABC66A}"/>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23</a:t>
            </a:r>
          </a:p>
        </p:txBody>
      </p:sp>
    </p:spTree>
    <p:extLst>
      <p:ext uri="{BB962C8B-B14F-4D97-AF65-F5344CB8AC3E}">
        <p14:creationId xmlns:p14="http://schemas.microsoft.com/office/powerpoint/2010/main" val="146850018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9FC491E-97C9-45FD-8184-AAD6C9CB16FD}"/>
              </a:ext>
            </a:extLst>
          </p:cNvPr>
          <p:cNvSpPr>
            <a:spLocks xmlns:a="http://schemas.openxmlformats.org/drawingml/2006/main" noGrp="1"/>
          </p:cNvSpPr>
          <p:nvPr/>
        </p:nvSpPr>
        <p:spPr>
          <a:xfrm xmlns:a="http://schemas.openxmlformats.org/drawingml/2006/main">
            <a:off x="548640" y="411480"/>
            <a:ext cx="11064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D2B26"/>
                </a:solidFill>
                <a:latin typeface="Bookman Old Style"/>
                <a:ea typeface="Bookman Old Style"/>
                <a:cs typeface="Bookman Old Style"/>
              </a:rPr>
              <a:t>LangGraph is Google Maps for your agent</a:t>
            </a:r>
            <a:endParaRPr sz="3200"/>
          </a:p>
        </p:txBody>
      </p:sp>
      <p:sp>
        <p:nvSpPr>
          <p:cNvPr id="4" name="Shape 1">
            <a:extLst xmlns:a="http://schemas.openxmlformats.org/drawingml/2006/main">
              <a:ext uri="{FF2B5EF4-FFF2-40B4-BE49-F238E27FC236}">
                <a16:creationId xmlns:a16="http://schemas.microsoft.com/office/drawing/2014/main" id="{B1D745A9-BC52-42D6-B0EE-2003E0CDFAFB}"/>
              </a:ext>
            </a:extLst>
          </p:cNvPr>
          <p:cNvSpPr>
            <a:spLocks xmlns:a="http://schemas.openxmlformats.org/drawingml/2006/main" noGrp="1"/>
          </p:cNvSpPr>
          <p:nvPr/>
        </p:nvSpPr>
        <p:spPr>
          <a:xfrm xmlns:a="http://schemas.openxmlformats.org/drawingml/2006/main">
            <a:off x="548640" y="1600200"/>
            <a:ext cx="2560320" cy="329184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2700">
            <a:solidFill>
              <a:srgbClr val="D9DED8"/>
            </a:solidFill>
            <a:prstDash val="solid"/>
          </a:ln>
        </p:spPr>
      </p:sp>
      <p:pic>
        <p:nvPicPr>
          <p:cNvPr id="5" name="Image 0">
            <a:extLst xmlns:a="http://schemas.openxmlformats.org/drawingml/2006/main">
              <a:ext uri="{FF2B5EF4-FFF2-40B4-BE49-F238E27FC236}">
                <a16:creationId xmlns:a16="http://schemas.microsoft.com/office/drawing/2014/main" id="{AE60A9D3-F020-41EB-BD06-90CD6DFD537E}"/>
              </a:ext>
            </a:extLst>
          </p:cNvPr>
          <p:cNvPicPr>
            <a:picLocks xmlns:a="http://schemas.openxmlformats.org/drawingml/2006/main" noChangeAspect="1"/>
          </p:cNvPicPr>
          <p:nvPr/>
        </p:nvPicPr>
        <p:blipFill>
          <a:blip xmlns:r="http://schemas.openxmlformats.org/officeDocument/2006/relationships" xmlns:a="http://schemas.openxmlformats.org/drawingml/2006/main" r:embed="Rcef71289d1974bf9"/>
          <a:stretch xmlns:a="http://schemas.openxmlformats.org/drawingml/2006/main">
            <a:fillRect l="0" t="0" r="0" b="0"/>
          </a:stretch>
        </p:blipFill>
        <p:spPr>
          <a:xfrm xmlns:a="http://schemas.openxmlformats.org/drawingml/2006/main">
            <a:off x="868680" y="1920240"/>
            <a:ext cx="640080" cy="640080"/>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C9E43FAF-91A2-46C5-AF2C-23CBC43BA99F}"/>
              </a:ext>
            </a:extLst>
          </p:cNvPr>
          <p:cNvSpPr>
            <a:spLocks xmlns:a="http://schemas.openxmlformats.org/drawingml/2006/main" noGrp="1"/>
          </p:cNvSpPr>
          <p:nvPr/>
        </p:nvSpPr>
        <p:spPr>
          <a:xfrm xmlns:a="http://schemas.openxmlformats.org/drawingml/2006/main">
            <a:off x="868680" y="2743200"/>
            <a:ext cx="1920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D2B26"/>
                </a:solidFill>
                <a:latin typeface="Bookman Old Style"/>
                <a:ea typeface="Bookman Old Style"/>
                <a:cs typeface="Bookman Old Style"/>
              </a:rPr>
              <a:t>State</a:t>
            </a:r>
            <a:endParaRPr sz="2200"/>
          </a:p>
        </p:txBody>
      </p:sp>
      <p:sp>
        <p:nvSpPr>
          <p:cNvPr id="7" name="Text 3">
            <a:extLst xmlns:a="http://schemas.openxmlformats.org/drawingml/2006/main">
              <a:ext uri="{FF2B5EF4-FFF2-40B4-BE49-F238E27FC236}">
                <a16:creationId xmlns:a16="http://schemas.microsoft.com/office/drawing/2014/main" id="{712CBCC1-DAB2-4617-AC9F-703D53D75289}"/>
              </a:ext>
            </a:extLst>
          </p:cNvPr>
          <p:cNvSpPr>
            <a:spLocks xmlns:a="http://schemas.openxmlformats.org/drawingml/2006/main" noGrp="1"/>
          </p:cNvSpPr>
          <p:nvPr/>
        </p:nvSpPr>
        <p:spPr>
          <a:xfrm xmlns:a="http://schemas.openxmlformats.org/drawingml/2006/main">
            <a:off x="868680" y="3566160"/>
            <a:ext cx="19202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a:solidFill>
                  <a:srgbClr val="5C6B66"/>
                </a:solidFill>
                <a:latin typeface="Calibri"/>
                <a:ea typeface="Calibri"/>
                <a:cs typeface="Calibri"/>
              </a:rPr>
              <a:t>Where you are + what's in your bag: question, budget, results.</a:t>
            </a:r>
            <a:endParaRPr sz="1900"/>
          </a:p>
        </p:txBody>
      </p:sp>
      <p:sp>
        <p:nvSpPr>
          <p:cNvPr id="8" name="Shape 4">
            <a:extLst xmlns:a="http://schemas.openxmlformats.org/drawingml/2006/main">
              <a:ext uri="{FF2B5EF4-FFF2-40B4-BE49-F238E27FC236}">
                <a16:creationId xmlns:a16="http://schemas.microsoft.com/office/drawing/2014/main" id="{4EE4A627-8E98-4072-8D94-012338FFD8F7}"/>
              </a:ext>
            </a:extLst>
          </p:cNvPr>
          <p:cNvSpPr>
            <a:spLocks xmlns:a="http://schemas.openxmlformats.org/drawingml/2006/main" noGrp="1"/>
          </p:cNvSpPr>
          <p:nvPr/>
        </p:nvSpPr>
        <p:spPr>
          <a:xfrm xmlns:a="http://schemas.openxmlformats.org/drawingml/2006/main">
            <a:off x="3383280" y="1600200"/>
            <a:ext cx="2560320" cy="329184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2700">
            <a:solidFill>
              <a:srgbClr val="D9DED8"/>
            </a:solidFill>
            <a:prstDash val="solid"/>
          </a:ln>
        </p:spPr>
      </p:sp>
      <p:pic>
        <p:nvPicPr>
          <p:cNvPr id="9" name="Image 1">
            <a:extLst xmlns:a="http://schemas.openxmlformats.org/drawingml/2006/main">
              <a:ext uri="{FF2B5EF4-FFF2-40B4-BE49-F238E27FC236}">
                <a16:creationId xmlns:a16="http://schemas.microsoft.com/office/drawing/2014/main" id="{5ADEB67A-AAB7-402F-A6BA-FBA32EF36A64}"/>
              </a:ext>
            </a:extLst>
          </p:cNvPr>
          <p:cNvPicPr>
            <a:picLocks xmlns:a="http://schemas.openxmlformats.org/drawingml/2006/main" noChangeAspect="1"/>
          </p:cNvPicPr>
          <p:nvPr/>
        </p:nvPicPr>
        <p:blipFill>
          <a:blip xmlns:r="http://schemas.openxmlformats.org/officeDocument/2006/relationships" xmlns:a="http://schemas.openxmlformats.org/drawingml/2006/main" r:embed="Rf8728c32664041f0"/>
          <a:stretch xmlns:a="http://schemas.openxmlformats.org/drawingml/2006/main">
            <a:fillRect l="0" t="0" r="0" b="0"/>
          </a:stretch>
        </p:blipFill>
        <p:spPr>
          <a:xfrm xmlns:a="http://schemas.openxmlformats.org/drawingml/2006/main">
            <a:off x="3703320" y="1920240"/>
            <a:ext cx="640080" cy="640080"/>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D1A710FE-C577-42C5-8B4F-94AA3E77C4A7}"/>
              </a:ext>
            </a:extLst>
          </p:cNvPr>
          <p:cNvSpPr>
            <a:spLocks xmlns:a="http://schemas.openxmlformats.org/drawingml/2006/main" noGrp="1"/>
          </p:cNvSpPr>
          <p:nvPr/>
        </p:nvSpPr>
        <p:spPr>
          <a:xfrm xmlns:a="http://schemas.openxmlformats.org/drawingml/2006/main">
            <a:off x="3703320" y="2743200"/>
            <a:ext cx="1920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D2B26"/>
                </a:solidFill>
                <a:latin typeface="Bookman Old Style"/>
                <a:ea typeface="Bookman Old Style"/>
                <a:cs typeface="Bookman Old Style"/>
              </a:rPr>
              <a:t>Nodes</a:t>
            </a:r>
            <a:endParaRPr sz="2200"/>
          </a:p>
        </p:txBody>
      </p:sp>
      <p:sp>
        <p:nvSpPr>
          <p:cNvPr id="11" name="Text 6">
            <a:extLst xmlns:a="http://schemas.openxmlformats.org/drawingml/2006/main">
              <a:ext uri="{FF2B5EF4-FFF2-40B4-BE49-F238E27FC236}">
                <a16:creationId xmlns:a16="http://schemas.microsoft.com/office/drawing/2014/main" id="{049DE6F1-4C7C-498C-B543-820B836B6880}"/>
              </a:ext>
            </a:extLst>
          </p:cNvPr>
          <p:cNvSpPr>
            <a:spLocks xmlns:a="http://schemas.openxmlformats.org/drawingml/2006/main" noGrp="1"/>
          </p:cNvSpPr>
          <p:nvPr/>
        </p:nvSpPr>
        <p:spPr>
          <a:xfrm xmlns:a="http://schemas.openxmlformats.org/drawingml/2006/main">
            <a:off x="3703320" y="3566160"/>
            <a:ext cx="19202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a:solidFill>
                  <a:srgbClr val="5C6B66"/>
                </a:solidFill>
                <a:latin typeface="Calibri"/>
                <a:ea typeface="Calibri"/>
                <a:cs typeface="Calibri"/>
              </a:rPr>
              <a:t>The stops. Each does one step: plain code, or an AI step.</a:t>
            </a:r>
            <a:endParaRPr sz="1900"/>
          </a:p>
        </p:txBody>
      </p:sp>
      <p:sp>
        <p:nvSpPr>
          <p:cNvPr id="12" name="Shape 7">
            <a:extLst xmlns:a="http://schemas.openxmlformats.org/drawingml/2006/main">
              <a:ext uri="{FF2B5EF4-FFF2-40B4-BE49-F238E27FC236}">
                <a16:creationId xmlns:a16="http://schemas.microsoft.com/office/drawing/2014/main" id="{5B74A321-0B0C-4BA2-918B-0DFFEB1EDE04}"/>
              </a:ext>
            </a:extLst>
          </p:cNvPr>
          <p:cNvSpPr>
            <a:spLocks xmlns:a="http://schemas.openxmlformats.org/drawingml/2006/main" noGrp="1"/>
          </p:cNvSpPr>
          <p:nvPr/>
        </p:nvSpPr>
        <p:spPr>
          <a:xfrm xmlns:a="http://schemas.openxmlformats.org/drawingml/2006/main">
            <a:off x="6217920" y="1600200"/>
            <a:ext cx="2560320" cy="329184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2700">
            <a:solidFill>
              <a:srgbClr val="D9DED8"/>
            </a:solidFill>
            <a:prstDash val="solid"/>
          </a:ln>
        </p:spPr>
      </p:sp>
      <p:pic>
        <p:nvPicPr>
          <p:cNvPr id="13" name="Image 2">
            <a:extLst xmlns:a="http://schemas.openxmlformats.org/drawingml/2006/main">
              <a:ext uri="{FF2B5EF4-FFF2-40B4-BE49-F238E27FC236}">
                <a16:creationId xmlns:a16="http://schemas.microsoft.com/office/drawing/2014/main" id="{42913FD3-B24B-40F5-BECA-B5775E120933}"/>
              </a:ext>
            </a:extLst>
          </p:cNvPr>
          <p:cNvPicPr>
            <a:picLocks xmlns:a="http://schemas.openxmlformats.org/drawingml/2006/main" noChangeAspect="1"/>
          </p:cNvPicPr>
          <p:nvPr/>
        </p:nvPicPr>
        <p:blipFill>
          <a:blip xmlns:r="http://schemas.openxmlformats.org/officeDocument/2006/relationships" xmlns:a="http://schemas.openxmlformats.org/drawingml/2006/main" r:embed="Rfd4baa9dee4f4df3"/>
          <a:stretch xmlns:a="http://schemas.openxmlformats.org/drawingml/2006/main">
            <a:fillRect l="0" t="0" r="0" b="0"/>
          </a:stretch>
        </p:blipFill>
        <p:spPr>
          <a:xfrm xmlns:a="http://schemas.openxmlformats.org/drawingml/2006/main">
            <a:off x="6537960" y="1920240"/>
            <a:ext cx="640080" cy="640080"/>
          </a:xfrm>
          <a:prstGeom xmlns:a="http://schemas.openxmlformats.org/drawingml/2006/main" prst="rect">
            <a:avLst/>
          </a:prstGeom>
        </p:spPr>
      </p:pic>
      <p:sp>
        <p:nvSpPr>
          <p:cNvPr id="14" name="Text 8">
            <a:extLst xmlns:a="http://schemas.openxmlformats.org/drawingml/2006/main">
              <a:ext uri="{FF2B5EF4-FFF2-40B4-BE49-F238E27FC236}">
                <a16:creationId xmlns:a16="http://schemas.microsoft.com/office/drawing/2014/main" id="{07A772E9-567C-45B1-BAC8-9E3CA4CBEEDF}"/>
              </a:ext>
            </a:extLst>
          </p:cNvPr>
          <p:cNvSpPr>
            <a:spLocks xmlns:a="http://schemas.openxmlformats.org/drawingml/2006/main" noGrp="1"/>
          </p:cNvSpPr>
          <p:nvPr/>
        </p:nvSpPr>
        <p:spPr>
          <a:xfrm xmlns:a="http://schemas.openxmlformats.org/drawingml/2006/main">
            <a:off x="6537960" y="2743200"/>
            <a:ext cx="1920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D2B26"/>
                </a:solidFill>
                <a:latin typeface="Bookman Old Style"/>
                <a:ea typeface="Bookman Old Style"/>
                <a:cs typeface="Bookman Old Style"/>
              </a:rPr>
              <a:t>Edges</a:t>
            </a:r>
            <a:endParaRPr sz="2200"/>
          </a:p>
        </p:txBody>
      </p:sp>
      <p:sp>
        <p:nvSpPr>
          <p:cNvPr id="15" name="Text 9">
            <a:extLst xmlns:a="http://schemas.openxmlformats.org/drawingml/2006/main">
              <a:ext uri="{FF2B5EF4-FFF2-40B4-BE49-F238E27FC236}">
                <a16:creationId xmlns:a16="http://schemas.microsoft.com/office/drawing/2014/main" id="{27E2732C-B272-41E9-AD10-B32A404B7986}"/>
              </a:ext>
            </a:extLst>
          </p:cNvPr>
          <p:cNvSpPr>
            <a:spLocks xmlns:a="http://schemas.openxmlformats.org/drawingml/2006/main" noGrp="1"/>
          </p:cNvSpPr>
          <p:nvPr/>
        </p:nvSpPr>
        <p:spPr>
          <a:xfrm xmlns:a="http://schemas.openxmlformats.org/drawingml/2006/main">
            <a:off x="6537960" y="3566160"/>
            <a:ext cx="19202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a:solidFill>
                  <a:srgbClr val="5C6B66"/>
                </a:solidFill>
                <a:latin typeface="Calibri"/>
                <a:ea typeface="Calibri"/>
                <a:cs typeface="Calibri"/>
              </a:rPr>
              <a:t>Routes between steps. Conditions choose where to go next.</a:t>
            </a:r>
            <a:endParaRPr sz="1900"/>
          </a:p>
        </p:txBody>
      </p:sp>
      <p:sp>
        <p:nvSpPr>
          <p:cNvPr id="16" name="Shape 10">
            <a:extLst xmlns:a="http://schemas.openxmlformats.org/drawingml/2006/main">
              <a:ext uri="{FF2B5EF4-FFF2-40B4-BE49-F238E27FC236}">
                <a16:creationId xmlns:a16="http://schemas.microsoft.com/office/drawing/2014/main" id="{D9588A8E-378F-465C-94EE-A78773887C9A}"/>
              </a:ext>
            </a:extLst>
          </p:cNvPr>
          <p:cNvSpPr>
            <a:spLocks xmlns:a="http://schemas.openxmlformats.org/drawingml/2006/main" noGrp="1"/>
          </p:cNvSpPr>
          <p:nvPr/>
        </p:nvSpPr>
        <p:spPr>
          <a:xfrm xmlns:a="http://schemas.openxmlformats.org/drawingml/2006/main">
            <a:off x="9052560" y="1600200"/>
            <a:ext cx="2560320" cy="329184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2700">
            <a:solidFill>
              <a:srgbClr val="D9DED8"/>
            </a:solidFill>
            <a:prstDash val="solid"/>
          </a:ln>
        </p:spPr>
      </p:sp>
      <p:pic>
        <p:nvPicPr>
          <p:cNvPr id="17" name="Image 3">
            <a:extLst xmlns:a="http://schemas.openxmlformats.org/drawingml/2006/main">
              <a:ext uri="{FF2B5EF4-FFF2-40B4-BE49-F238E27FC236}">
                <a16:creationId xmlns:a16="http://schemas.microsoft.com/office/drawing/2014/main" id="{42915D88-9E76-40DD-9707-3A620CB2048D}"/>
              </a:ext>
            </a:extLst>
          </p:cNvPr>
          <p:cNvPicPr>
            <a:picLocks xmlns:a="http://schemas.openxmlformats.org/drawingml/2006/main" noChangeAspect="1"/>
          </p:cNvPicPr>
          <p:nvPr/>
        </p:nvPicPr>
        <p:blipFill>
          <a:blip xmlns:r="http://schemas.openxmlformats.org/officeDocument/2006/relationships" xmlns:a="http://schemas.openxmlformats.org/drawingml/2006/main" r:embed="Rce4ebf78c1574952"/>
          <a:stretch xmlns:a="http://schemas.openxmlformats.org/drawingml/2006/main">
            <a:fillRect l="0" t="0" r="0" b="0"/>
          </a:stretch>
        </p:blipFill>
        <p:spPr>
          <a:xfrm xmlns:a="http://schemas.openxmlformats.org/drawingml/2006/main">
            <a:off x="9372600" y="1920240"/>
            <a:ext cx="640080" cy="640080"/>
          </a:xfrm>
          <a:prstGeom xmlns:a="http://schemas.openxmlformats.org/drawingml/2006/main" prst="rect">
            <a:avLst/>
          </a:prstGeom>
        </p:spPr>
      </p:pic>
      <p:sp>
        <p:nvSpPr>
          <p:cNvPr id="18" name="Text 11">
            <a:extLst xmlns:a="http://schemas.openxmlformats.org/drawingml/2006/main">
              <a:ext uri="{FF2B5EF4-FFF2-40B4-BE49-F238E27FC236}">
                <a16:creationId xmlns:a16="http://schemas.microsoft.com/office/drawing/2014/main" id="{1D6267A4-367D-4F9D-8F59-17E9D4991D67}"/>
              </a:ext>
            </a:extLst>
          </p:cNvPr>
          <p:cNvSpPr>
            <a:spLocks xmlns:a="http://schemas.openxmlformats.org/drawingml/2006/main" noGrp="1"/>
          </p:cNvSpPr>
          <p:nvPr/>
        </p:nvSpPr>
        <p:spPr>
          <a:xfrm xmlns:a="http://schemas.openxmlformats.org/drawingml/2006/main">
            <a:off x="9372600" y="2743200"/>
            <a:ext cx="1920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D2B26"/>
                </a:solidFill>
                <a:latin typeface="Bookman Old Style"/>
                <a:ea typeface="Bookman Old Style"/>
                <a:cs typeface="Bookman Old Style"/>
              </a:rPr>
              <a:t>Blocked?</a:t>
            </a:r>
            <a:endParaRPr sz="2200"/>
          </a:p>
        </p:txBody>
      </p:sp>
      <p:sp>
        <p:nvSpPr>
          <p:cNvPr id="19" name="Text 12">
            <a:extLst xmlns:a="http://schemas.openxmlformats.org/drawingml/2006/main">
              <a:ext uri="{FF2B5EF4-FFF2-40B4-BE49-F238E27FC236}">
                <a16:creationId xmlns:a16="http://schemas.microsoft.com/office/drawing/2014/main" id="{F8452413-3F6B-46BB-89EF-D2BB5A788A8F}"/>
              </a:ext>
            </a:extLst>
          </p:cNvPr>
          <p:cNvSpPr>
            <a:spLocks xmlns:a="http://schemas.openxmlformats.org/drawingml/2006/main" noGrp="1"/>
          </p:cNvSpPr>
          <p:nvPr/>
        </p:nvSpPr>
        <p:spPr>
          <a:xfrm xmlns:a="http://schemas.openxmlformats.org/drawingml/2006/main">
            <a:off x="9372600" y="3566160"/>
            <a:ext cx="19202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a:solidFill>
                  <a:srgbClr val="5C6B66"/>
                </a:solidFill>
                <a:latin typeface="Calibri"/>
                <a:ea typeface="Calibri"/>
                <a:cs typeface="Calibri"/>
              </a:rPr>
              <a:t>“Route blocked, recalculating.” That's your retry and failure path.</a:t>
            </a:r>
            <a:endParaRPr sz="1900"/>
          </a:p>
        </p:txBody>
      </p:sp>
      <p:sp>
        <p:nvSpPr>
          <p:cNvPr id="25" name="Slide Number Placeholder 0">
            <a:extLst xmlns:a="http://schemas.openxmlformats.org/drawingml/2006/main">
              <a:ext uri="{FF2B5EF4-FFF2-40B4-BE49-F238E27FC236}">
                <a16:creationId xmlns:a16="http://schemas.microsoft.com/office/drawing/2014/main" id="{76456E2B-5E83-438E-9237-6B1B1036926B}"/>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4A59AF09-D197-0193-A7DE-FAAF0B691058}" type="slidenum">
              <a:rPr b="0"/>
              <a:t>24</a:t>
            </a:fld>
            <a:endParaRPr/>
          </a:p>
        </p:txBody>
      </p:sp>
    </p:spTree>
    <p:extLst>
      <p:ext uri="{BB962C8B-B14F-4D97-AF65-F5344CB8AC3E}">
        <p14:creationId xmlns:p14="http://schemas.microsoft.com/office/powerpoint/2010/main" val="140972342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249CDE-AFB1-49E5-A5BC-6096C493B366}"/>
              </a:ext>
            </a:extLst>
          </p:cNvPr>
          <p:cNvSpPr>
            <a:spLocks xmlns:a="http://schemas.openxmlformats.org/drawingml/2006/main" noGrp="1"/>
          </p:cNvSpPr>
          <p:nvPr/>
        </p:nvSpPr>
        <p:spPr>
          <a:xfrm xmlns:a="http://schemas.openxmlformats.org/drawingml/2006/main">
            <a:off x="548640" y="411480"/>
            <a:ext cx="11064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D2B26"/>
                </a:solidFill>
                <a:latin typeface="Bookman Old Style"/>
                <a:ea typeface="Bookman Old Style"/>
                <a:cs typeface="Bookman Old Style"/>
              </a:rPr>
              <a:t>Our canteen graph</a:t>
            </a:r>
            <a:endParaRPr sz="3200"/>
          </a:p>
        </p:txBody>
      </p:sp>
      <p:sp>
        <p:nvSpPr>
          <p:cNvPr id="4" name="Shape 1">
            <a:extLst xmlns:a="http://schemas.openxmlformats.org/drawingml/2006/main">
              <a:ext uri="{FF2B5EF4-FFF2-40B4-BE49-F238E27FC236}">
                <a16:creationId xmlns:a16="http://schemas.microsoft.com/office/drawing/2014/main" id="{73E35038-6701-4557-92C9-6C831F769495}"/>
              </a:ext>
            </a:extLst>
          </p:cNvPr>
          <p:cNvSpPr>
            <a:spLocks xmlns:a="http://schemas.openxmlformats.org/drawingml/2006/main" noGrp="1"/>
          </p:cNvSpPr>
          <p:nvPr/>
        </p:nvSpPr>
        <p:spPr>
          <a:xfrm xmlns:a="http://schemas.openxmlformats.org/drawingml/2006/main">
            <a:off x="548640" y="3017520"/>
            <a:ext cx="1828800" cy="82296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2700">
            <a:solidFill>
              <a:srgbClr val="1D2B26"/>
            </a:solidFill>
            <a:prstDash val="solid"/>
          </a:ln>
        </p:spPr>
      </p:sp>
      <p:sp>
        <p:nvSpPr>
          <p:cNvPr id="5" name="Text 2">
            <a:extLst xmlns:a="http://schemas.openxmlformats.org/drawingml/2006/main">
              <a:ext uri="{FF2B5EF4-FFF2-40B4-BE49-F238E27FC236}">
                <a16:creationId xmlns:a16="http://schemas.microsoft.com/office/drawing/2014/main" id="{3D62171F-13D1-48CE-A6BD-F3F7AFB39058}"/>
              </a:ext>
            </a:extLst>
          </p:cNvPr>
          <p:cNvSpPr>
            <a:spLocks xmlns:a="http://schemas.openxmlformats.org/drawingml/2006/main" noGrp="1"/>
          </p:cNvSpPr>
          <p:nvPr/>
        </p:nvSpPr>
        <p:spPr>
          <a:xfrm xmlns:a="http://schemas.openxmlformats.org/drawingml/2006/main">
            <a:off x="548640" y="3218688"/>
            <a:ext cx="1828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Read request</a:t>
            </a:r>
            <a:endParaRPr sz="1800"/>
          </a:p>
        </p:txBody>
      </p:sp>
      <p:sp>
        <p:nvSpPr>
          <p:cNvPr id="6" name="Shape 3">
            <a:extLst xmlns:a="http://schemas.openxmlformats.org/drawingml/2006/main">
              <a:ext uri="{FF2B5EF4-FFF2-40B4-BE49-F238E27FC236}">
                <a16:creationId xmlns:a16="http://schemas.microsoft.com/office/drawing/2014/main" id="{32FD4B96-1DDD-4134-AC08-A7FEB4A719DE}"/>
              </a:ext>
            </a:extLst>
          </p:cNvPr>
          <p:cNvSpPr>
            <a:spLocks xmlns:a="http://schemas.openxmlformats.org/drawingml/2006/main" noGrp="1"/>
          </p:cNvSpPr>
          <p:nvPr/>
        </p:nvSpPr>
        <p:spPr>
          <a:xfrm xmlns:a="http://schemas.openxmlformats.org/drawingml/2006/main">
            <a:off x="2926080" y="1554480"/>
            <a:ext cx="2194560" cy="82296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2700">
            <a:solidFill>
              <a:srgbClr val="F2B33D"/>
            </a:solidFill>
            <a:prstDash val="solid"/>
          </a:ln>
        </p:spPr>
      </p:sp>
      <p:sp>
        <p:nvSpPr>
          <p:cNvPr id="7" name="Text 4">
            <a:extLst xmlns:a="http://schemas.openxmlformats.org/drawingml/2006/main">
              <a:ext uri="{FF2B5EF4-FFF2-40B4-BE49-F238E27FC236}">
                <a16:creationId xmlns:a16="http://schemas.microsoft.com/office/drawing/2014/main" id="{66D47FD8-00AF-4E45-AB63-067D45370409}"/>
              </a:ext>
            </a:extLst>
          </p:cNvPr>
          <p:cNvSpPr>
            <a:spLocks xmlns:a="http://schemas.openxmlformats.org/drawingml/2006/main" noGrp="1"/>
          </p:cNvSpPr>
          <p:nvPr/>
        </p:nvSpPr>
        <p:spPr>
          <a:xfrm xmlns:a="http://schemas.openxmlformats.org/drawingml/2006/main">
            <a:off x="2926080" y="1755648"/>
            <a:ext cx="2194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Ask for budget</a:t>
            </a:r>
            <a:endParaRPr sz="1800"/>
          </a:p>
        </p:txBody>
      </p:sp>
      <p:sp>
        <p:nvSpPr>
          <p:cNvPr id="8" name="Shape 5">
            <a:extLst xmlns:a="http://schemas.openxmlformats.org/drawingml/2006/main">
              <a:ext uri="{FF2B5EF4-FFF2-40B4-BE49-F238E27FC236}">
                <a16:creationId xmlns:a16="http://schemas.microsoft.com/office/drawing/2014/main" id="{19D6381F-CE69-4E41-9B98-4593131F877F}"/>
              </a:ext>
            </a:extLst>
          </p:cNvPr>
          <p:cNvSpPr>
            <a:spLocks xmlns:a="http://schemas.openxmlformats.org/drawingml/2006/main" noGrp="1"/>
          </p:cNvSpPr>
          <p:nvPr/>
        </p:nvSpPr>
        <p:spPr>
          <a:xfrm xmlns:a="http://schemas.openxmlformats.org/drawingml/2006/main">
            <a:off x="2926080" y="3017520"/>
            <a:ext cx="1828800" cy="82296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2700">
            <a:solidFill>
              <a:srgbClr val="3B9C5A"/>
            </a:solidFill>
            <a:prstDash val="solid"/>
          </a:ln>
        </p:spPr>
      </p:sp>
      <p:sp>
        <p:nvSpPr>
          <p:cNvPr id="9" name="Text 6">
            <a:extLst xmlns:a="http://schemas.openxmlformats.org/drawingml/2006/main">
              <a:ext uri="{FF2B5EF4-FFF2-40B4-BE49-F238E27FC236}">
                <a16:creationId xmlns:a16="http://schemas.microsoft.com/office/drawing/2014/main" id="{5EC454F0-9318-4A71-AE65-A976916F4418}"/>
              </a:ext>
            </a:extLst>
          </p:cNvPr>
          <p:cNvSpPr>
            <a:spLocks xmlns:a="http://schemas.openxmlformats.org/drawingml/2006/main" noGrp="1"/>
          </p:cNvSpPr>
          <p:nvPr/>
        </p:nvSpPr>
        <p:spPr>
          <a:xfrm xmlns:a="http://schemas.openxmlformats.org/drawingml/2006/main">
            <a:off x="2926080" y="3218688"/>
            <a:ext cx="1828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Search menu</a:t>
            </a:r>
            <a:endParaRPr sz="1800"/>
          </a:p>
        </p:txBody>
      </p:sp>
      <p:sp>
        <p:nvSpPr>
          <p:cNvPr id="10" name="Shape 7">
            <a:extLst xmlns:a="http://schemas.openxmlformats.org/drawingml/2006/main">
              <a:ext uri="{FF2B5EF4-FFF2-40B4-BE49-F238E27FC236}">
                <a16:creationId xmlns:a16="http://schemas.microsoft.com/office/drawing/2014/main" id="{86905B89-AED0-4F35-B884-9A06BF578AD7}"/>
              </a:ext>
            </a:extLst>
          </p:cNvPr>
          <p:cNvSpPr>
            <a:spLocks xmlns:a="http://schemas.openxmlformats.org/drawingml/2006/main" noGrp="1"/>
          </p:cNvSpPr>
          <p:nvPr/>
        </p:nvSpPr>
        <p:spPr>
          <a:xfrm xmlns:a="http://schemas.openxmlformats.org/drawingml/2006/main">
            <a:off x="5303520" y="3017520"/>
            <a:ext cx="1828800" cy="82296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2700">
            <a:solidFill>
              <a:srgbClr val="3B9C5A"/>
            </a:solidFill>
            <a:prstDash val="solid"/>
          </a:ln>
        </p:spPr>
      </p:sp>
      <p:sp>
        <p:nvSpPr>
          <p:cNvPr id="11" name="Text 8">
            <a:extLst xmlns:a="http://schemas.openxmlformats.org/drawingml/2006/main">
              <a:ext uri="{FF2B5EF4-FFF2-40B4-BE49-F238E27FC236}">
                <a16:creationId xmlns:a16="http://schemas.microsoft.com/office/drawing/2014/main" id="{2FFEE209-A7F7-4FD3-B104-A2283BDCDD3C}"/>
              </a:ext>
            </a:extLst>
          </p:cNvPr>
          <p:cNvSpPr>
            <a:spLocks xmlns:a="http://schemas.openxmlformats.org/drawingml/2006/main" noGrp="1"/>
          </p:cNvSpPr>
          <p:nvPr/>
        </p:nvSpPr>
        <p:spPr>
          <a:xfrm xmlns:a="http://schemas.openxmlformats.org/drawingml/2006/main">
            <a:off x="5303520" y="3218688"/>
            <a:ext cx="1828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Check hours</a:t>
            </a:r>
            <a:endParaRPr sz="1800"/>
          </a:p>
        </p:txBody>
      </p:sp>
      <p:sp>
        <p:nvSpPr>
          <p:cNvPr id="12" name="Shape 9">
            <a:extLst xmlns:a="http://schemas.openxmlformats.org/drawingml/2006/main">
              <a:ext uri="{FF2B5EF4-FFF2-40B4-BE49-F238E27FC236}">
                <a16:creationId xmlns:a16="http://schemas.microsoft.com/office/drawing/2014/main" id="{4BA7B446-FE5E-4A88-97FD-9F10F860BBF2}"/>
              </a:ext>
            </a:extLst>
          </p:cNvPr>
          <p:cNvSpPr>
            <a:spLocks xmlns:a="http://schemas.openxmlformats.org/drawingml/2006/main" noGrp="1"/>
          </p:cNvSpPr>
          <p:nvPr/>
        </p:nvSpPr>
        <p:spPr>
          <a:xfrm xmlns:a="http://schemas.openxmlformats.org/drawingml/2006/main">
            <a:off x="7680960" y="3017520"/>
            <a:ext cx="1554480" cy="82296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2700">
            <a:solidFill>
              <a:srgbClr val="1D2B26"/>
            </a:solidFill>
            <a:prstDash val="solid"/>
          </a:ln>
        </p:spPr>
      </p:sp>
      <p:sp>
        <p:nvSpPr>
          <p:cNvPr id="13" name="Text 10">
            <a:extLst xmlns:a="http://schemas.openxmlformats.org/drawingml/2006/main">
              <a:ext uri="{FF2B5EF4-FFF2-40B4-BE49-F238E27FC236}">
                <a16:creationId xmlns:a16="http://schemas.microsoft.com/office/drawing/2014/main" id="{6F383049-7B5A-4D1F-B95C-09C59B2479AD}"/>
              </a:ext>
            </a:extLst>
          </p:cNvPr>
          <p:cNvSpPr>
            <a:spLocks xmlns:a="http://schemas.openxmlformats.org/drawingml/2006/main" noGrp="1"/>
          </p:cNvSpPr>
          <p:nvPr/>
        </p:nvSpPr>
        <p:spPr>
          <a:xfrm xmlns:a="http://schemas.openxmlformats.org/drawingml/2006/main">
            <a:off x="7680960" y="3218688"/>
            <a:ext cx="1554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Verify</a:t>
            </a:r>
            <a:endParaRPr sz="1800"/>
          </a:p>
        </p:txBody>
      </p:sp>
      <p:sp>
        <p:nvSpPr>
          <p:cNvPr id="14" name="Shape 11">
            <a:extLst xmlns:a="http://schemas.openxmlformats.org/drawingml/2006/main">
              <a:ext uri="{FF2B5EF4-FFF2-40B4-BE49-F238E27FC236}">
                <a16:creationId xmlns:a16="http://schemas.microsoft.com/office/drawing/2014/main" id="{6D9B1DC5-1C54-4D36-8205-8D2B37F0FD22}"/>
              </a:ext>
            </a:extLst>
          </p:cNvPr>
          <p:cNvSpPr>
            <a:spLocks xmlns:a="http://schemas.openxmlformats.org/drawingml/2006/main" noGrp="1"/>
          </p:cNvSpPr>
          <p:nvPr/>
        </p:nvSpPr>
        <p:spPr>
          <a:xfrm xmlns:a="http://schemas.openxmlformats.org/drawingml/2006/main">
            <a:off x="9784080" y="3017520"/>
            <a:ext cx="1828800" cy="82296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2700">
            <a:solidFill>
              <a:srgbClr val="3B9C5A"/>
            </a:solidFill>
            <a:prstDash val="solid"/>
          </a:ln>
        </p:spPr>
      </p:sp>
      <p:sp>
        <p:nvSpPr>
          <p:cNvPr id="15" name="Text 12">
            <a:extLst xmlns:a="http://schemas.openxmlformats.org/drawingml/2006/main">
              <a:ext uri="{FF2B5EF4-FFF2-40B4-BE49-F238E27FC236}">
                <a16:creationId xmlns:a16="http://schemas.microsoft.com/office/drawing/2014/main" id="{49460632-29D8-43F6-A067-11A535C67BF1}"/>
              </a:ext>
            </a:extLst>
          </p:cNvPr>
          <p:cNvSpPr>
            <a:spLocks xmlns:a="http://schemas.openxmlformats.org/drawingml/2006/main" noGrp="1"/>
          </p:cNvSpPr>
          <p:nvPr/>
        </p:nvSpPr>
        <p:spPr>
          <a:xfrm xmlns:a="http://schemas.openxmlformats.org/drawingml/2006/main">
            <a:off x="9784080" y="3218688"/>
            <a:ext cx="1828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D2B26"/>
                </a:solidFill>
                <a:latin typeface="Calibri"/>
                <a:ea typeface="Calibri"/>
                <a:cs typeface="Calibri"/>
              </a:rPr>
              <a:t>Answer</a:t>
            </a:r>
            <a:endParaRPr sz="1800"/>
          </a:p>
        </p:txBody>
      </p:sp>
      <p:sp>
        <p:nvSpPr>
          <p:cNvPr id="16" name="Shape 13">
            <a:extLst xmlns:a="http://schemas.openxmlformats.org/drawingml/2006/main">
              <a:ext uri="{FF2B5EF4-FFF2-40B4-BE49-F238E27FC236}">
                <a16:creationId xmlns:a16="http://schemas.microsoft.com/office/drawing/2014/main" id="{4FE9678E-E001-4874-B200-FB28430A4DF9}"/>
              </a:ext>
            </a:extLst>
          </p:cNvPr>
          <p:cNvSpPr>
            <a:spLocks xmlns:a="http://schemas.openxmlformats.org/drawingml/2006/main" noGrp="1"/>
          </p:cNvSpPr>
          <p:nvPr/>
        </p:nvSpPr>
        <p:spPr>
          <a:xfrm xmlns:a="http://schemas.openxmlformats.org/drawingml/2006/main">
            <a:off x="2423160" y="3429000"/>
            <a:ext cx="457200" cy="0"/>
          </a:xfrm>
          <a:prstGeom xmlns:a="http://schemas.openxmlformats.org/drawingml/2006/main" prst="line">
            <a:avLst/>
          </a:prstGeom>
          <a:noFill xmlns:a="http://schemas.openxmlformats.org/drawingml/2006/main"/>
          <a:ln xmlns:a="http://schemas.openxmlformats.org/drawingml/2006/main" w="28575">
            <a:solidFill>
              <a:srgbClr val="5C6B66"/>
            </a:solidFill>
            <a:prstDash val="solid"/>
            <a:tailEnd type="triangle"/>
          </a:ln>
        </p:spPr>
      </p:sp>
      <p:sp>
        <p:nvSpPr>
          <p:cNvPr id="17" name="Shape 14">
            <a:extLst xmlns:a="http://schemas.openxmlformats.org/drawingml/2006/main">
              <a:ext uri="{FF2B5EF4-FFF2-40B4-BE49-F238E27FC236}">
                <a16:creationId xmlns:a16="http://schemas.microsoft.com/office/drawing/2014/main" id="{221EF905-B338-4529-8F5C-5BCF0807BA8D}"/>
              </a:ext>
            </a:extLst>
          </p:cNvPr>
          <p:cNvSpPr>
            <a:spLocks xmlns:a="http://schemas.openxmlformats.org/drawingml/2006/main" noGrp="1"/>
          </p:cNvSpPr>
          <p:nvPr/>
        </p:nvSpPr>
        <p:spPr>
          <a:xfrm xmlns:a="http://schemas.openxmlformats.org/drawingml/2006/main">
            <a:off x="4800600" y="3429000"/>
            <a:ext cx="457200" cy="0"/>
          </a:xfrm>
          <a:prstGeom xmlns:a="http://schemas.openxmlformats.org/drawingml/2006/main" prst="line">
            <a:avLst/>
          </a:prstGeom>
          <a:noFill xmlns:a="http://schemas.openxmlformats.org/drawingml/2006/main"/>
          <a:ln xmlns:a="http://schemas.openxmlformats.org/drawingml/2006/main" w="28575">
            <a:solidFill>
              <a:srgbClr val="5C6B66"/>
            </a:solidFill>
            <a:prstDash val="solid"/>
            <a:tailEnd type="triangle"/>
          </a:ln>
        </p:spPr>
      </p:sp>
      <p:sp>
        <p:nvSpPr>
          <p:cNvPr id="18" name="Shape 15">
            <a:extLst xmlns:a="http://schemas.openxmlformats.org/drawingml/2006/main">
              <a:ext uri="{FF2B5EF4-FFF2-40B4-BE49-F238E27FC236}">
                <a16:creationId xmlns:a16="http://schemas.microsoft.com/office/drawing/2014/main" id="{25A35E60-6962-470F-9833-29413FCD8EDB}"/>
              </a:ext>
            </a:extLst>
          </p:cNvPr>
          <p:cNvSpPr>
            <a:spLocks xmlns:a="http://schemas.openxmlformats.org/drawingml/2006/main" noGrp="1"/>
          </p:cNvSpPr>
          <p:nvPr/>
        </p:nvSpPr>
        <p:spPr>
          <a:xfrm xmlns:a="http://schemas.openxmlformats.org/drawingml/2006/main">
            <a:off x="7178040" y="3429000"/>
            <a:ext cx="457200" cy="0"/>
          </a:xfrm>
          <a:prstGeom xmlns:a="http://schemas.openxmlformats.org/drawingml/2006/main" prst="line">
            <a:avLst/>
          </a:prstGeom>
          <a:noFill xmlns:a="http://schemas.openxmlformats.org/drawingml/2006/main"/>
          <a:ln xmlns:a="http://schemas.openxmlformats.org/drawingml/2006/main" w="28575">
            <a:solidFill>
              <a:srgbClr val="5C6B66"/>
            </a:solidFill>
            <a:prstDash val="solid"/>
            <a:tailEnd type="triangle"/>
          </a:ln>
        </p:spPr>
      </p:sp>
      <p:sp>
        <p:nvSpPr>
          <p:cNvPr id="19" name="Shape 16">
            <a:extLst xmlns:a="http://schemas.openxmlformats.org/drawingml/2006/main">
              <a:ext uri="{FF2B5EF4-FFF2-40B4-BE49-F238E27FC236}">
                <a16:creationId xmlns:a16="http://schemas.microsoft.com/office/drawing/2014/main" id="{15E68160-530A-4D72-9141-F23505466EDB}"/>
              </a:ext>
            </a:extLst>
          </p:cNvPr>
          <p:cNvSpPr>
            <a:spLocks xmlns:a="http://schemas.openxmlformats.org/drawingml/2006/main" noGrp="1"/>
          </p:cNvSpPr>
          <p:nvPr/>
        </p:nvSpPr>
        <p:spPr>
          <a:xfrm xmlns:a="http://schemas.openxmlformats.org/drawingml/2006/main">
            <a:off x="9281160" y="3429000"/>
            <a:ext cx="457200" cy="0"/>
          </a:xfrm>
          <a:prstGeom xmlns:a="http://schemas.openxmlformats.org/drawingml/2006/main" prst="line">
            <a:avLst/>
          </a:prstGeom>
          <a:noFill xmlns:a="http://schemas.openxmlformats.org/drawingml/2006/main"/>
          <a:ln xmlns:a="http://schemas.openxmlformats.org/drawingml/2006/main" w="28575">
            <a:solidFill>
              <a:srgbClr val="5C6B66"/>
            </a:solidFill>
            <a:prstDash val="solid"/>
            <a:tailEnd type="triangle"/>
          </a:ln>
        </p:spPr>
      </p:sp>
      <p:sp>
        <p:nvSpPr>
          <p:cNvPr id="20" name="Shape 17">
            <a:extLst xmlns:a="http://schemas.openxmlformats.org/drawingml/2006/main">
              <a:ext uri="{FF2B5EF4-FFF2-40B4-BE49-F238E27FC236}">
                <a16:creationId xmlns:a16="http://schemas.microsoft.com/office/drawing/2014/main" id="{4616DBD4-99BD-4E78-A390-B719220F686B}"/>
              </a:ext>
            </a:extLst>
          </p:cNvPr>
          <p:cNvSpPr>
            <a:spLocks xmlns:a="http://schemas.openxmlformats.org/drawingml/2006/main" noGrp="1"/>
          </p:cNvSpPr>
          <p:nvPr/>
        </p:nvSpPr>
        <p:spPr>
          <a:xfrm xmlns:a="http://schemas.openxmlformats.org/drawingml/2006/main">
            <a:off x="1463040" y="1965960"/>
            <a:ext cx="0" cy="1051560"/>
          </a:xfrm>
          <a:prstGeom xmlns:a="http://schemas.openxmlformats.org/drawingml/2006/main" prst="line">
            <a:avLst/>
          </a:prstGeom>
          <a:noFill xmlns:a="http://schemas.openxmlformats.org/drawingml/2006/main"/>
          <a:ln xmlns:a="http://schemas.openxmlformats.org/drawingml/2006/main" w="28575">
            <a:solidFill>
              <a:srgbClr val="F2B33D"/>
            </a:solidFill>
            <a:prstDash val="solid"/>
          </a:ln>
        </p:spPr>
      </p:sp>
      <p:sp>
        <p:nvSpPr>
          <p:cNvPr id="21" name="Shape 18">
            <a:extLst xmlns:a="http://schemas.openxmlformats.org/drawingml/2006/main">
              <a:ext uri="{FF2B5EF4-FFF2-40B4-BE49-F238E27FC236}">
                <a16:creationId xmlns:a16="http://schemas.microsoft.com/office/drawing/2014/main" id="{54A1BEE9-580C-4A72-AF85-6B56BD69693B}"/>
              </a:ext>
            </a:extLst>
          </p:cNvPr>
          <p:cNvSpPr>
            <a:spLocks xmlns:a="http://schemas.openxmlformats.org/drawingml/2006/main" noGrp="1"/>
          </p:cNvSpPr>
          <p:nvPr/>
        </p:nvSpPr>
        <p:spPr>
          <a:xfrm xmlns:a="http://schemas.openxmlformats.org/drawingml/2006/main">
            <a:off x="1463040" y="1965960"/>
            <a:ext cx="1417320" cy="0"/>
          </a:xfrm>
          <a:prstGeom xmlns:a="http://schemas.openxmlformats.org/drawingml/2006/main" prst="line">
            <a:avLst/>
          </a:prstGeom>
          <a:noFill xmlns:a="http://schemas.openxmlformats.org/drawingml/2006/main"/>
          <a:ln xmlns:a="http://schemas.openxmlformats.org/drawingml/2006/main" w="28575">
            <a:solidFill>
              <a:srgbClr val="F2B33D"/>
            </a:solidFill>
            <a:prstDash val="solid"/>
            <a:tailEnd type="triangle"/>
          </a:ln>
        </p:spPr>
      </p:sp>
      <p:sp>
        <p:nvSpPr>
          <p:cNvPr id="22" name="Text 19">
            <a:extLst xmlns:a="http://schemas.openxmlformats.org/drawingml/2006/main">
              <a:ext uri="{FF2B5EF4-FFF2-40B4-BE49-F238E27FC236}">
                <a16:creationId xmlns:a16="http://schemas.microsoft.com/office/drawing/2014/main" id="{7B7FE53C-D0DF-477D-B361-7440E8B50FA5}"/>
              </a:ext>
            </a:extLst>
          </p:cNvPr>
          <p:cNvSpPr>
            <a:spLocks xmlns:a="http://schemas.openxmlformats.org/drawingml/2006/main" noGrp="1"/>
          </p:cNvSpPr>
          <p:nvPr/>
        </p:nvSpPr>
        <p:spPr>
          <a:xfrm xmlns:a="http://schemas.openxmlformats.org/drawingml/2006/main">
            <a:off x="1554480" y="141732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i="1">
                <a:solidFill>
                  <a:srgbClr val="5C6B66"/>
                </a:solidFill>
                <a:latin typeface="Calibri"/>
                <a:ea typeface="Calibri"/>
                <a:cs typeface="Calibri"/>
              </a:rPr>
              <a:t>no budget?</a:t>
            </a:r>
            <a:endParaRPr sz="1400"/>
          </a:p>
        </p:txBody>
      </p:sp>
      <p:sp>
        <p:nvSpPr>
          <p:cNvPr id="23" name="Text 20">
            <a:extLst xmlns:a="http://schemas.openxmlformats.org/drawingml/2006/main">
              <a:ext uri="{FF2B5EF4-FFF2-40B4-BE49-F238E27FC236}">
                <a16:creationId xmlns:a16="http://schemas.microsoft.com/office/drawing/2014/main" id="{58E9C97C-9378-4F6E-9872-948D048F4110}"/>
              </a:ext>
            </a:extLst>
          </p:cNvPr>
          <p:cNvSpPr>
            <a:spLocks xmlns:a="http://schemas.openxmlformats.org/drawingml/2006/main" noGrp="1"/>
          </p:cNvSpPr>
          <p:nvPr/>
        </p:nvSpPr>
        <p:spPr>
          <a:xfrm xmlns:a="http://schemas.openxmlformats.org/drawingml/2006/main">
            <a:off x="5212080" y="1783080"/>
            <a:ext cx="2377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i="1">
                <a:solidFill>
                  <a:srgbClr val="5C6B66"/>
                </a:solidFill>
                <a:latin typeface="Calibri"/>
                <a:ea typeface="Calibri"/>
                <a:cs typeface="Calibri"/>
              </a:rPr>
              <a:t>→ ask, then end this run</a:t>
            </a:r>
            <a:endParaRPr sz="1400"/>
          </a:p>
        </p:txBody>
      </p:sp>
      <p:pic>
        <p:nvPicPr>
          <p:cNvPr id="24" name="Image 0">
            <a:extLst xmlns:a="http://schemas.openxmlformats.org/drawingml/2006/main">
              <a:ext uri="{FF2B5EF4-FFF2-40B4-BE49-F238E27FC236}">
                <a16:creationId xmlns:a16="http://schemas.microsoft.com/office/drawing/2014/main" id="{7AAEA597-2588-41C9-BA83-C1016566BFFD}"/>
              </a:ext>
            </a:extLst>
          </p:cNvPr>
          <p:cNvPicPr>
            <a:picLocks xmlns:a="http://schemas.openxmlformats.org/drawingml/2006/main" noChangeAspect="1"/>
          </p:cNvPicPr>
          <p:nvPr/>
        </p:nvPicPr>
        <p:blipFill>
          <a:blip xmlns:r="http://schemas.openxmlformats.org/officeDocument/2006/relationships" xmlns:a="http://schemas.openxmlformats.org/drawingml/2006/main" r:embed="R72c941954b814385"/>
          <a:stretch xmlns:a="http://schemas.openxmlformats.org/drawingml/2006/main">
            <a:fillRect l="0" t="0" r="0" b="0"/>
          </a:stretch>
        </p:blipFill>
        <p:spPr>
          <a:xfrm xmlns:a="http://schemas.openxmlformats.org/drawingml/2006/main">
            <a:off x="3611880" y="3977640"/>
            <a:ext cx="457200" cy="457200"/>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A6004B26-9959-4410-B559-F9B2D71C3C56}"/>
              </a:ext>
            </a:extLst>
          </p:cNvPr>
          <p:cNvSpPr>
            <a:spLocks xmlns:a="http://schemas.openxmlformats.org/drawingml/2006/main" noGrp="1"/>
          </p:cNvSpPr>
          <p:nvPr/>
        </p:nvSpPr>
        <p:spPr>
          <a:xfrm xmlns:a="http://schemas.openxmlformats.org/drawingml/2006/main">
            <a:off x="2468880" y="45262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i="1">
                <a:solidFill>
                  <a:srgbClr val="E4572E"/>
                </a:solidFill>
                <a:latin typeface="Calibri"/>
                <a:ea typeface="Calibri"/>
                <a:cs typeface="Calibri"/>
              </a:rPr>
              <a:t>failed? retry once (2 attempts)</a:t>
            </a:r>
            <a:endParaRPr sz="1500"/>
          </a:p>
        </p:txBody>
      </p:sp>
      <p:sp>
        <p:nvSpPr>
          <p:cNvPr id="26" name="Text 22">
            <a:extLst xmlns:a="http://schemas.openxmlformats.org/drawingml/2006/main">
              <a:ext uri="{FF2B5EF4-FFF2-40B4-BE49-F238E27FC236}">
                <a16:creationId xmlns:a16="http://schemas.microsoft.com/office/drawing/2014/main" id="{F2A482DA-9117-486D-A36D-4F4C83E1B3E3}"/>
              </a:ext>
            </a:extLst>
          </p:cNvPr>
          <p:cNvSpPr>
            <a:spLocks xmlns:a="http://schemas.openxmlformats.org/drawingml/2006/main" noGrp="1"/>
          </p:cNvSpPr>
          <p:nvPr/>
        </p:nvSpPr>
        <p:spPr>
          <a:xfrm xmlns:a="http://schemas.openxmlformats.org/drawingml/2006/main">
            <a:off x="548640" y="539496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400" b="1">
                <a:solidFill>
                  <a:srgbClr val="1D2B26"/>
                </a:solidFill>
                <a:latin typeface="Bookman Old Style"/>
                <a:ea typeface="Bookman Old Style"/>
                <a:cs typeface="Bookman Old Style"/>
              </a:rPr>
              <a:t>Every arrow is a decision made by OUR code.</a:t>
            </a:r>
            <a:endParaRPr sz="2400"/>
          </a:p>
        </p:txBody>
      </p:sp>
      <p:sp>
        <p:nvSpPr>
          <p:cNvPr id="27" name="Slide Number Placeholder 0">
            <a:extLst xmlns:a="http://schemas.openxmlformats.org/drawingml/2006/main">
              <a:ext uri="{FF2B5EF4-FFF2-40B4-BE49-F238E27FC236}">
                <a16:creationId xmlns:a16="http://schemas.microsoft.com/office/drawing/2014/main" id="{EE7705A3-9622-4AD6-A6F1-EEE404E13A78}"/>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F3AE1AE4-D79E-94D6-E825-3FC6C21A77D2}" type="slidenum">
              <a:rPr b="0"/>
              <a:t>25</a:t>
            </a:fld>
            <a:endParaRPr/>
          </a:p>
        </p:txBody>
      </p:sp>
    </p:spTree>
    <p:extLst>
      <p:ext uri="{BB962C8B-B14F-4D97-AF65-F5344CB8AC3E}">
        <p14:creationId xmlns:p14="http://schemas.microsoft.com/office/powerpoint/2010/main" val="80067275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19A515-97B5-4B41-85D5-AEB1ECBDF7FF}"/>
              </a:ext>
            </a:extLst>
          </p:cNvPr>
          <p:cNvSpPr>
            <a:spLocks xmlns:a="http://schemas.openxmlformats.org/drawingml/2006/main" noGrp="1"/>
          </p:cNvSpPr>
          <p:nvPr/>
        </p:nvSpPr>
        <p:spPr>
          <a:xfrm xmlns:a="http://schemas.openxmlformats.org/drawingml/2006/main">
            <a:off x="548640" y="411480"/>
            <a:ext cx="11064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D2B26"/>
                </a:solidFill>
                <a:latin typeface="Bookman Old Style"/>
                <a:ea typeface="Bookman Old Style"/>
                <a:cs typeface="Bookman Old Style"/>
              </a:rPr>
              <a:t>Demo 3: one graph, four routes</a:t>
            </a:r>
            <a:endParaRPr sz="3200"/>
          </a:p>
        </p:txBody>
      </p:sp>
      <p:sp>
        <p:nvSpPr>
          <p:cNvPr id="4" name="Shape 1">
            <a:extLst xmlns:a="http://schemas.openxmlformats.org/drawingml/2006/main">
              <a:ext uri="{FF2B5EF4-FFF2-40B4-BE49-F238E27FC236}">
                <a16:creationId xmlns:a16="http://schemas.microsoft.com/office/drawing/2014/main" id="{6F57CFCE-0CF9-48D6-985E-471D4095674C}"/>
              </a:ext>
            </a:extLst>
          </p:cNvPr>
          <p:cNvSpPr>
            <a:spLocks xmlns:a="http://schemas.openxmlformats.org/drawingml/2006/main" noGrp="1"/>
          </p:cNvSpPr>
          <p:nvPr/>
        </p:nvSpPr>
        <p:spPr>
          <a:xfrm xmlns:a="http://schemas.openxmlformats.org/drawingml/2006/main">
            <a:off x="548640" y="1645920"/>
            <a:ext cx="11064240" cy="4114800"/>
          </a:xfrm>
          <a:prstGeom xmlns:a="http://schemas.openxmlformats.org/drawingml/2006/main" prst="roundRect">
            <a:avLst>
              <a:gd name="adj" fmla="val 2222"/>
            </a:avLst>
          </a:prstGeom>
          <a:solidFill xmlns:a="http://schemas.openxmlformats.org/drawingml/2006/main">
            <a:srgbClr val="16302A"/>
          </a:solidFill>
          <a:ln xmlns:a="http://schemas.openxmlformats.org/drawingml/2006/main" w="12700">
            <a:solidFill>
              <a:srgbClr val="16302A"/>
            </a:solidFill>
            <a:prstDash val="solid"/>
          </a:ln>
        </p:spPr>
      </p:sp>
      <p:sp>
        <p:nvSpPr>
          <p:cNvPr id="5" name="Text 2">
            <a:extLst xmlns:a="http://schemas.openxmlformats.org/drawingml/2006/main">
              <a:ext uri="{FF2B5EF4-FFF2-40B4-BE49-F238E27FC236}">
                <a16:creationId xmlns:a16="http://schemas.microsoft.com/office/drawing/2014/main" id="{D9164804-EB59-48D1-9955-15B887D32F8B}"/>
              </a:ext>
            </a:extLst>
          </p:cNvPr>
          <p:cNvSpPr>
            <a:spLocks xmlns:a="http://schemas.openxmlformats.org/drawingml/2006/main" noGrp="1"/>
          </p:cNvSpPr>
          <p:nvPr/>
        </p:nvSpPr>
        <p:spPr>
          <a:xfrm xmlns:a="http://schemas.openxmlformats.org/drawingml/2006/main">
            <a:off x="822960" y="1874520"/>
            <a:ext cx="105156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400"/>
              </a:spcAft>
              <a:buNone/>
            </a:pPr>
            <a:r>
              <a:rPr sz="1800">
                <a:solidFill>
                  <a:srgbClr val="8FD6A3"/>
                </a:solidFill>
                <a:latin typeface="Consolas"/>
                <a:ea typeface="Consolas"/>
                <a:cs typeface="Consolas"/>
              </a:rPr>
              <a:t>normal          read -&gt; search -&gt; hours -&gt; verify -&gt; answer</a:t>
            </a:r>
            <a:endParaRPr sz="1800"/>
          </a:p>
          <a:p xmlns:a="http://schemas.openxmlformats.org/drawingml/2006/main">
            <a:pPr marL="0" indent="0">
              <a:spcAft>
                <a:spcPts val="400"/>
              </a:spcAft>
              <a:buNone/>
            </a:pPr>
            <a:endParaRPr sz="1800"/>
          </a:p>
          <a:p xmlns:a="http://schemas.openxmlformats.org/drawingml/2006/main">
            <a:pPr marL="0" indent="0">
              <a:spcAft>
                <a:spcPts val="400"/>
              </a:spcAft>
              <a:buNone/>
            </a:pPr>
            <a:r>
              <a:rPr sz="1800">
                <a:solidFill>
                  <a:srgbClr val="F2B33D"/>
                </a:solidFill>
                <a:latin typeface="Consolas"/>
                <a:ea typeface="Consolas"/>
                <a:cs typeface="Consolas"/>
              </a:rPr>
              <a:t>no budget       read -&gt; ask_for_budget        </a:t>
            </a:r>
            <a:r>
              <a:rPr sz="1800">
                <a:solidFill>
                  <a:srgbClr val="F2B33D"/>
                </a:solidFill>
                <a:latin typeface="Consolas"/>
                <a:ea typeface="Consolas"/>
                <a:cs typeface="Consolas"/>
              </a:rPr>
              <a:t>(ends this run)</a:t>
            </a:r>
            <a:endParaRPr sz="1800"/>
          </a:p>
          <a:p xmlns:a="http://schemas.openxmlformats.org/drawingml/2006/main">
            <a:pPr marL="0" indent="0">
              <a:spcAft>
                <a:spcPts val="400"/>
              </a:spcAft>
              <a:buNone/>
            </a:pPr>
            <a:endParaRPr sz="1800"/>
          </a:p>
          <a:p xmlns:a="http://schemas.openxmlformats.org/drawingml/2006/main">
            <a:pPr marL="0" indent="0">
              <a:spcAft>
                <a:spcPts val="400"/>
              </a:spcAft>
              <a:buNone/>
            </a:pPr>
            <a:r>
              <a:rPr sz="1800">
                <a:solidFill>
                  <a:srgbClr val="8FD6A3"/>
                </a:solidFill>
                <a:latin typeface="Consolas"/>
                <a:ea typeface="Consolas"/>
                <a:cs typeface="Consolas"/>
              </a:rPr>
              <a:t>menu flaky      read -&gt; search ✗ -&gt; search ✓ -&gt; hours -&gt; verify -&gt; answer</a:t>
            </a:r>
            <a:endParaRPr sz="1800"/>
          </a:p>
          <a:p xmlns:a="http://schemas.openxmlformats.org/drawingml/2006/main">
            <a:pPr marL="0" indent="0">
              <a:spcAft>
                <a:spcPts val="400"/>
              </a:spcAft>
              <a:buNone/>
            </a:pPr>
            <a:endParaRPr sz="1800"/>
          </a:p>
          <a:p xmlns:a="http://schemas.openxmlformats.org/drawingml/2006/main">
            <a:pPr marL="0" indent="0">
              <a:spcAft>
                <a:spcPts val="400"/>
              </a:spcAft>
              <a:buNone/>
            </a:pPr>
            <a:r>
              <a:rPr sz="1800">
                <a:solidFill>
                  <a:srgbClr val="F7A58A"/>
                </a:solidFill>
                <a:latin typeface="Consolas"/>
                <a:ea typeface="Consolas"/>
                <a:cs typeface="Consolas"/>
              </a:rPr>
              <a:t>menu down       read -&gt; search ✗ -&gt; search ✗ -&gt; hours -&gt; verify -&gt; answer</a:t>
            </a:r>
            <a:endParaRPr sz="1800"/>
          </a:p>
          <a:p xmlns:a="http://schemas.openxmlformats.org/drawingml/2006/main">
            <a:pPr marL="0" indent="0">
              <a:spcAft>
                <a:spcPts val="400"/>
              </a:spcAft>
              <a:buNone/>
            </a:pPr>
            <a:r>
              <a:rPr sz="1800" b="1">
                <a:solidFill>
                  <a:srgbClr val="F7A58A"/>
                </a:solidFill>
                <a:latin typeface="Consolas"/>
                <a:ea typeface="Consolas"/>
                <a:cs typeface="Consolas"/>
              </a:rPr>
              <a:t>                “Sorry, I couldn't reach the menu right now.”</a:t>
            </a:r>
            <a:endParaRPr sz="1800"/>
          </a:p>
        </p:txBody>
      </p:sp>
      <p:sp>
        <p:nvSpPr>
          <p:cNvPr id="25" name="Slide Number Placeholder 0">
            <a:extLst xmlns:a="http://schemas.openxmlformats.org/drawingml/2006/main">
              <a:ext uri="{FF2B5EF4-FFF2-40B4-BE49-F238E27FC236}">
                <a16:creationId xmlns:a16="http://schemas.microsoft.com/office/drawing/2014/main" id="{4F7C3663-39BE-4C47-BA4E-164CBF27C450}"/>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5AB55966-FA28-BC73-EA9E-53DF014DF033}" type="slidenum">
              <a:rPr b="0"/>
              <a:t>26</a:t>
            </a:fld>
            <a:endParaRPr/>
          </a:p>
        </p:txBody>
      </p:sp>
    </p:spTree>
    <p:extLst>
      <p:ext uri="{BB962C8B-B14F-4D97-AF65-F5344CB8AC3E}">
        <p14:creationId xmlns:p14="http://schemas.microsoft.com/office/powerpoint/2010/main" val="881993629"/>
      </p:ext>
    </p:extLst>
  </p:cSld>
</p:sld>
</file>

<file path=ppt/slides/slide2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lesson-title">
            <a:extLst xmlns:a="http://schemas.openxmlformats.org/drawingml/2006/main">
              <a:ext uri="{FF2B5EF4-FFF2-40B4-BE49-F238E27FC236}">
                <a16:creationId xmlns:a16="http://schemas.microsoft.com/office/drawing/2014/main" id="{7FBC3CEC-B66F-46C0-BFA0-69A55C2AD647}"/>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Choose control before choosing a framework</a:t>
            </a:r>
          </a:p>
        </p:txBody>
      </p:sp>
      <p:sp>
        <p:nvSpPr>
          <p:cNvPr id="2" name="row-label-0">
            <a:extLst xmlns:a="http://schemas.openxmlformats.org/drawingml/2006/main">
              <a:ext uri="{FF2B5EF4-FFF2-40B4-BE49-F238E27FC236}">
                <a16:creationId xmlns:a16="http://schemas.microsoft.com/office/drawing/2014/main" id="{B6F5B4FF-4571-4E14-9F4C-258B2B7D15AC}"/>
              </a:ext>
            </a:extLst>
          </p:cNvPr>
          <p:cNvSpPr>
            <a:spLocks xmlns:a="http://schemas.openxmlformats.org/drawingml/2006/main" noGrp="1"/>
          </p:cNvSpPr>
          <p:nvPr/>
        </p:nvSpPr>
        <p:spPr>
          <a:xfrm xmlns:a="http://schemas.openxmlformats.org/drawingml/2006/main">
            <a:off x="666750" y="18097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Fixed route</a:t>
            </a:r>
          </a:p>
        </p:txBody>
      </p:sp>
      <p:sp>
        <p:nvSpPr>
          <p:cNvPr id="3" name="row-body-0">
            <a:extLst xmlns:a="http://schemas.openxmlformats.org/drawingml/2006/main">
              <a:ext uri="{FF2B5EF4-FFF2-40B4-BE49-F238E27FC236}">
                <a16:creationId xmlns:a16="http://schemas.microsoft.com/office/drawing/2014/main" id="{69EB316E-E72D-451D-857F-DD16B93E4816}"/>
              </a:ext>
            </a:extLst>
          </p:cNvPr>
          <p:cNvSpPr>
            <a:spLocks xmlns:a="http://schemas.openxmlformats.org/drawingml/2006/main" noGrp="1"/>
          </p:cNvSpPr>
          <p:nvPr/>
        </p:nvSpPr>
        <p:spPr>
          <a:xfrm xmlns:a="http://schemas.openxmlformats.org/drawingml/2006/main">
            <a:off x="3143250" y="18097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Code chooses the next step.</a:t>
            </a:r>
          </a:p>
        </p:txBody>
      </p:sp>
      <p:sp>
        <p:nvSpPr>
          <p:cNvPr id="4" name="row-label-1">
            <a:extLst xmlns:a="http://schemas.openxmlformats.org/drawingml/2006/main">
              <a:ext uri="{FF2B5EF4-FFF2-40B4-BE49-F238E27FC236}">
                <a16:creationId xmlns:a16="http://schemas.microsoft.com/office/drawing/2014/main" id="{D2C0C557-A3AD-4E01-94C4-4F4D0019E212}"/>
              </a:ext>
            </a:extLst>
          </p:cNvPr>
          <p:cNvSpPr>
            <a:spLocks xmlns:a="http://schemas.openxmlformats.org/drawingml/2006/main" noGrp="1"/>
          </p:cNvSpPr>
          <p:nvPr/>
        </p:nvSpPr>
        <p:spPr>
          <a:xfrm xmlns:a="http://schemas.openxmlformats.org/drawingml/2006/main">
            <a:off x="666750" y="30670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Agent loop</a:t>
            </a:r>
          </a:p>
        </p:txBody>
      </p:sp>
      <p:sp>
        <p:nvSpPr>
          <p:cNvPr id="5" name="row-body-1">
            <a:extLst xmlns:a="http://schemas.openxmlformats.org/drawingml/2006/main">
              <a:ext uri="{FF2B5EF4-FFF2-40B4-BE49-F238E27FC236}">
                <a16:creationId xmlns:a16="http://schemas.microsoft.com/office/drawing/2014/main" id="{004C2357-AAC6-4212-A09B-C94FD87B4BBB}"/>
              </a:ext>
            </a:extLst>
          </p:cNvPr>
          <p:cNvSpPr>
            <a:spLocks xmlns:a="http://schemas.openxmlformats.org/drawingml/2006/main" noGrp="1"/>
          </p:cNvSpPr>
          <p:nvPr/>
        </p:nvSpPr>
        <p:spPr>
          <a:xfrm xmlns:a="http://schemas.openxmlformats.org/drawingml/2006/main">
            <a:off x="3143250" y="30670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A model chooses allowed tool requests.</a:t>
            </a:r>
          </a:p>
        </p:txBody>
      </p:sp>
      <p:sp>
        <p:nvSpPr>
          <p:cNvPr id="6" name="row-label-2">
            <a:extLst xmlns:a="http://schemas.openxmlformats.org/drawingml/2006/main">
              <a:ext uri="{FF2B5EF4-FFF2-40B4-BE49-F238E27FC236}">
                <a16:creationId xmlns:a16="http://schemas.microsoft.com/office/drawing/2014/main" id="{094FDF93-1EBC-49B7-BDBA-B2E680777891}"/>
              </a:ext>
            </a:extLst>
          </p:cNvPr>
          <p:cNvSpPr>
            <a:spLocks xmlns:a="http://schemas.openxmlformats.org/drawingml/2006/main" noGrp="1"/>
          </p:cNvSpPr>
          <p:nvPr/>
        </p:nvSpPr>
        <p:spPr>
          <a:xfrm xmlns:a="http://schemas.openxmlformats.org/drawingml/2006/main">
            <a:off x="666750" y="43243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Orchestration</a:t>
            </a:r>
          </a:p>
        </p:txBody>
      </p:sp>
      <p:sp>
        <p:nvSpPr>
          <p:cNvPr id="7" name="row-body-2">
            <a:extLst xmlns:a="http://schemas.openxmlformats.org/drawingml/2006/main">
              <a:ext uri="{FF2B5EF4-FFF2-40B4-BE49-F238E27FC236}">
                <a16:creationId xmlns:a16="http://schemas.microsoft.com/office/drawing/2014/main" id="{1639362B-BC8D-4318-A88D-16E7628A7B7C}"/>
              </a:ext>
            </a:extLst>
          </p:cNvPr>
          <p:cNvSpPr>
            <a:spLocks xmlns:a="http://schemas.openxmlformats.org/drawingml/2006/main" noGrp="1"/>
          </p:cNvSpPr>
          <p:nvPr/>
        </p:nvSpPr>
        <p:spPr>
          <a:xfrm xmlns:a="http://schemas.openxmlformats.org/drawingml/2006/main">
            <a:off x="3143250" y="43243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Coordinate steps and enforce boundaries.</a:t>
            </a:r>
          </a:p>
        </p:txBody>
      </p:sp>
      <p:sp>
        <p:nvSpPr>
          <p:cNvPr id="8" name="takeaway">
            <a:extLst xmlns:a="http://schemas.openxmlformats.org/drawingml/2006/main">
              <a:ext uri="{FF2B5EF4-FFF2-40B4-BE49-F238E27FC236}">
                <a16:creationId xmlns:a16="http://schemas.microsoft.com/office/drawing/2014/main" id="{CEA6AE8B-93D6-4CF0-B477-4213C4158483}"/>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LangGraph can contain agents. A team needs a reason.</a:t>
            </a:r>
          </a:p>
        </p:txBody>
      </p:sp>
      <p:sp>
        <p:nvSpPr>
          <p:cNvPr id="9" name="footer">
            <a:extLst xmlns:a="http://schemas.openxmlformats.org/drawingml/2006/main">
              <a:ext uri="{FF2B5EF4-FFF2-40B4-BE49-F238E27FC236}">
                <a16:creationId xmlns:a16="http://schemas.microsoft.com/office/drawing/2014/main" id="{9026984D-0C84-4FCC-80BE-D3126115836D}"/>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10" name="slide-number">
            <a:extLst xmlns:a="http://schemas.openxmlformats.org/drawingml/2006/main">
              <a:ext uri="{FF2B5EF4-FFF2-40B4-BE49-F238E27FC236}">
                <a16:creationId xmlns:a16="http://schemas.microsoft.com/office/drawing/2014/main" id="{7DE6B972-DEDA-4107-B67D-FAEBEF5EBDE5}"/>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27</a:t>
            </a:r>
          </a:p>
        </p:txBody>
      </p:sp>
    </p:spTree>
    <p:extLst>
      <p:ext uri="{BB962C8B-B14F-4D97-AF65-F5344CB8AC3E}">
        <p14:creationId xmlns:p14="http://schemas.microsoft.com/office/powerpoint/2010/main" val="16557284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944846-3F15-4E74-AAC3-67E36B462A71}"/>
              </a:ext>
            </a:extLst>
          </p:cNvPr>
          <p:cNvSpPr>
            <a:spLocks xmlns:a="http://schemas.openxmlformats.org/drawingml/2006/main" noGrp="1"/>
          </p:cNvSpPr>
          <p:nvPr/>
        </p:nvSpPr>
        <p:spPr>
          <a:xfrm xmlns:a="http://schemas.openxmlformats.org/drawingml/2006/main">
            <a:off x="548640" y="411480"/>
            <a:ext cx="11064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D2B26"/>
                </a:solidFill>
                <a:latin typeface="Bookman Old Style"/>
                <a:ea typeface="Bookman Old Style"/>
                <a:cs typeface="Bookman Old Style"/>
              </a:rPr>
              <a:t>Where would YOU give the AI freedom?</a:t>
            </a:r>
            <a:endParaRPr sz="3200"/>
          </a:p>
        </p:txBody>
      </p:sp>
      <p:sp>
        <p:nvSpPr>
          <p:cNvPr id="4" name="Shape 1">
            <a:extLst xmlns:a="http://schemas.openxmlformats.org/drawingml/2006/main">
              <a:ext uri="{FF2B5EF4-FFF2-40B4-BE49-F238E27FC236}">
                <a16:creationId xmlns:a16="http://schemas.microsoft.com/office/drawing/2014/main" id="{A11ED215-6014-4A31-864D-7C5FEB97D315}"/>
              </a:ext>
            </a:extLst>
          </p:cNvPr>
          <p:cNvSpPr>
            <a:spLocks xmlns:a="http://schemas.openxmlformats.org/drawingml/2006/main" noGrp="1"/>
          </p:cNvSpPr>
          <p:nvPr/>
        </p:nvSpPr>
        <p:spPr>
          <a:xfrm xmlns:a="http://schemas.openxmlformats.org/drawingml/2006/main">
            <a:off x="548640" y="1600200"/>
            <a:ext cx="3505200" cy="329184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2700">
            <a:solidFill>
              <a:srgbClr val="D9DED8"/>
            </a:solidFill>
            <a:prstDash val="solid"/>
          </a:ln>
        </p:spPr>
      </p:sp>
      <p:pic>
        <p:nvPicPr>
          <p:cNvPr id="5" name="Image 0">
            <a:extLst xmlns:a="http://schemas.openxmlformats.org/drawingml/2006/main">
              <a:ext uri="{FF2B5EF4-FFF2-40B4-BE49-F238E27FC236}">
                <a16:creationId xmlns:a16="http://schemas.microsoft.com/office/drawing/2014/main" id="{65EA48CB-7207-4FA0-9DFF-E8676E75B6BE}"/>
              </a:ext>
            </a:extLst>
          </p:cNvPr>
          <p:cNvPicPr>
            <a:picLocks xmlns:a="http://schemas.openxmlformats.org/drawingml/2006/main" noChangeAspect="1"/>
          </p:cNvPicPr>
          <p:nvPr/>
        </p:nvPicPr>
        <p:blipFill>
          <a:blip xmlns:r="http://schemas.openxmlformats.org/officeDocument/2006/relationships" xmlns:a="http://schemas.openxmlformats.org/drawingml/2006/main" r:embed="R7367fdcd7a924cb4"/>
          <a:stretch xmlns:a="http://schemas.openxmlformats.org/drawingml/2006/main">
            <a:fillRect l="0" t="0" r="0" b="0"/>
          </a:stretch>
        </p:blipFill>
        <p:spPr>
          <a:xfrm xmlns:a="http://schemas.openxmlformats.org/drawingml/2006/main">
            <a:off x="868680" y="1920240"/>
            <a:ext cx="640080" cy="640080"/>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1C143778-5E7C-4374-9F8B-1BAAB2A98DA9}"/>
              </a:ext>
            </a:extLst>
          </p:cNvPr>
          <p:cNvSpPr>
            <a:spLocks xmlns:a="http://schemas.openxmlformats.org/drawingml/2006/main" noGrp="1"/>
          </p:cNvSpPr>
          <p:nvPr/>
        </p:nvSpPr>
        <p:spPr>
          <a:xfrm xmlns:a="http://schemas.openxmlformats.org/drawingml/2006/main">
            <a:off x="868680" y="2743200"/>
            <a:ext cx="28651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D2B26"/>
                </a:solidFill>
                <a:latin typeface="Bookman Old Style"/>
                <a:ea typeface="Bookman Old Style"/>
                <a:cs typeface="Bookman Old Style"/>
              </a:rPr>
              <a:t>A fixed menu filter</a:t>
            </a:r>
            <a:endParaRPr sz="2200"/>
          </a:p>
        </p:txBody>
      </p:sp>
      <p:sp>
        <p:nvSpPr>
          <p:cNvPr id="7" name="Text 3">
            <a:extLst xmlns:a="http://schemas.openxmlformats.org/drawingml/2006/main">
              <a:ext uri="{FF2B5EF4-FFF2-40B4-BE49-F238E27FC236}">
                <a16:creationId xmlns:a16="http://schemas.microsoft.com/office/drawing/2014/main" id="{3E0796A9-8ACF-4100-9B0D-F8F9EDEE6BBE}"/>
              </a:ext>
            </a:extLst>
          </p:cNvPr>
          <p:cNvSpPr>
            <a:spLocks xmlns:a="http://schemas.openxmlformats.org/drawingml/2006/main" noGrp="1"/>
          </p:cNvSpPr>
          <p:nvPr/>
        </p:nvSpPr>
        <p:spPr>
          <a:xfrm xmlns:a="http://schemas.openxmlformats.org/drawingml/2006/main">
            <a:off x="868680" y="3566160"/>
            <a:ext cx="2865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a:solidFill>
                  <a:srgbClr val="5C6B66"/>
                </a:solidFill>
                <a:latin typeface="Calibri"/>
                <a:ea typeface="Calibri"/>
                <a:cs typeface="Calibri"/>
              </a:rPr>
              <a:t>Same question, same rules every time.</a:t>
            </a:r>
            <a:endParaRPr sz="1900"/>
          </a:p>
        </p:txBody>
      </p:sp>
      <p:sp>
        <p:nvSpPr>
          <p:cNvPr id="8" name="Shape 4">
            <a:extLst xmlns:a="http://schemas.openxmlformats.org/drawingml/2006/main">
              <a:ext uri="{FF2B5EF4-FFF2-40B4-BE49-F238E27FC236}">
                <a16:creationId xmlns:a16="http://schemas.microsoft.com/office/drawing/2014/main" id="{69046F04-EA3E-4F79-B518-454B60F9BFDF}"/>
              </a:ext>
            </a:extLst>
          </p:cNvPr>
          <p:cNvSpPr>
            <a:spLocks xmlns:a="http://schemas.openxmlformats.org/drawingml/2006/main" noGrp="1"/>
          </p:cNvSpPr>
          <p:nvPr/>
        </p:nvSpPr>
        <p:spPr>
          <a:xfrm xmlns:a="http://schemas.openxmlformats.org/drawingml/2006/main">
            <a:off x="4328160" y="1600200"/>
            <a:ext cx="3505200" cy="329184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2700">
            <a:solidFill>
              <a:srgbClr val="D9DED8"/>
            </a:solidFill>
            <a:prstDash val="solid"/>
          </a:ln>
        </p:spPr>
      </p:sp>
      <p:pic>
        <p:nvPicPr>
          <p:cNvPr id="9" name="Image 1">
            <a:extLst xmlns:a="http://schemas.openxmlformats.org/drawingml/2006/main">
              <a:ext uri="{FF2B5EF4-FFF2-40B4-BE49-F238E27FC236}">
                <a16:creationId xmlns:a16="http://schemas.microsoft.com/office/drawing/2014/main" id="{F7658398-22C1-4095-B748-4F90C24CC012}"/>
              </a:ext>
            </a:extLst>
          </p:cNvPr>
          <p:cNvPicPr>
            <a:picLocks xmlns:a="http://schemas.openxmlformats.org/drawingml/2006/main" noChangeAspect="1"/>
          </p:cNvPicPr>
          <p:nvPr/>
        </p:nvPicPr>
        <p:blipFill>
          <a:blip xmlns:r="http://schemas.openxmlformats.org/officeDocument/2006/relationships" xmlns:a="http://schemas.openxmlformats.org/drawingml/2006/main" r:embed="Rd2e5be8df06f4120"/>
          <a:stretch xmlns:a="http://schemas.openxmlformats.org/drawingml/2006/main">
            <a:fillRect l="0" t="0" r="0" b="0"/>
          </a:stretch>
        </p:blipFill>
        <p:spPr>
          <a:xfrm xmlns:a="http://schemas.openxmlformats.org/drawingml/2006/main">
            <a:off x="4648200" y="1920240"/>
            <a:ext cx="640080" cy="640080"/>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B6A1C916-5D1D-4396-B217-69D46F9E62A3}"/>
              </a:ext>
            </a:extLst>
          </p:cNvPr>
          <p:cNvSpPr>
            <a:spLocks xmlns:a="http://schemas.openxmlformats.org/drawingml/2006/main" noGrp="1"/>
          </p:cNvSpPr>
          <p:nvPr/>
        </p:nvSpPr>
        <p:spPr>
          <a:xfrm xmlns:a="http://schemas.openxmlformats.org/drawingml/2006/main">
            <a:off x="4648200" y="2743200"/>
            <a:ext cx="28651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D2B26"/>
                </a:solidFill>
                <a:latin typeface="Bookman Old Style"/>
                <a:ea typeface="Bookman Old Style"/>
                <a:cs typeface="Bookman Old Style"/>
              </a:rPr>
              <a:t>A flexible campus helper</a:t>
            </a:r>
            <a:endParaRPr sz="2200"/>
          </a:p>
        </p:txBody>
      </p:sp>
      <p:sp>
        <p:nvSpPr>
          <p:cNvPr id="11" name="Text 6">
            <a:extLst xmlns:a="http://schemas.openxmlformats.org/drawingml/2006/main">
              <a:ext uri="{FF2B5EF4-FFF2-40B4-BE49-F238E27FC236}">
                <a16:creationId xmlns:a16="http://schemas.microsoft.com/office/drawing/2014/main" id="{D34F9977-7FE4-4484-A9FE-735158AD0042}"/>
              </a:ext>
            </a:extLst>
          </p:cNvPr>
          <p:cNvSpPr>
            <a:spLocks xmlns:a="http://schemas.openxmlformats.org/drawingml/2006/main" noGrp="1"/>
          </p:cNvSpPr>
          <p:nvPr/>
        </p:nvSpPr>
        <p:spPr>
          <a:xfrm xmlns:a="http://schemas.openxmlformats.org/drawingml/2006/main">
            <a:off x="4648200" y="3566160"/>
            <a:ext cx="2865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a:solidFill>
                  <a:srgbClr val="5C6B66"/>
                </a:solidFill>
                <a:latin typeface="Calibri"/>
                <a:ea typeface="Calibri"/>
                <a:cs typeface="Calibri"/>
              </a:rPr>
              <a:t>Timetables, events, food, anything.</a:t>
            </a:r>
            <a:endParaRPr sz="1900"/>
          </a:p>
        </p:txBody>
      </p:sp>
      <p:sp>
        <p:nvSpPr>
          <p:cNvPr id="12" name="Shape 7">
            <a:extLst xmlns:a="http://schemas.openxmlformats.org/drawingml/2006/main">
              <a:ext uri="{FF2B5EF4-FFF2-40B4-BE49-F238E27FC236}">
                <a16:creationId xmlns:a16="http://schemas.microsoft.com/office/drawing/2014/main" id="{F18C6852-3CA7-42FB-A85C-996EE9657526}"/>
              </a:ext>
            </a:extLst>
          </p:cNvPr>
          <p:cNvSpPr>
            <a:spLocks xmlns:a="http://schemas.openxmlformats.org/drawingml/2006/main" noGrp="1"/>
          </p:cNvSpPr>
          <p:nvPr/>
        </p:nvSpPr>
        <p:spPr>
          <a:xfrm xmlns:a="http://schemas.openxmlformats.org/drawingml/2006/main">
            <a:off x="8107680" y="1600200"/>
            <a:ext cx="3505200" cy="329184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2700">
            <a:solidFill>
              <a:srgbClr val="D9DED8"/>
            </a:solidFill>
            <a:prstDash val="solid"/>
          </a:ln>
        </p:spPr>
      </p:sp>
      <p:pic>
        <p:nvPicPr>
          <p:cNvPr id="13" name="Image 2">
            <a:extLst xmlns:a="http://schemas.openxmlformats.org/drawingml/2006/main">
              <a:ext uri="{FF2B5EF4-FFF2-40B4-BE49-F238E27FC236}">
                <a16:creationId xmlns:a16="http://schemas.microsoft.com/office/drawing/2014/main" id="{2741966C-5A33-41A9-9EF3-29F765C917C7}"/>
              </a:ext>
            </a:extLst>
          </p:cNvPr>
          <p:cNvPicPr>
            <a:picLocks xmlns:a="http://schemas.openxmlformats.org/drawingml/2006/main" noChangeAspect="1"/>
          </p:cNvPicPr>
          <p:nvPr/>
        </p:nvPicPr>
        <p:blipFill>
          <a:blip xmlns:r="http://schemas.openxmlformats.org/officeDocument/2006/relationships" xmlns:a="http://schemas.openxmlformats.org/drawingml/2006/main" r:embed="R08b9b9f4ffe348d9"/>
          <a:stretch xmlns:a="http://schemas.openxmlformats.org/drawingml/2006/main">
            <a:fillRect l="0" t="0" r="0" b="0"/>
          </a:stretch>
        </p:blipFill>
        <p:spPr>
          <a:xfrm xmlns:a="http://schemas.openxmlformats.org/drawingml/2006/main">
            <a:off x="8427720" y="1920240"/>
            <a:ext cx="640080" cy="640080"/>
          </a:xfrm>
          <a:prstGeom xmlns:a="http://schemas.openxmlformats.org/drawingml/2006/main" prst="rect">
            <a:avLst/>
          </a:prstGeom>
        </p:spPr>
      </p:pic>
      <p:sp>
        <p:nvSpPr>
          <p:cNvPr id="14" name="Text 8">
            <a:extLst xmlns:a="http://schemas.openxmlformats.org/drawingml/2006/main">
              <a:ext uri="{FF2B5EF4-FFF2-40B4-BE49-F238E27FC236}">
                <a16:creationId xmlns:a16="http://schemas.microsoft.com/office/drawing/2014/main" id="{5F5D1E2D-5CA4-4159-8054-9FD84549679B}"/>
              </a:ext>
            </a:extLst>
          </p:cNvPr>
          <p:cNvSpPr>
            <a:spLocks xmlns:a="http://schemas.openxmlformats.org/drawingml/2006/main" noGrp="1"/>
          </p:cNvSpPr>
          <p:nvPr/>
        </p:nvSpPr>
        <p:spPr>
          <a:xfrm xmlns:a="http://schemas.openxmlformats.org/drawingml/2006/main">
            <a:off x="8427720" y="2743200"/>
            <a:ext cx="28651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D2B26"/>
                </a:solidFill>
                <a:latin typeface="Bookman Old Style"/>
                <a:ea typeface="Bookman Old Style"/>
                <a:cs typeface="Bookman Old Style"/>
              </a:rPr>
              <a:t>Placing a paid order</a:t>
            </a:r>
            <a:endParaRPr sz="2200"/>
          </a:p>
        </p:txBody>
      </p:sp>
      <p:sp>
        <p:nvSpPr>
          <p:cNvPr id="15" name="Text 9">
            <a:extLst xmlns:a="http://schemas.openxmlformats.org/drawingml/2006/main">
              <a:ext uri="{FF2B5EF4-FFF2-40B4-BE49-F238E27FC236}">
                <a16:creationId xmlns:a16="http://schemas.microsoft.com/office/drawing/2014/main" id="{E3A3DFD9-4225-41E7-88E6-5DC47E4934AE}"/>
              </a:ext>
            </a:extLst>
          </p:cNvPr>
          <p:cNvSpPr>
            <a:spLocks xmlns:a="http://schemas.openxmlformats.org/drawingml/2006/main" noGrp="1"/>
          </p:cNvSpPr>
          <p:nvPr/>
        </p:nvSpPr>
        <p:spPr>
          <a:xfrm xmlns:a="http://schemas.openxmlformats.org/drawingml/2006/main">
            <a:off x="8427720" y="3566160"/>
            <a:ext cx="2865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900">
                <a:solidFill>
                  <a:srgbClr val="5C6B66"/>
                </a:solidFill>
                <a:latin typeface="Calibri"/>
                <a:ea typeface="Calibri"/>
                <a:cs typeface="Calibri"/>
              </a:rPr>
              <a:t>Money moves. Mistakes cost real rupees.</a:t>
            </a:r>
            <a:endParaRPr sz="1900"/>
          </a:p>
        </p:txBody>
      </p:sp>
      <p:sp>
        <p:nvSpPr>
          <p:cNvPr id="16" name="Text 10">
            <a:extLst xmlns:a="http://schemas.openxmlformats.org/drawingml/2006/main">
              <a:ext uri="{FF2B5EF4-FFF2-40B4-BE49-F238E27FC236}">
                <a16:creationId xmlns:a16="http://schemas.microsoft.com/office/drawing/2014/main" id="{4BD60275-1EE7-4321-A42A-9CB574D42FBF}"/>
              </a:ext>
            </a:extLst>
          </p:cNvPr>
          <p:cNvSpPr>
            <a:spLocks xmlns:a="http://schemas.openxmlformats.org/drawingml/2006/main" noGrp="1"/>
          </p:cNvSpPr>
          <p:nvPr/>
        </p:nvSpPr>
        <p:spPr>
          <a:xfrm xmlns:a="http://schemas.openxmlformats.org/drawingml/2006/main">
            <a:off x="548640" y="5303520"/>
            <a:ext cx="10972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400" b="1">
                <a:solidFill>
                  <a:srgbClr val="1D2B26"/>
                </a:solidFill>
                <a:latin typeface="Bookman Old Style"/>
                <a:ea typeface="Bookman Old Style"/>
                <a:cs typeface="Bookman Old Style"/>
              </a:rPr>
              <a:t>No single right answer. Only a design you can defend.</a:t>
            </a:r>
            <a:endParaRPr sz="2400"/>
          </a:p>
        </p:txBody>
      </p:sp>
      <p:sp>
        <p:nvSpPr>
          <p:cNvPr id="25" name="Slide Number Placeholder 0">
            <a:extLst xmlns:a="http://schemas.openxmlformats.org/drawingml/2006/main">
              <a:ext uri="{FF2B5EF4-FFF2-40B4-BE49-F238E27FC236}">
                <a16:creationId xmlns:a16="http://schemas.microsoft.com/office/drawing/2014/main" id="{F0C9BE93-E3A0-4272-84BB-725E4DFF2619}"/>
              </a:ext>
            </a:extLst>
          </p:cNvPr>
          <p:cNvSpPr>
            <a:spLocks xmlns:a="http://schemas.openxmlformats.org/drawingml/2006/main" noGrp="1"/>
          </p:cNvSpPr>
          <p:nvPr>
            <p:ph type="sldNum" idx="4294967295"/>
          </p:nvPr>
        </p:nvSpPr>
        <p:spPr>
          <a:xfrm xmlns:a="http://schemas.openxmlformats.org/drawingml/2006/main">
            <a:off x="1115568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rgbClr val="5C6B66"/>
                </a:solidFill>
                <a:latin typeface="Calibri"/>
                <a:ea typeface="Calibri"/>
                <a:cs typeface="Calibri"/>
              </a:defRPr>
            </a:lvl1pPr>
          </a:lstStyle>
          <a:p xmlns:a="http://schemas.openxmlformats.org/drawingml/2006/main">
            <a:pPr algn="r">
              <a:buNone/>
            </a:pPr>
            <a:fld id="{68AD4375-9F50-F53A-6F9F-DD8473067C05}" type="slidenum">
              <a:rPr b="0"/>
              <a:t>28</a:t>
            </a:fld>
            <a:endParaRPr/>
          </a:p>
        </p:txBody>
      </p:sp>
    </p:spTree>
    <p:extLst>
      <p:ext uri="{BB962C8B-B14F-4D97-AF65-F5344CB8AC3E}">
        <p14:creationId xmlns:p14="http://schemas.microsoft.com/office/powerpoint/2010/main" val="1021120246"/>
      </p:ext>
    </p:extLst>
  </p:cSld>
</p:sld>
</file>

<file path=ppt/slides/slide2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lesson-title">
            <a:extLst xmlns:a="http://schemas.openxmlformats.org/drawingml/2006/main">
              <a:ext uri="{FF2B5EF4-FFF2-40B4-BE49-F238E27FC236}">
                <a16:creationId xmlns:a16="http://schemas.microsoft.com/office/drawing/2014/main" id="{0F981ED8-3040-4C1D-A007-1E373655E659}"/>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Habits you can use in your next project</a:t>
            </a:r>
          </a:p>
        </p:txBody>
      </p:sp>
      <p:sp>
        <p:nvSpPr>
          <p:cNvPr id="2" name="row-label-0">
            <a:extLst xmlns:a="http://schemas.openxmlformats.org/drawingml/2006/main">
              <a:ext uri="{FF2B5EF4-FFF2-40B4-BE49-F238E27FC236}">
                <a16:creationId xmlns:a16="http://schemas.microsoft.com/office/drawing/2014/main" id="{3338677C-1FE4-4191-8A24-DE49C5882733}"/>
              </a:ext>
            </a:extLst>
          </p:cNvPr>
          <p:cNvSpPr>
            <a:spLocks xmlns:a="http://schemas.openxmlformats.org/drawingml/2006/main" noGrp="1"/>
          </p:cNvSpPr>
          <p:nvPr/>
        </p:nvSpPr>
        <p:spPr>
          <a:xfrm xmlns:a="http://schemas.openxmlformats.org/drawingml/2006/main">
            <a:off x="666750" y="18097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Specify</a:t>
            </a:r>
          </a:p>
        </p:txBody>
      </p:sp>
      <p:sp>
        <p:nvSpPr>
          <p:cNvPr id="3" name="row-body-0">
            <a:extLst xmlns:a="http://schemas.openxmlformats.org/drawingml/2006/main">
              <a:ext uri="{FF2B5EF4-FFF2-40B4-BE49-F238E27FC236}">
                <a16:creationId xmlns:a16="http://schemas.microsoft.com/office/drawing/2014/main" id="{CDEF16B2-E5FE-4F43-A43D-980BB86D1077}"/>
              </a:ext>
            </a:extLst>
          </p:cNvPr>
          <p:cNvSpPr>
            <a:spLocks xmlns:a="http://schemas.openxmlformats.org/drawingml/2006/main" noGrp="1"/>
          </p:cNvSpPr>
          <p:nvPr/>
        </p:nvSpPr>
        <p:spPr>
          <a:xfrm xmlns:a="http://schemas.openxmlformats.org/drawingml/2006/main">
            <a:off x="3143250" y="18097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Write the outcome and examples.</a:t>
            </a:r>
          </a:p>
        </p:txBody>
      </p:sp>
      <p:sp>
        <p:nvSpPr>
          <p:cNvPr id="4" name="row-label-1">
            <a:extLst xmlns:a="http://schemas.openxmlformats.org/drawingml/2006/main">
              <a:ext uri="{FF2B5EF4-FFF2-40B4-BE49-F238E27FC236}">
                <a16:creationId xmlns:a16="http://schemas.microsoft.com/office/drawing/2014/main" id="{4CE55ECA-4783-4CBB-BBAE-9755A2B777CE}"/>
              </a:ext>
            </a:extLst>
          </p:cNvPr>
          <p:cNvSpPr>
            <a:spLocks xmlns:a="http://schemas.openxmlformats.org/drawingml/2006/main" noGrp="1"/>
          </p:cNvSpPr>
          <p:nvPr/>
        </p:nvSpPr>
        <p:spPr>
          <a:xfrm xmlns:a="http://schemas.openxmlformats.org/drawingml/2006/main">
            <a:off x="666750" y="30670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Review</a:t>
            </a:r>
          </a:p>
        </p:txBody>
      </p:sp>
      <p:sp>
        <p:nvSpPr>
          <p:cNvPr id="5" name="row-body-1">
            <a:extLst xmlns:a="http://schemas.openxmlformats.org/drawingml/2006/main">
              <a:ext uri="{FF2B5EF4-FFF2-40B4-BE49-F238E27FC236}">
                <a16:creationId xmlns:a16="http://schemas.microsoft.com/office/drawing/2014/main" id="{E211C8C0-6182-435D-973C-42E709A6AE63}"/>
              </a:ext>
            </a:extLst>
          </p:cNvPr>
          <p:cNvSpPr>
            <a:spLocks xmlns:a="http://schemas.openxmlformats.org/drawingml/2006/main" noGrp="1"/>
          </p:cNvSpPr>
          <p:nvPr/>
        </p:nvSpPr>
        <p:spPr>
          <a:xfrm xmlns:a="http://schemas.openxmlformats.org/drawingml/2006/main">
            <a:off x="3143250" y="30670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Understand the changed lines.</a:t>
            </a:r>
          </a:p>
        </p:txBody>
      </p:sp>
      <p:sp>
        <p:nvSpPr>
          <p:cNvPr id="6" name="row-label-2">
            <a:extLst xmlns:a="http://schemas.openxmlformats.org/drawingml/2006/main">
              <a:ext uri="{FF2B5EF4-FFF2-40B4-BE49-F238E27FC236}">
                <a16:creationId xmlns:a16="http://schemas.microsoft.com/office/drawing/2014/main" id="{1E314A37-91AA-4443-BD79-2DE0B34DF8FC}"/>
              </a:ext>
            </a:extLst>
          </p:cNvPr>
          <p:cNvSpPr>
            <a:spLocks xmlns:a="http://schemas.openxmlformats.org/drawingml/2006/main" noGrp="1"/>
          </p:cNvSpPr>
          <p:nvPr/>
        </p:nvSpPr>
        <p:spPr>
          <a:xfrm xmlns:a="http://schemas.openxmlformats.org/drawingml/2006/main">
            <a:off x="666750" y="43243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Verify</a:t>
            </a:r>
          </a:p>
        </p:txBody>
      </p:sp>
      <p:sp>
        <p:nvSpPr>
          <p:cNvPr id="7" name="row-body-2">
            <a:extLst xmlns:a="http://schemas.openxmlformats.org/drawingml/2006/main">
              <a:ext uri="{FF2B5EF4-FFF2-40B4-BE49-F238E27FC236}">
                <a16:creationId xmlns:a16="http://schemas.microsoft.com/office/drawing/2014/main" id="{A4D45C3C-4E95-4BA8-8F8C-9C56FD6DF595}"/>
              </a:ext>
            </a:extLst>
          </p:cNvPr>
          <p:cNvSpPr>
            <a:spLocks xmlns:a="http://schemas.openxmlformats.org/drawingml/2006/main" noGrp="1"/>
          </p:cNvSpPr>
          <p:nvPr/>
        </p:nvSpPr>
        <p:spPr>
          <a:xfrm xmlns:a="http://schemas.openxmlformats.org/drawingml/2006/main">
            <a:off x="3143250" y="43243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Run checks and record the result.</a:t>
            </a:r>
          </a:p>
        </p:txBody>
      </p:sp>
      <p:sp>
        <p:nvSpPr>
          <p:cNvPr id="8" name="takeaway">
            <a:extLst xmlns:a="http://schemas.openxmlformats.org/drawingml/2006/main">
              <a:ext uri="{FF2B5EF4-FFF2-40B4-BE49-F238E27FC236}">
                <a16:creationId xmlns:a16="http://schemas.microsoft.com/office/drawing/2014/main" id="{8E06B198-54EF-49D0-AA39-0F4B0E7BB897}"/>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Keep a short handoff: what changed, what passed, what is untested.</a:t>
            </a:r>
          </a:p>
        </p:txBody>
      </p:sp>
      <p:sp>
        <p:nvSpPr>
          <p:cNvPr id="9" name="footer">
            <a:extLst xmlns:a="http://schemas.openxmlformats.org/drawingml/2006/main">
              <a:ext uri="{FF2B5EF4-FFF2-40B4-BE49-F238E27FC236}">
                <a16:creationId xmlns:a16="http://schemas.microsoft.com/office/drawing/2014/main" id="{2DB9399E-D76B-4CDD-889E-9055AFBCE95C}"/>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10" name="slide-number">
            <a:extLst xmlns:a="http://schemas.openxmlformats.org/drawingml/2006/main">
              <a:ext uri="{FF2B5EF4-FFF2-40B4-BE49-F238E27FC236}">
                <a16:creationId xmlns:a16="http://schemas.microsoft.com/office/drawing/2014/main" id="{462B9C5E-22BB-4928-A6C4-7E8A7CFABCF0}"/>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29</a:t>
            </a:r>
          </a:p>
        </p:txBody>
      </p:sp>
    </p:spTree>
    <p:extLst>
      <p:ext uri="{BB962C8B-B14F-4D97-AF65-F5344CB8AC3E}">
        <p14:creationId xmlns:p14="http://schemas.microsoft.com/office/powerpoint/2010/main" val="2013931929"/>
      </p:ext>
    </p:extLst>
  </p:cSld>
</p:sld>
</file>

<file path=ppt/slides/slide3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lesson-title">
            <a:extLst xmlns:a="http://schemas.openxmlformats.org/drawingml/2006/main">
              <a:ext uri="{FF2B5EF4-FFF2-40B4-BE49-F238E27FC236}">
                <a16:creationId xmlns:a16="http://schemas.microsoft.com/office/drawing/2014/main" id="{E27644C2-E32A-4028-A626-794C480E565E}"/>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Show what you learned</a:t>
            </a:r>
          </a:p>
        </p:txBody>
      </p:sp>
      <p:sp>
        <p:nvSpPr>
          <p:cNvPr id="2" name="row-label-0">
            <a:extLst xmlns:a="http://schemas.openxmlformats.org/drawingml/2006/main">
              <a:ext uri="{FF2B5EF4-FFF2-40B4-BE49-F238E27FC236}">
                <a16:creationId xmlns:a16="http://schemas.microsoft.com/office/drawing/2014/main" id="{5418BA07-7A93-443C-8AA9-036F7A6E48BC}"/>
              </a:ext>
            </a:extLst>
          </p:cNvPr>
          <p:cNvSpPr>
            <a:spLocks xmlns:a="http://schemas.openxmlformats.org/drawingml/2006/main" noGrp="1"/>
          </p:cNvSpPr>
          <p:nvPr/>
        </p:nvSpPr>
        <p:spPr>
          <a:xfrm xmlns:a="http://schemas.openxmlformats.org/drawingml/2006/main">
            <a:off x="666750" y="18097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Instruction</a:t>
            </a:r>
          </a:p>
        </p:txBody>
      </p:sp>
      <p:sp>
        <p:nvSpPr>
          <p:cNvPr id="3" name="row-body-0">
            <a:extLst xmlns:a="http://schemas.openxmlformats.org/drawingml/2006/main">
              <a:ext uri="{FF2B5EF4-FFF2-40B4-BE49-F238E27FC236}">
                <a16:creationId xmlns:a16="http://schemas.microsoft.com/office/drawing/2014/main" id="{0A71D523-5342-440B-B903-E3E6857613AD}"/>
              </a:ext>
            </a:extLst>
          </p:cNvPr>
          <p:cNvSpPr>
            <a:spLocks xmlns:a="http://schemas.openxmlformats.org/drawingml/2006/main" noGrp="1"/>
          </p:cNvSpPr>
          <p:nvPr/>
        </p:nvSpPr>
        <p:spPr>
          <a:xfrm xmlns:a="http://schemas.openxmlformats.org/drawingml/2006/main">
            <a:off x="3143250" y="18097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One concrete line for your AI coder.</a:t>
            </a:r>
          </a:p>
        </p:txBody>
      </p:sp>
      <p:sp>
        <p:nvSpPr>
          <p:cNvPr id="4" name="row-label-1">
            <a:extLst xmlns:a="http://schemas.openxmlformats.org/drawingml/2006/main">
              <a:ext uri="{FF2B5EF4-FFF2-40B4-BE49-F238E27FC236}">
                <a16:creationId xmlns:a16="http://schemas.microsoft.com/office/drawing/2014/main" id="{DC186E89-192C-4FCA-9B8F-31396DCE9507}"/>
              </a:ext>
            </a:extLst>
          </p:cNvPr>
          <p:cNvSpPr>
            <a:spLocks xmlns:a="http://schemas.openxmlformats.org/drawingml/2006/main" noGrp="1"/>
          </p:cNvSpPr>
          <p:nvPr/>
        </p:nvSpPr>
        <p:spPr>
          <a:xfrm xmlns:a="http://schemas.openxmlformats.org/drawingml/2006/main">
            <a:off x="666750" y="30670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Change</a:t>
            </a:r>
          </a:p>
        </p:txBody>
      </p:sp>
      <p:sp>
        <p:nvSpPr>
          <p:cNvPr id="5" name="row-body-1">
            <a:extLst xmlns:a="http://schemas.openxmlformats.org/drawingml/2006/main">
              <a:ext uri="{FF2B5EF4-FFF2-40B4-BE49-F238E27FC236}">
                <a16:creationId xmlns:a16="http://schemas.microsoft.com/office/drawing/2014/main" id="{B68565F8-8D24-400F-A6D5-09F7C61D97A8}"/>
              </a:ext>
            </a:extLst>
          </p:cNvPr>
          <p:cNvSpPr>
            <a:spLocks xmlns:a="http://schemas.openxmlformats.org/drawingml/2006/main" noGrp="1"/>
          </p:cNvSpPr>
          <p:nvPr/>
        </p:nvSpPr>
        <p:spPr>
          <a:xfrm xmlns:a="http://schemas.openxmlformats.org/drawingml/2006/main">
            <a:off x="3143250" y="30670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A small diff and its observed result.</a:t>
            </a:r>
          </a:p>
        </p:txBody>
      </p:sp>
      <p:sp>
        <p:nvSpPr>
          <p:cNvPr id="6" name="row-label-2">
            <a:extLst xmlns:a="http://schemas.openxmlformats.org/drawingml/2006/main">
              <a:ext uri="{FF2B5EF4-FFF2-40B4-BE49-F238E27FC236}">
                <a16:creationId xmlns:a16="http://schemas.microsoft.com/office/drawing/2014/main" id="{CD0618D6-242F-4B50-B173-AD0FE7B6C568}"/>
              </a:ext>
            </a:extLst>
          </p:cNvPr>
          <p:cNvSpPr>
            <a:spLocks xmlns:a="http://schemas.openxmlformats.org/drawingml/2006/main" noGrp="1"/>
          </p:cNvSpPr>
          <p:nvPr/>
        </p:nvSpPr>
        <p:spPr>
          <a:xfrm xmlns:a="http://schemas.openxmlformats.org/drawingml/2006/main">
            <a:off x="666750" y="43243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Review</a:t>
            </a:r>
          </a:p>
        </p:txBody>
      </p:sp>
      <p:sp>
        <p:nvSpPr>
          <p:cNvPr id="7" name="row-body-2">
            <a:extLst xmlns:a="http://schemas.openxmlformats.org/drawingml/2006/main">
              <a:ext uri="{FF2B5EF4-FFF2-40B4-BE49-F238E27FC236}">
                <a16:creationId xmlns:a16="http://schemas.microsoft.com/office/drawing/2014/main" id="{DF790025-1A02-46F1-9171-99E598CE3C24}"/>
              </a:ext>
            </a:extLst>
          </p:cNvPr>
          <p:cNvSpPr>
            <a:spLocks xmlns:a="http://schemas.openxmlformats.org/drawingml/2006/main" noGrp="1"/>
          </p:cNvSpPr>
          <p:nvPr/>
        </p:nvSpPr>
        <p:spPr>
          <a:xfrm xmlns:a="http://schemas.openxmlformats.org/drawingml/2006/main">
            <a:off x="3143250" y="43243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One wrong answer your check would catch.</a:t>
            </a:r>
          </a:p>
        </p:txBody>
      </p:sp>
      <p:sp>
        <p:nvSpPr>
          <p:cNvPr id="8" name="takeaway">
            <a:extLst xmlns:a="http://schemas.openxmlformats.org/drawingml/2006/main">
              <a:ext uri="{FF2B5EF4-FFF2-40B4-BE49-F238E27FC236}">
                <a16:creationId xmlns:a16="http://schemas.microsoft.com/office/drawing/2014/main" id="{C441F400-3602-48E6-8BB6-128D784E3086}"/>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You should be able to explain your change without the AI.</a:t>
            </a:r>
          </a:p>
        </p:txBody>
      </p:sp>
      <p:sp>
        <p:nvSpPr>
          <p:cNvPr id="9" name="footer">
            <a:extLst xmlns:a="http://schemas.openxmlformats.org/drawingml/2006/main">
              <a:ext uri="{FF2B5EF4-FFF2-40B4-BE49-F238E27FC236}">
                <a16:creationId xmlns:a16="http://schemas.microsoft.com/office/drawing/2014/main" id="{B758D6DE-4EFA-4254-9CF6-DF461BC9B2FB}"/>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10" name="slide-number">
            <a:extLst xmlns:a="http://schemas.openxmlformats.org/drawingml/2006/main">
              <a:ext uri="{FF2B5EF4-FFF2-40B4-BE49-F238E27FC236}">
                <a16:creationId xmlns:a16="http://schemas.microsoft.com/office/drawing/2014/main" id="{087FD87D-F092-4225-9961-EF7FB05B3ADD}"/>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30</a:t>
            </a:r>
          </a:p>
        </p:txBody>
      </p:sp>
    </p:spTree>
    <p:extLst>
      <p:ext uri="{BB962C8B-B14F-4D97-AF65-F5344CB8AC3E}">
        <p14:creationId xmlns:p14="http://schemas.microsoft.com/office/powerpoint/2010/main" val="320806419"/>
      </p:ext>
    </p:extLst>
  </p:cSld>
</p:sld>
</file>

<file path=ppt/slides/slide3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lesson-title">
            <a:extLst xmlns:a="http://schemas.openxmlformats.org/drawingml/2006/main">
              <a:ext uri="{FF2B5EF4-FFF2-40B4-BE49-F238E27FC236}">
                <a16:creationId xmlns:a16="http://schemas.microsoft.com/office/drawing/2014/main" id="{9AF3D6B4-760B-4195-8161-1E194F98A40B}"/>
              </a:ext>
            </a:extLst>
          </p:cNvPr>
          <p:cNvSpPr>
            <a:spLocks xmlns:a="http://schemas.openxmlformats.org/drawingml/2006/main" noGrp="1"/>
          </p:cNvSpPr>
          <p:nvPr/>
        </p:nvSpPr>
        <p:spPr>
          <a:xfrm xmlns:a="http://schemas.openxmlformats.org/drawingml/2006/main">
            <a:off x="552450" y="476250"/>
            <a:ext cx="1104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D2B26"/>
                </a:solidFill>
                <a:latin typeface="Bookman Old Style"/>
                <a:ea typeface="Bookman Old Style"/>
                <a:cs typeface="Bookman Old Style"/>
              </a:defRPr>
            </a:defPPr>
          </a:lstStyle>
          <a:p xmlns:a="http://schemas.openxmlformats.org/drawingml/2006/main">
            <a:pPr>
              <a:defRPr sz="3000" b="1">
                <a:solidFill>
                  <a:srgbClr val="1D2B26"/>
                </a:solidFill>
                <a:latin typeface="Bookman Old Style"/>
                <a:ea typeface="Bookman Old Style"/>
                <a:cs typeface="Bookman Old Style"/>
              </a:defRPr>
            </a:pPr>
            <a:r>
              <a:rPr sz="3000" b="1">
                <a:solidFill>
                  <a:srgbClr val="1D2B26"/>
                </a:solidFill>
                <a:latin typeface="Bookman Old Style"/>
                <a:ea typeface="Bookman Old Style"/>
                <a:cs typeface="Bookman Old Style"/>
              </a:rPr>
              <a:t>Questions and your next small project</a:t>
            </a:r>
          </a:p>
        </p:txBody>
      </p:sp>
      <p:sp>
        <p:nvSpPr>
          <p:cNvPr id="2" name="row-label-0">
            <a:extLst xmlns:a="http://schemas.openxmlformats.org/drawingml/2006/main">
              <a:ext uri="{FF2B5EF4-FFF2-40B4-BE49-F238E27FC236}">
                <a16:creationId xmlns:a16="http://schemas.microsoft.com/office/drawing/2014/main" id="{318CACC0-84CF-4B2D-96D2-F4C94469EBB4}"/>
              </a:ext>
            </a:extLst>
          </p:cNvPr>
          <p:cNvSpPr>
            <a:spLocks xmlns:a="http://schemas.openxmlformats.org/drawingml/2006/main" noGrp="1"/>
          </p:cNvSpPr>
          <p:nvPr/>
        </p:nvSpPr>
        <p:spPr>
          <a:xfrm xmlns:a="http://schemas.openxmlformats.org/drawingml/2006/main">
            <a:off x="666750" y="18097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Today</a:t>
            </a:r>
          </a:p>
        </p:txBody>
      </p:sp>
      <p:sp>
        <p:nvSpPr>
          <p:cNvPr id="3" name="row-body-0">
            <a:extLst xmlns:a="http://schemas.openxmlformats.org/drawingml/2006/main">
              <a:ext uri="{FF2B5EF4-FFF2-40B4-BE49-F238E27FC236}">
                <a16:creationId xmlns:a16="http://schemas.microsoft.com/office/drawing/2014/main" id="{EFF0995E-77C0-4FFD-91CE-B3DA1F7B1975}"/>
              </a:ext>
            </a:extLst>
          </p:cNvPr>
          <p:cNvSpPr>
            <a:spLocks xmlns:a="http://schemas.openxmlformats.org/drawingml/2006/main" noGrp="1"/>
          </p:cNvSpPr>
          <p:nvPr/>
        </p:nvSpPr>
        <p:spPr>
          <a:xfrm xmlns:a="http://schemas.openxmlformats.org/drawingml/2006/main">
            <a:off x="3143250" y="18097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Instructions, one change, one review.</a:t>
            </a:r>
          </a:p>
        </p:txBody>
      </p:sp>
      <p:sp>
        <p:nvSpPr>
          <p:cNvPr id="4" name="row-label-1">
            <a:extLst xmlns:a="http://schemas.openxmlformats.org/drawingml/2006/main">
              <a:ext uri="{FF2B5EF4-FFF2-40B4-BE49-F238E27FC236}">
                <a16:creationId xmlns:a16="http://schemas.microsoft.com/office/drawing/2014/main" id="{836EEF7E-6950-46E7-AE94-8B0FC678069E}"/>
              </a:ext>
            </a:extLst>
          </p:cNvPr>
          <p:cNvSpPr>
            <a:spLocks xmlns:a="http://schemas.openxmlformats.org/drawingml/2006/main" noGrp="1"/>
          </p:cNvSpPr>
          <p:nvPr/>
        </p:nvSpPr>
        <p:spPr>
          <a:xfrm xmlns:a="http://schemas.openxmlformats.org/drawingml/2006/main">
            <a:off x="666750" y="30670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Next</a:t>
            </a:r>
          </a:p>
        </p:txBody>
      </p:sp>
      <p:sp>
        <p:nvSpPr>
          <p:cNvPr id="5" name="row-body-1">
            <a:extLst xmlns:a="http://schemas.openxmlformats.org/drawingml/2006/main">
              <a:ext uri="{FF2B5EF4-FFF2-40B4-BE49-F238E27FC236}">
                <a16:creationId xmlns:a16="http://schemas.microsoft.com/office/drawing/2014/main" id="{CEA8C505-1A0C-4EF7-B618-07BDBD9B9F40}"/>
              </a:ext>
            </a:extLst>
          </p:cNvPr>
          <p:cNvSpPr>
            <a:spLocks xmlns:a="http://schemas.openxmlformats.org/drawingml/2006/main" noGrp="1"/>
          </p:cNvSpPr>
          <p:nvPr/>
        </p:nvSpPr>
        <p:spPr>
          <a:xfrm xmlns:a="http://schemas.openxmlformats.org/drawingml/2006/main">
            <a:off x="3143250" y="30670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Try the longer lab at your own pace.</a:t>
            </a:r>
          </a:p>
        </p:txBody>
      </p:sp>
      <p:sp>
        <p:nvSpPr>
          <p:cNvPr id="6" name="row-label-2">
            <a:extLst xmlns:a="http://schemas.openxmlformats.org/drawingml/2006/main">
              <a:ext uri="{FF2B5EF4-FFF2-40B4-BE49-F238E27FC236}">
                <a16:creationId xmlns:a16="http://schemas.microsoft.com/office/drawing/2014/main" id="{3A77AC01-6935-4562-9329-C7E5489009DD}"/>
              </a:ext>
            </a:extLst>
          </p:cNvPr>
          <p:cNvSpPr>
            <a:spLocks xmlns:a="http://schemas.openxmlformats.org/drawingml/2006/main" noGrp="1"/>
          </p:cNvSpPr>
          <p:nvPr/>
        </p:nvSpPr>
        <p:spPr>
          <a:xfrm xmlns:a="http://schemas.openxmlformats.org/drawingml/2006/main">
            <a:off x="666750" y="4324350"/>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B9C5A"/>
                </a:solidFill>
                <a:latin typeface="Calibri"/>
                <a:ea typeface="Calibri"/>
                <a:cs typeface="Calibri"/>
              </a:defRPr>
            </a:defPPr>
          </a:lstStyle>
          <a:p xmlns:a="http://schemas.openxmlformats.org/drawingml/2006/main">
            <a:pPr>
              <a:defRPr sz="2175" b="1">
                <a:solidFill>
                  <a:srgbClr val="3B9C5A"/>
                </a:solidFill>
                <a:latin typeface="Calibri"/>
                <a:ea typeface="Calibri"/>
                <a:cs typeface="Calibri"/>
              </a:defRPr>
            </a:pPr>
            <a:r>
              <a:rPr sz="2175" b="1">
                <a:solidFill>
                  <a:srgbClr val="3B9C5A"/>
                </a:solidFill>
                <a:latin typeface="Calibri"/>
                <a:ea typeface="Calibri"/>
                <a:cs typeface="Calibri"/>
              </a:rPr>
              <a:t>Take home</a:t>
            </a:r>
          </a:p>
        </p:txBody>
      </p:sp>
      <p:sp>
        <p:nvSpPr>
          <p:cNvPr id="7" name="row-body-2">
            <a:extLst xmlns:a="http://schemas.openxmlformats.org/drawingml/2006/main">
              <a:ext uri="{FF2B5EF4-FFF2-40B4-BE49-F238E27FC236}">
                <a16:creationId xmlns:a16="http://schemas.microsoft.com/office/drawing/2014/main" id="{0A81FBDF-5F16-4F74-834F-157392626E2C}"/>
              </a:ext>
            </a:extLst>
          </p:cNvPr>
          <p:cNvSpPr>
            <a:spLocks xmlns:a="http://schemas.openxmlformats.org/drawingml/2006/main" noGrp="1"/>
          </p:cNvSpPr>
          <p:nvPr/>
        </p:nvSpPr>
        <p:spPr>
          <a:xfrm xmlns:a="http://schemas.openxmlformats.org/drawingml/2006/main">
            <a:off x="3143250" y="4324350"/>
            <a:ext cx="8210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2B26"/>
                </a:solidFill>
                <a:latin typeface="Calibri"/>
                <a:ea typeface="Calibri"/>
                <a:cs typeface="Calibri"/>
              </a:defRPr>
            </a:defPPr>
          </a:lstStyle>
          <a:p xmlns:a="http://schemas.openxmlformats.org/drawingml/2006/main">
            <a:pPr>
              <a:defRPr sz="2175" b="0">
                <a:solidFill>
                  <a:srgbClr val="1D2B26"/>
                </a:solidFill>
                <a:latin typeface="Calibri"/>
                <a:ea typeface="Calibri"/>
                <a:cs typeface="Calibri"/>
              </a:defRPr>
            </a:pPr>
            <a:r>
              <a:rPr sz="2175" b="0">
                <a:solidFill>
                  <a:srgbClr val="1D2B26"/>
                </a:solidFill>
                <a:latin typeface="Calibri"/>
                <a:ea typeface="Calibri"/>
                <a:cs typeface="Calibri"/>
              </a:rPr>
              <a:t>github.com/Vedantk1301/agentic-ai-workshop</a:t>
            </a:r>
          </a:p>
        </p:txBody>
      </p:sp>
      <p:sp>
        <p:nvSpPr>
          <p:cNvPr id="8" name="takeaway">
            <a:extLst xmlns:a="http://schemas.openxmlformats.org/drawingml/2006/main">
              <a:ext uri="{FF2B5EF4-FFF2-40B4-BE49-F238E27FC236}">
                <a16:creationId xmlns:a16="http://schemas.microsoft.com/office/drawing/2014/main" id="{FC979CB8-4927-4CC2-AF49-2AB63BB0BB28}"/>
              </a:ext>
            </a:extLst>
          </p:cNvPr>
          <p:cNvSpPr>
            <a:spLocks xmlns:a="http://schemas.openxmlformats.org/drawingml/2006/main" noGrp="1"/>
          </p:cNvSpPr>
          <p:nvPr/>
        </p:nvSpPr>
        <p:spPr>
          <a:xfrm xmlns:a="http://schemas.openxmlformats.org/drawingml/2006/main">
            <a:off x="666750" y="581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E3A32"/>
                </a:solidFill>
                <a:latin typeface="Calibri"/>
                <a:ea typeface="Calibri"/>
                <a:cs typeface="Calibri"/>
              </a:defRPr>
            </a:defPPr>
          </a:lstStyle>
          <a:p xmlns:a="http://schemas.openxmlformats.org/drawingml/2006/main">
            <a:pPr>
              <a:defRPr sz="1800" b="1">
                <a:solidFill>
                  <a:srgbClr val="1E3A32"/>
                </a:solidFill>
                <a:latin typeface="Calibri"/>
                <a:ea typeface="Calibri"/>
                <a:cs typeface="Calibri"/>
              </a:defRPr>
            </a:pPr>
            <a:r>
              <a:rPr sz="1800" b="1">
                <a:solidFill>
                  <a:srgbClr val="1E3A32"/>
                </a:solidFill>
                <a:latin typeface="Calibri"/>
                <a:ea typeface="Calibri"/>
                <a:cs typeface="Calibri"/>
              </a:rPr>
              <a:t>Start with starter/README.md</a:t>
            </a:r>
          </a:p>
        </p:txBody>
      </p:sp>
      <p:sp>
        <p:nvSpPr>
          <p:cNvPr id="9" name="footer">
            <a:extLst xmlns:a="http://schemas.openxmlformats.org/drawingml/2006/main">
              <a:ext uri="{FF2B5EF4-FFF2-40B4-BE49-F238E27FC236}">
                <a16:creationId xmlns:a16="http://schemas.microsoft.com/office/drawing/2014/main" id="{228E78E4-80B7-4025-8B68-6D47BE726890}"/>
              </a:ext>
            </a:extLst>
          </p:cNvPr>
          <p:cNvSpPr>
            <a:spLocks xmlns:a="http://schemas.openxmlformats.org/drawingml/2006/main" noGrp="1"/>
          </p:cNvSpPr>
          <p:nvPr/>
        </p:nvSpPr>
        <p:spPr>
          <a:xfrm xmlns:a="http://schemas.openxmlformats.org/drawingml/2006/main">
            <a:off x="647700" y="65436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Agentic AI in Practice · VIT Mumbai</a:t>
            </a:r>
          </a:p>
        </p:txBody>
      </p:sp>
      <p:sp>
        <p:nvSpPr>
          <p:cNvPr id="10" name="slide-number">
            <a:extLst xmlns:a="http://schemas.openxmlformats.org/drawingml/2006/main">
              <a:ext uri="{FF2B5EF4-FFF2-40B4-BE49-F238E27FC236}">
                <a16:creationId xmlns:a16="http://schemas.microsoft.com/office/drawing/2014/main" id="{0C4DB184-23ED-4246-A56D-B5AF782AAC67}"/>
              </a:ext>
            </a:extLst>
          </p:cNvPr>
          <p:cNvSpPr>
            <a:spLocks xmlns:a="http://schemas.openxmlformats.org/drawingml/2006/main" noGrp="1"/>
          </p:cNvSpPr>
          <p:nvPr/>
        </p:nvSpPr>
        <p:spPr>
          <a:xfrm xmlns:a="http://schemas.openxmlformats.org/drawingml/2006/main">
            <a:off x="11287125"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C6B66"/>
                </a:solidFill>
                <a:latin typeface="Calibri"/>
                <a:ea typeface="Calibri"/>
                <a:cs typeface="Calibri"/>
              </a:defRPr>
            </a:defPPr>
          </a:lstStyle>
          <a:p xmlns:a="http://schemas.openxmlformats.org/drawingml/2006/main">
            <a:pPr>
              <a:defRPr sz="1050" b="0">
                <a:solidFill>
                  <a:srgbClr val="5C6B66"/>
                </a:solidFill>
                <a:latin typeface="Calibri"/>
                <a:ea typeface="Calibri"/>
                <a:cs typeface="Calibri"/>
              </a:defRPr>
            </a:pPr>
            <a:r>
              <a:rPr sz="1050" b="0">
                <a:solidFill>
                  <a:srgbClr val="5C6B66"/>
                </a:solidFill>
                <a:latin typeface="Calibri"/>
                <a:ea typeface="Calibri"/>
                <a:cs typeface="Calibri"/>
              </a:rPr>
              <a:t>31</a:t>
            </a:r>
          </a:p>
        </p:txBody>
      </p:sp>
    </p:spTree>
    <p:extLst>
      <p:ext uri="{BB962C8B-B14F-4D97-AF65-F5344CB8AC3E}">
        <p14:creationId xmlns:p14="http://schemas.microsoft.com/office/powerpoint/2010/main" val="165318683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2026-10-15T09:03:25.5640000Z</dcterms:created>
  <dcterms:modified xsi:type="dcterms:W3CDTF">2026-10-15T09:03:25.5640000Z</dcterms:modified>
</coreProperties>
</file>